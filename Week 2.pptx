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4" r:id="rId8"/>
    <p:sldId id="265" r:id="rId9"/>
    <p:sldId id="266" r:id="rId10"/>
    <p:sldId id="26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9C04BD-1221-3B50-A827-BC2B81547A73}" v="1033" dt="2026-05-29T11:29:15.6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5/29/2026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5/29/2026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5/29/2026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5/29/2026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2" name="Arc 21">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EDC41DE-8263-9448-A3B2-C593E8B8AA04}"/>
              </a:ext>
            </a:extLst>
          </p:cNvPr>
          <p:cNvSpPr>
            <a:spLocks noGrp="1"/>
          </p:cNvSpPr>
          <p:nvPr>
            <p:ph type="title"/>
          </p:nvPr>
        </p:nvSpPr>
        <p:spPr>
          <a:xfrm>
            <a:off x="5894962" y="291754"/>
            <a:ext cx="5458838" cy="1325563"/>
          </a:xfrm>
        </p:spPr>
        <p:txBody>
          <a:bodyPr>
            <a:normAutofit/>
          </a:bodyPr>
          <a:lstStyle/>
          <a:p>
            <a:r>
              <a:rPr lang="en-US" b="1">
                <a:latin typeface="Times New Roman"/>
                <a:ea typeface="+mj-lt"/>
                <a:cs typeface="Times New Roman"/>
              </a:rPr>
              <a:t>Motivation</a:t>
            </a:r>
            <a:endParaRPr lang="en-US" b="1">
              <a:latin typeface="Times New Roman"/>
              <a:cs typeface="Times New Roman"/>
            </a:endParaRPr>
          </a:p>
        </p:txBody>
      </p:sp>
      <p:sp>
        <p:nvSpPr>
          <p:cNvPr id="23" name="Freeform: Shape 22">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a:extLst>
              <a:ext uri="{FF2B5EF4-FFF2-40B4-BE49-F238E27FC236}">
                <a16:creationId xmlns:a16="http://schemas.microsoft.com/office/drawing/2014/main" id="{19BB6B51-47FD-9C1D-2CDB-29BF11768C82}"/>
              </a:ext>
            </a:extLst>
          </p:cNvPr>
          <p:cNvPicPr>
            <a:picLocks noChangeAspect="1"/>
          </p:cNvPicPr>
          <p:nvPr/>
        </p:nvPicPr>
        <p:blipFill>
          <a:blip r:embed="rId2"/>
          <a:stretch>
            <a:fillRect/>
          </a:stretch>
        </p:blipFill>
        <p:spPr>
          <a:xfrm>
            <a:off x="703182" y="955437"/>
            <a:ext cx="4777381" cy="477738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DB19C2BC-9442-E592-E9A2-5C57E9227354}"/>
              </a:ext>
            </a:extLst>
          </p:cNvPr>
          <p:cNvSpPr>
            <a:spLocks noGrp="1"/>
          </p:cNvSpPr>
          <p:nvPr>
            <p:ph idx="1"/>
          </p:nvPr>
        </p:nvSpPr>
        <p:spPr>
          <a:xfrm>
            <a:off x="5894962" y="1332878"/>
            <a:ext cx="5999968" cy="5053911"/>
          </a:xfrm>
        </p:spPr>
        <p:txBody>
          <a:bodyPr vert="horz" lIns="91440" tIns="45720" rIns="91440" bIns="45720" rtlCol="0" anchor="t">
            <a:noAutofit/>
          </a:bodyPr>
          <a:lstStyle/>
          <a:p>
            <a:pPr marL="0" indent="0">
              <a:buNone/>
            </a:pPr>
            <a:r>
              <a:rPr lang="en-US" sz="1200" b="1">
                <a:latin typeface="Times New Roman"/>
                <a:cs typeface="Times New Roman"/>
              </a:rPr>
              <a:t>Why Study Communication in Distributed Quantum Computing?</a:t>
            </a:r>
            <a:endParaRPr lang="en-US" sz="1200" dirty="0">
              <a:latin typeface="Times New Roman"/>
              <a:cs typeface="Times New Roman"/>
            </a:endParaRPr>
          </a:p>
          <a:p>
            <a:pPr marL="0" indent="0">
              <a:buNone/>
            </a:pPr>
            <a:endParaRPr lang="en-US" sz="1200" b="1" dirty="0">
              <a:latin typeface="Times New Roman"/>
              <a:cs typeface="Times New Roman"/>
            </a:endParaRPr>
          </a:p>
          <a:p>
            <a:pPr marL="0" indent="0">
              <a:buNone/>
            </a:pPr>
            <a:r>
              <a:rPr lang="en-US" sz="1200" b="1">
                <a:latin typeface="Times New Roman"/>
                <a:cs typeface="Times New Roman"/>
              </a:rPr>
              <a:t>The Scalability Challenge - </a:t>
            </a:r>
            <a:r>
              <a:rPr lang="en-US" sz="1200">
                <a:latin typeface="Times New Roman"/>
                <a:ea typeface="+mn-lt"/>
                <a:cs typeface="Times New Roman"/>
              </a:rPr>
              <a:t>As quantum computers grow beyond the NISQ era, monolithic architectures face significant limitations in connectivity, control complexity, and wiring overhead. Distributed Quantum Computing (DQC) addresses this challenge by interconnecting multiple Quantum Processing Units (QPUs) through quantum communication links.</a:t>
            </a:r>
            <a:endParaRPr lang="en-US" sz="1200" dirty="0">
              <a:latin typeface="Times New Roman"/>
              <a:cs typeface="Times New Roman"/>
            </a:endParaRPr>
          </a:p>
          <a:p>
            <a:pPr marL="0" indent="0">
              <a:buNone/>
            </a:pPr>
            <a:endParaRPr lang="en-US" sz="1200" b="1" dirty="0">
              <a:latin typeface="Times New Roman"/>
              <a:cs typeface="Times New Roman"/>
            </a:endParaRPr>
          </a:p>
          <a:p>
            <a:pPr marL="0" indent="0">
              <a:buNone/>
            </a:pPr>
            <a:r>
              <a:rPr lang="en-US" sz="1200" b="1">
                <a:latin typeface="Times New Roman"/>
                <a:cs typeface="Times New Roman"/>
              </a:rPr>
              <a:t>Communication Requirements in DQC - </a:t>
            </a:r>
            <a:endParaRPr lang="en-US" sz="1200" dirty="0">
              <a:latin typeface="Times New Roman"/>
              <a:cs typeface="Times New Roman"/>
            </a:endParaRPr>
          </a:p>
          <a:p>
            <a:r>
              <a:rPr lang="en-US" sz="1200">
                <a:latin typeface="Times New Roman"/>
                <a:ea typeface="+mn-lt"/>
                <a:cs typeface="Times New Roman"/>
              </a:rPr>
              <a:t>Entanglement generation between remote QPUs </a:t>
            </a:r>
            <a:endParaRPr lang="en-US" sz="1200" dirty="0">
              <a:latin typeface="Times New Roman"/>
              <a:cs typeface="Times New Roman"/>
            </a:endParaRPr>
          </a:p>
          <a:p>
            <a:r>
              <a:rPr lang="en-US" sz="1200">
                <a:latin typeface="Times New Roman"/>
                <a:ea typeface="+mn-lt"/>
                <a:cs typeface="Times New Roman"/>
              </a:rPr>
              <a:t>Teleported quantum gate operations </a:t>
            </a:r>
            <a:endParaRPr lang="en-US" sz="1200" dirty="0">
              <a:latin typeface="Times New Roman"/>
              <a:cs typeface="Times New Roman"/>
            </a:endParaRPr>
          </a:p>
          <a:p>
            <a:r>
              <a:rPr lang="en-US" sz="1200">
                <a:latin typeface="Times New Roman"/>
                <a:ea typeface="+mn-lt"/>
                <a:cs typeface="Times New Roman"/>
              </a:rPr>
              <a:t>Inter-QPU quantum state transfer </a:t>
            </a:r>
            <a:endParaRPr lang="en-US" sz="1200" dirty="0">
              <a:latin typeface="Times New Roman"/>
              <a:cs typeface="Times New Roman"/>
            </a:endParaRPr>
          </a:p>
          <a:p>
            <a:r>
              <a:rPr lang="en-US" sz="1200">
                <a:latin typeface="Times New Roman"/>
                <a:ea typeface="+mn-lt"/>
                <a:cs typeface="Times New Roman"/>
              </a:rPr>
              <a:t>Classical synchronization and control </a:t>
            </a:r>
            <a:endParaRPr lang="en-US" sz="1200" dirty="0">
              <a:latin typeface="Times New Roman"/>
              <a:cs typeface="Times New Roman"/>
            </a:endParaRPr>
          </a:p>
          <a:p>
            <a:pPr marL="0" indent="0">
              <a:buNone/>
            </a:pPr>
            <a:endParaRPr lang="en-US" sz="1200" dirty="0">
              <a:latin typeface="Times New Roman"/>
              <a:cs typeface="Times New Roman"/>
            </a:endParaRPr>
          </a:p>
          <a:p>
            <a:pPr marL="0" indent="0">
              <a:buNone/>
            </a:pPr>
            <a:r>
              <a:rPr lang="en-US" sz="1200">
                <a:latin typeface="Times New Roman"/>
                <a:cs typeface="Times New Roman"/>
              </a:rPr>
              <a:t>Despite</a:t>
            </a:r>
            <a:r>
              <a:rPr lang="en-US" sz="1200">
                <a:latin typeface="Times New Roman"/>
                <a:ea typeface="+mn-lt"/>
                <a:cs typeface="Times New Roman"/>
              </a:rPr>
              <a:t> the computational advantages of modular architectures, communication introduces entanglement latency , routing overhead , queue congestion  and resource contention </a:t>
            </a:r>
            <a:endParaRPr lang="en-US" sz="1200" dirty="0">
              <a:latin typeface="Times New Roman"/>
              <a:cs typeface="Times New Roman"/>
            </a:endParaRPr>
          </a:p>
          <a:p>
            <a:pPr>
              <a:buNone/>
            </a:pPr>
            <a:endParaRPr lang="en-US" sz="1200" b="1" dirty="0">
              <a:latin typeface="Times New Roman"/>
              <a:cs typeface="Times New Roman"/>
            </a:endParaRPr>
          </a:p>
          <a:p>
            <a:pPr>
              <a:buNone/>
            </a:pPr>
            <a:r>
              <a:rPr lang="en-US" sz="1200" b="1">
                <a:latin typeface="Times New Roman"/>
                <a:cs typeface="Times New Roman"/>
              </a:rPr>
              <a:t>Research Goal</a:t>
            </a:r>
            <a:endParaRPr lang="en-US" sz="1200" dirty="0">
              <a:latin typeface="Times New Roman"/>
              <a:cs typeface="Times New Roman"/>
            </a:endParaRPr>
          </a:p>
          <a:p>
            <a:pPr>
              <a:buNone/>
            </a:pPr>
            <a:r>
              <a:rPr lang="en-US" sz="1200" b="1">
                <a:latin typeface="Times New Roman"/>
                <a:ea typeface="+mn-lt"/>
                <a:cs typeface="Times New Roman"/>
              </a:rPr>
              <a:t>To understand how communication optimization through fast interconnects, intelligent routing, and multiplexed communication can improve the scalability of distributed quantum computing architectures.</a:t>
            </a:r>
            <a:endParaRPr lang="en-US" sz="1200">
              <a:latin typeface="Times New Roman"/>
              <a:ea typeface="+mn-lt"/>
              <a:cs typeface="Times New Roman"/>
            </a:endParaRPr>
          </a:p>
          <a:p>
            <a:pPr marL="0" indent="0">
              <a:buNone/>
            </a:pPr>
            <a:endParaRPr lang="en-US" sz="700">
              <a:latin typeface="Times New Roman"/>
              <a:cs typeface="Times New Roman"/>
            </a:endParaRPr>
          </a:p>
        </p:txBody>
      </p:sp>
    </p:spTree>
    <p:extLst>
      <p:ext uri="{BB962C8B-B14F-4D97-AF65-F5344CB8AC3E}">
        <p14:creationId xmlns:p14="http://schemas.microsoft.com/office/powerpoint/2010/main" val="1730375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A0F7E-C273-0CCA-D7F8-3C9CCD88EA2D}"/>
              </a:ext>
            </a:extLst>
          </p:cNvPr>
          <p:cNvSpPr>
            <a:spLocks noGrp="1"/>
          </p:cNvSpPr>
          <p:nvPr>
            <p:ph type="title"/>
          </p:nvPr>
        </p:nvSpPr>
        <p:spPr>
          <a:xfrm>
            <a:off x="4018722" y="690"/>
            <a:ext cx="3525079" cy="662955"/>
          </a:xfrm>
        </p:spPr>
        <p:txBody>
          <a:bodyPr>
            <a:normAutofit fontScale="90000"/>
          </a:bodyPr>
          <a:lstStyle/>
          <a:p>
            <a:r>
              <a:rPr lang="en-US" sz="3600" b="1">
                <a:latin typeface="Times New Roman"/>
                <a:cs typeface="Times New Roman"/>
              </a:rPr>
              <a:t>Weekly Objective</a:t>
            </a:r>
          </a:p>
        </p:txBody>
      </p:sp>
      <p:sp>
        <p:nvSpPr>
          <p:cNvPr id="4" name="TextBox 3">
            <a:extLst>
              <a:ext uri="{FF2B5EF4-FFF2-40B4-BE49-F238E27FC236}">
                <a16:creationId xmlns:a16="http://schemas.microsoft.com/office/drawing/2014/main" id="{D4206478-4308-BAF6-420B-51D88861C353}"/>
              </a:ext>
            </a:extLst>
          </p:cNvPr>
          <p:cNvSpPr txBox="1"/>
          <p:nvPr/>
        </p:nvSpPr>
        <p:spPr>
          <a:xfrm>
            <a:off x="231913" y="2346739"/>
            <a:ext cx="4295912" cy="12311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rtl="0"/>
            <a:r>
              <a:rPr lang="en-US" sz="1400" b="1" i="0" u="none" strike="noStrike" baseline="0">
                <a:solidFill>
                  <a:srgbClr val="000000"/>
                </a:solidFill>
                <a:latin typeface="Times New Roman"/>
                <a:ea typeface="Arial"/>
                <a:cs typeface="Arial"/>
              </a:rPr>
              <a:t>Model I — Fast Interconnect Distributed Architecture</a:t>
            </a:r>
            <a:r>
              <a:rPr lang="en-US" sz="1400" b="0" i="0">
                <a:solidFill>
                  <a:srgbClr val="000000"/>
                </a:solidFill>
                <a:latin typeface="Times New Roman"/>
                <a:ea typeface="Arial"/>
                <a:cs typeface="Arial"/>
              </a:rPr>
              <a:t>​</a:t>
            </a:r>
            <a:endParaRPr lang="en-US" sz="1400"/>
          </a:p>
          <a:p>
            <a:pPr marL="228600" lvl="0" indent="-228600" algn="l" rtl="0">
              <a:buFont typeface="Arial,Sans-Serif"/>
              <a:buChar char="•"/>
            </a:pPr>
            <a:r>
              <a:rPr lang="en-US" sz="1400" b="0" i="0" u="none" strike="noStrike" baseline="0">
                <a:solidFill>
                  <a:srgbClr val="000000"/>
                </a:solidFill>
                <a:latin typeface="Times New Roman"/>
                <a:ea typeface="Arial"/>
                <a:cs typeface="Arial"/>
              </a:rPr>
              <a:t>Fast photonic communication links </a:t>
            </a:r>
            <a:r>
              <a:rPr lang="en-US" sz="1400" b="0" i="0">
                <a:solidFill>
                  <a:srgbClr val="000000"/>
                </a:solidFill>
                <a:latin typeface="Times New Roman"/>
                <a:ea typeface="Arial"/>
                <a:cs typeface="Arial"/>
              </a:rPr>
              <a:t>​</a:t>
            </a:r>
          </a:p>
          <a:p>
            <a:pPr marL="228600" lvl="0" indent="-228600" algn="l" rtl="0">
              <a:buFont typeface="Arial,Sans-Serif"/>
              <a:buChar char="•"/>
            </a:pPr>
            <a:r>
              <a:rPr lang="en-US" sz="1400" b="0" i="0" u="none" strike="noStrike" baseline="0">
                <a:solidFill>
                  <a:srgbClr val="000000"/>
                </a:solidFill>
                <a:latin typeface="Times New Roman"/>
                <a:ea typeface="Arial"/>
                <a:cs typeface="Arial"/>
              </a:rPr>
              <a:t>Reduced effective entanglement latency </a:t>
            </a:r>
            <a:r>
              <a:rPr lang="en-US" sz="1400" b="0" i="0">
                <a:solidFill>
                  <a:srgbClr val="000000"/>
                </a:solidFill>
                <a:latin typeface="Times New Roman"/>
                <a:ea typeface="Arial"/>
                <a:cs typeface="Arial"/>
              </a:rPr>
              <a:t>​</a:t>
            </a:r>
          </a:p>
          <a:p>
            <a:pPr marL="228600" lvl="0" indent="-228600" algn="l" rtl="0">
              <a:buFont typeface="Arial,Sans-Serif"/>
              <a:buChar char="•"/>
            </a:pPr>
            <a:r>
              <a:rPr lang="en-US" sz="1400" b="0" i="0" u="none" strike="noStrike" baseline="0">
                <a:solidFill>
                  <a:srgbClr val="000000"/>
                </a:solidFill>
                <a:latin typeface="Times New Roman"/>
                <a:ea typeface="Arial"/>
                <a:cs typeface="Arial"/>
              </a:rPr>
              <a:t>Baseline communication acceleration </a:t>
            </a:r>
            <a:r>
              <a:rPr lang="en-US" sz="1400" b="0" i="0">
                <a:solidFill>
                  <a:srgbClr val="000000"/>
                </a:solidFill>
                <a:latin typeface="Times New Roman"/>
                <a:ea typeface="Arial"/>
                <a:cs typeface="Arial"/>
              </a:rPr>
              <a:t>​</a:t>
            </a:r>
          </a:p>
          <a:p>
            <a:pPr algn="ctr"/>
            <a:endParaRPr lang="en-US"/>
          </a:p>
        </p:txBody>
      </p:sp>
      <p:sp>
        <p:nvSpPr>
          <p:cNvPr id="5" name="TextBox 4">
            <a:extLst>
              <a:ext uri="{FF2B5EF4-FFF2-40B4-BE49-F238E27FC236}">
                <a16:creationId xmlns:a16="http://schemas.microsoft.com/office/drawing/2014/main" id="{73EC0210-30A0-D34B-EF8D-EF7512237DDA}"/>
              </a:ext>
            </a:extLst>
          </p:cNvPr>
          <p:cNvSpPr txBox="1"/>
          <p:nvPr/>
        </p:nvSpPr>
        <p:spPr>
          <a:xfrm>
            <a:off x="3754783" y="4191001"/>
            <a:ext cx="4041912"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rtl="0"/>
            <a:r>
              <a:rPr lang="en-US" sz="1400" b="1" i="0" u="none" strike="noStrike" baseline="0" dirty="0">
                <a:solidFill>
                  <a:srgbClr val="000000"/>
                </a:solidFill>
                <a:latin typeface="Times New Roman"/>
                <a:ea typeface="Arial"/>
                <a:cs typeface="Arial"/>
              </a:rPr>
              <a:t>Model II — </a:t>
            </a:r>
            <a:r>
              <a:rPr lang="en-US" sz="1400" b="1" i="0" u="none" strike="noStrike" baseline="0" dirty="0" err="1">
                <a:solidFill>
                  <a:srgbClr val="000000"/>
                </a:solidFill>
                <a:latin typeface="Times New Roman"/>
                <a:ea typeface="Arial"/>
                <a:cs typeface="Arial"/>
              </a:rPr>
              <a:t>IonQ</a:t>
            </a:r>
            <a:r>
              <a:rPr lang="en-US" sz="1400" b="1" i="0" u="none" strike="noStrike" baseline="0" dirty="0">
                <a:solidFill>
                  <a:srgbClr val="000000"/>
                </a:solidFill>
                <a:latin typeface="Times New Roman"/>
                <a:ea typeface="Arial"/>
                <a:cs typeface="Arial"/>
              </a:rPr>
              <a:t> + </a:t>
            </a:r>
            <a:r>
              <a:rPr lang="en-US" sz="1400" b="1" i="0" u="none" strike="noStrike" baseline="0" dirty="0" err="1">
                <a:solidFill>
                  <a:srgbClr val="000000"/>
                </a:solidFill>
                <a:latin typeface="Times New Roman"/>
                <a:ea typeface="Arial"/>
                <a:cs typeface="Arial"/>
              </a:rPr>
              <a:t>SwitchQNet</a:t>
            </a:r>
            <a:r>
              <a:rPr lang="en-US" sz="1400" b="0" i="0" dirty="0">
                <a:solidFill>
                  <a:srgbClr val="000000"/>
                </a:solidFill>
                <a:latin typeface="Times New Roman"/>
                <a:ea typeface="Arial"/>
                <a:cs typeface="Arial"/>
              </a:rPr>
              <a:t>​</a:t>
            </a:r>
            <a:endParaRPr lang="en-US" sz="2000" dirty="0"/>
          </a:p>
          <a:p>
            <a:pPr marL="228600" lvl="0" indent="-228600" algn="l" rtl="0">
              <a:buFont typeface="Arial,Sans-Serif"/>
              <a:buChar char="•"/>
            </a:pPr>
            <a:r>
              <a:rPr lang="en-US" sz="1400" b="0" i="0" u="none" strike="noStrike" baseline="0">
                <a:solidFill>
                  <a:srgbClr val="000000"/>
                </a:solidFill>
                <a:latin typeface="Times New Roman"/>
                <a:ea typeface="Arial"/>
                <a:cs typeface="Arial"/>
              </a:rPr>
              <a:t>Queue-aware communication scheduling </a:t>
            </a:r>
            <a:r>
              <a:rPr lang="en-US" sz="1400" b="0" i="0">
                <a:solidFill>
                  <a:srgbClr val="000000"/>
                </a:solidFill>
                <a:latin typeface="Times New Roman"/>
                <a:ea typeface="Arial"/>
                <a:cs typeface="Arial"/>
              </a:rPr>
              <a:t>​</a:t>
            </a:r>
          </a:p>
          <a:p>
            <a:pPr marL="228600" lvl="0" indent="-228600" algn="l" rtl="0">
              <a:buFont typeface="Arial,Sans-Serif"/>
              <a:buChar char="•"/>
            </a:pPr>
            <a:r>
              <a:rPr lang="en-US" sz="1400" b="0" i="0" u="none" strike="noStrike" baseline="0">
                <a:solidFill>
                  <a:srgbClr val="000000"/>
                </a:solidFill>
                <a:latin typeface="Times New Roman"/>
                <a:ea typeface="Arial"/>
                <a:cs typeface="Arial"/>
              </a:rPr>
              <a:t>Adaptive routing mechanisms </a:t>
            </a:r>
            <a:r>
              <a:rPr lang="en-US" sz="1400" b="0" i="0">
                <a:solidFill>
                  <a:srgbClr val="000000"/>
                </a:solidFill>
                <a:latin typeface="Times New Roman"/>
                <a:ea typeface="Arial"/>
                <a:cs typeface="Arial"/>
              </a:rPr>
              <a:t>​</a:t>
            </a:r>
          </a:p>
          <a:p>
            <a:pPr marL="228600" lvl="0" indent="-228600" algn="l" rtl="0">
              <a:buFont typeface="Arial,Sans-Serif"/>
              <a:buChar char="•"/>
            </a:pPr>
            <a:r>
              <a:rPr lang="en-US" sz="1400" b="0" i="0" u="none" strike="noStrike" baseline="0">
                <a:solidFill>
                  <a:srgbClr val="000000"/>
                </a:solidFill>
                <a:latin typeface="Times New Roman"/>
                <a:ea typeface="Arial"/>
                <a:cs typeface="Arial"/>
              </a:rPr>
              <a:t>Congestion management through intelligent routing </a:t>
            </a:r>
            <a:r>
              <a:rPr lang="en-US" sz="1400" b="0" i="0">
                <a:solidFill>
                  <a:srgbClr val="000000"/>
                </a:solidFill>
                <a:latin typeface="Times New Roman"/>
                <a:ea typeface="Arial"/>
                <a:cs typeface="Arial"/>
              </a:rPr>
              <a:t>​</a:t>
            </a:r>
          </a:p>
        </p:txBody>
      </p:sp>
      <p:sp>
        <p:nvSpPr>
          <p:cNvPr id="6" name="TextBox 5">
            <a:extLst>
              <a:ext uri="{FF2B5EF4-FFF2-40B4-BE49-F238E27FC236}">
                <a16:creationId xmlns:a16="http://schemas.microsoft.com/office/drawing/2014/main" id="{0AD13B3F-D844-6CC7-C54E-F8DB8EAD5683}"/>
              </a:ext>
            </a:extLst>
          </p:cNvPr>
          <p:cNvSpPr txBox="1"/>
          <p:nvPr/>
        </p:nvSpPr>
        <p:spPr>
          <a:xfrm>
            <a:off x="8061742" y="5350565"/>
            <a:ext cx="4041912"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rtl="0"/>
            <a:r>
              <a:rPr lang="en-US" sz="1400" b="1" i="0" u="none" strike="noStrike" baseline="0" dirty="0">
                <a:solidFill>
                  <a:srgbClr val="000000"/>
                </a:solidFill>
                <a:latin typeface="Times New Roman"/>
                <a:ea typeface="Segoe UI"/>
                <a:cs typeface="Segoe UI"/>
              </a:rPr>
              <a:t>Model III — </a:t>
            </a:r>
            <a:r>
              <a:rPr lang="en-US" sz="1400" b="1" i="0" u="none" strike="noStrike" baseline="0" dirty="0" err="1">
                <a:solidFill>
                  <a:srgbClr val="000000"/>
                </a:solidFill>
                <a:latin typeface="Times New Roman"/>
                <a:ea typeface="Segoe UI"/>
                <a:cs typeface="Segoe UI"/>
              </a:rPr>
              <a:t>IonQ</a:t>
            </a:r>
            <a:r>
              <a:rPr lang="en-US" sz="1400" b="1" i="0" u="none" strike="noStrike" baseline="0" dirty="0">
                <a:solidFill>
                  <a:srgbClr val="000000"/>
                </a:solidFill>
                <a:latin typeface="Times New Roman"/>
                <a:ea typeface="Segoe UI"/>
                <a:cs typeface="Segoe UI"/>
              </a:rPr>
              <a:t> + YOUTIAO</a:t>
            </a:r>
            <a:r>
              <a:rPr lang="en-US" sz="1400" b="0" i="0" dirty="0">
                <a:solidFill>
                  <a:srgbClr val="000000"/>
                </a:solidFill>
                <a:latin typeface="Times New Roman"/>
                <a:ea typeface="Segoe UI"/>
                <a:cs typeface="Segoe UI"/>
              </a:rPr>
              <a:t>​</a:t>
            </a:r>
            <a:endParaRPr lang="en-US" sz="1400"/>
          </a:p>
          <a:p>
            <a:pPr marL="228600" lvl="0" indent="-228600" algn="l" rtl="0">
              <a:buFont typeface="Arial,Sans-Serif"/>
              <a:buChar char="•"/>
            </a:pPr>
            <a:r>
              <a:rPr lang="en-US" sz="1400" b="0" i="0" u="none" strike="noStrike" baseline="0">
                <a:solidFill>
                  <a:srgbClr val="000000"/>
                </a:solidFill>
                <a:latin typeface="Times New Roman"/>
                <a:ea typeface="Arial"/>
                <a:cs typeface="Arial"/>
              </a:rPr>
              <a:t>FDM/TDM multiplexed communication </a:t>
            </a:r>
            <a:r>
              <a:rPr lang="en-US" sz="1400" b="0" i="0">
                <a:solidFill>
                  <a:srgbClr val="000000"/>
                </a:solidFill>
                <a:latin typeface="Times New Roman"/>
                <a:ea typeface="Arial"/>
                <a:cs typeface="Arial"/>
              </a:rPr>
              <a:t>​</a:t>
            </a:r>
          </a:p>
          <a:p>
            <a:pPr marL="228600" lvl="0" indent="-228600" algn="l" rtl="0">
              <a:buFont typeface="Arial,Sans-Serif"/>
              <a:buChar char="•"/>
            </a:pPr>
            <a:r>
              <a:rPr lang="en-US" sz="1400" b="0" i="0" u="none" strike="noStrike" baseline="0">
                <a:solidFill>
                  <a:srgbClr val="000000"/>
                </a:solidFill>
                <a:latin typeface="Times New Roman"/>
                <a:ea typeface="Arial"/>
                <a:cs typeface="Arial"/>
              </a:rPr>
              <a:t>Communication parallelism </a:t>
            </a:r>
            <a:r>
              <a:rPr lang="en-US" sz="1400" b="0" i="0">
                <a:solidFill>
                  <a:srgbClr val="000000"/>
                </a:solidFill>
                <a:latin typeface="Times New Roman"/>
                <a:ea typeface="Arial"/>
                <a:cs typeface="Arial"/>
              </a:rPr>
              <a:t>​</a:t>
            </a:r>
          </a:p>
          <a:p>
            <a:pPr marL="228600" lvl="0" indent="-228600" algn="l" rtl="0">
              <a:buFont typeface="Arial,Sans-Serif"/>
              <a:buChar char="•"/>
            </a:pPr>
            <a:r>
              <a:rPr lang="en-US" sz="1400" b="0" i="0" u="none" strike="noStrike" baseline="0">
                <a:solidFill>
                  <a:srgbClr val="000000"/>
                </a:solidFill>
                <a:latin typeface="Times New Roman"/>
                <a:ea typeface="Arial"/>
                <a:cs typeface="Arial"/>
              </a:rPr>
              <a:t>Throughput optimization under routing constraints</a:t>
            </a:r>
          </a:p>
        </p:txBody>
      </p:sp>
      <p:sp>
        <p:nvSpPr>
          <p:cNvPr id="9" name="TextBox 8">
            <a:extLst>
              <a:ext uri="{FF2B5EF4-FFF2-40B4-BE49-F238E27FC236}">
                <a16:creationId xmlns:a16="http://schemas.microsoft.com/office/drawing/2014/main" id="{993CAA8E-A08E-D47D-28BD-4DBA253C32FF}"/>
              </a:ext>
            </a:extLst>
          </p:cNvPr>
          <p:cNvSpPr txBox="1"/>
          <p:nvPr/>
        </p:nvSpPr>
        <p:spPr>
          <a:xfrm>
            <a:off x="231913" y="4555434"/>
            <a:ext cx="3092174"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rtl="0"/>
            <a:r>
              <a:rPr lang="en-US" sz="1400" b="1" i="0" u="none" strike="noStrike" baseline="0">
                <a:solidFill>
                  <a:srgbClr val="000000"/>
                </a:solidFill>
                <a:latin typeface="Times New Roman"/>
                <a:ea typeface="Segoe UI"/>
                <a:cs typeface="Segoe UI"/>
              </a:rPr>
              <a:t>Evaluation Metrics</a:t>
            </a:r>
            <a:r>
              <a:rPr lang="en-US" sz="1400" b="0" i="0">
                <a:solidFill>
                  <a:srgbClr val="000000"/>
                </a:solidFill>
                <a:latin typeface="Times New Roman"/>
                <a:ea typeface="Segoe UI"/>
                <a:cs typeface="Segoe UI"/>
              </a:rPr>
              <a:t>​</a:t>
            </a:r>
            <a:endParaRPr lang="en-US" sz="1400"/>
          </a:p>
          <a:p>
            <a:pPr marL="228600" lvl="0" indent="-228600" algn="l" rtl="0">
              <a:buFont typeface="Arial,Sans-Serif"/>
              <a:buChar char="•"/>
            </a:pPr>
            <a:r>
              <a:rPr lang="en-US" sz="1400" b="0" i="0" u="none" strike="noStrike" baseline="0">
                <a:solidFill>
                  <a:srgbClr val="000000"/>
                </a:solidFill>
                <a:latin typeface="Times New Roman"/>
                <a:ea typeface="Arial"/>
                <a:cs typeface="Arial"/>
              </a:rPr>
              <a:t>Routing Delay </a:t>
            </a:r>
            <a:r>
              <a:rPr lang="en-US" sz="1400" b="0" i="0">
                <a:solidFill>
                  <a:srgbClr val="000000"/>
                </a:solidFill>
                <a:latin typeface="Times New Roman"/>
                <a:ea typeface="Arial"/>
                <a:cs typeface="Arial"/>
              </a:rPr>
              <a:t>​</a:t>
            </a:r>
          </a:p>
          <a:p>
            <a:pPr marL="228600" lvl="0" indent="-228600" algn="l" rtl="0">
              <a:buFont typeface="Arial,Sans-Serif"/>
              <a:buChar char="•"/>
            </a:pPr>
            <a:r>
              <a:rPr lang="en-US" sz="1400" b="0" i="0" u="none" strike="noStrike" baseline="0">
                <a:solidFill>
                  <a:srgbClr val="000000"/>
                </a:solidFill>
                <a:latin typeface="Times New Roman"/>
                <a:ea typeface="Arial"/>
                <a:cs typeface="Arial"/>
              </a:rPr>
              <a:t>Effective Entanglement Latency </a:t>
            </a:r>
            <a:r>
              <a:rPr lang="en-US" sz="1400" b="0" i="0">
                <a:solidFill>
                  <a:srgbClr val="000000"/>
                </a:solidFill>
                <a:latin typeface="Times New Roman"/>
                <a:ea typeface="Arial"/>
                <a:cs typeface="Arial"/>
              </a:rPr>
              <a:t>​</a:t>
            </a:r>
          </a:p>
          <a:p>
            <a:pPr marL="228600" lvl="0" indent="-228600" algn="l" rtl="0">
              <a:buFont typeface="Arial,Sans-Serif"/>
              <a:buChar char="•"/>
            </a:pPr>
            <a:r>
              <a:rPr lang="en-US" sz="1400" b="0" i="0" u="none" strike="noStrike" baseline="0">
                <a:solidFill>
                  <a:srgbClr val="000000"/>
                </a:solidFill>
                <a:latin typeface="Times New Roman"/>
                <a:ea typeface="Arial"/>
                <a:cs typeface="Arial"/>
              </a:rPr>
              <a:t>Queue Stability </a:t>
            </a:r>
            <a:r>
              <a:rPr lang="en-US" sz="1400" b="0" i="0">
                <a:solidFill>
                  <a:srgbClr val="000000"/>
                </a:solidFill>
                <a:latin typeface="Times New Roman"/>
                <a:ea typeface="Arial"/>
                <a:cs typeface="Arial"/>
              </a:rPr>
              <a:t>​</a:t>
            </a:r>
          </a:p>
          <a:p>
            <a:pPr marL="228600" lvl="0" indent="-228600" algn="l" rtl="0">
              <a:buFont typeface="Arial,Sans-Serif"/>
              <a:buChar char="•"/>
            </a:pPr>
            <a:r>
              <a:rPr lang="en-US" sz="1400" b="0" i="0" u="none" strike="noStrike" baseline="0">
                <a:solidFill>
                  <a:srgbClr val="000000"/>
                </a:solidFill>
                <a:latin typeface="Times New Roman"/>
                <a:ea typeface="Arial"/>
                <a:cs typeface="Arial"/>
              </a:rPr>
              <a:t>Communication Throughput </a:t>
            </a:r>
            <a:r>
              <a:rPr lang="en-US" sz="1400" b="0" i="0">
                <a:solidFill>
                  <a:srgbClr val="000000"/>
                </a:solidFill>
                <a:latin typeface="Times New Roman"/>
                <a:ea typeface="Arial"/>
                <a:cs typeface="Arial"/>
              </a:rPr>
              <a:t>​</a:t>
            </a:r>
          </a:p>
          <a:p>
            <a:pPr marL="228600" lvl="0" indent="-228600" algn="l" rtl="0">
              <a:buFont typeface="Arial,Sans-Serif"/>
              <a:buChar char="•"/>
            </a:pPr>
            <a:r>
              <a:rPr lang="en-US" sz="1400" b="0" i="0" u="none" strike="noStrike" baseline="0">
                <a:solidFill>
                  <a:srgbClr val="000000"/>
                </a:solidFill>
                <a:latin typeface="Times New Roman"/>
                <a:ea typeface="Arial"/>
                <a:cs typeface="Arial"/>
              </a:rPr>
              <a:t>Logical Error Rate </a:t>
            </a:r>
            <a:r>
              <a:rPr lang="en-US" sz="1400" b="0" i="0">
                <a:solidFill>
                  <a:srgbClr val="000000"/>
                </a:solidFill>
                <a:latin typeface="Times New Roman"/>
                <a:ea typeface="Arial"/>
                <a:cs typeface="Arial"/>
              </a:rPr>
              <a:t>​</a:t>
            </a:r>
          </a:p>
          <a:p>
            <a:pPr marL="228600" lvl="0" indent="-228600" algn="l" rtl="0">
              <a:buFont typeface="Arial,Sans-Serif"/>
              <a:buChar char="•"/>
            </a:pPr>
            <a:r>
              <a:rPr lang="en-US" sz="1400" b="0" i="0" u="none" strike="noStrike" baseline="0">
                <a:solidFill>
                  <a:srgbClr val="000000"/>
                </a:solidFill>
                <a:latin typeface="Times New Roman"/>
                <a:ea typeface="Arial"/>
                <a:cs typeface="Arial"/>
              </a:rPr>
              <a:t>Circuit Depth </a:t>
            </a:r>
          </a:p>
        </p:txBody>
      </p:sp>
      <p:pic>
        <p:nvPicPr>
          <p:cNvPr id="10" name="Picture 9">
            <a:extLst>
              <a:ext uri="{FF2B5EF4-FFF2-40B4-BE49-F238E27FC236}">
                <a16:creationId xmlns:a16="http://schemas.microsoft.com/office/drawing/2014/main" id="{027B92E1-5763-645C-6AF3-92D93F39E337}"/>
              </a:ext>
            </a:extLst>
          </p:cNvPr>
          <p:cNvPicPr>
            <a:picLocks noChangeAspect="1"/>
          </p:cNvPicPr>
          <p:nvPr/>
        </p:nvPicPr>
        <p:blipFill>
          <a:blip r:embed="rId2"/>
          <a:srcRect l="1611" t="27858" r="3437" b="3382"/>
          <a:stretch>
            <a:fillRect/>
          </a:stretch>
        </p:blipFill>
        <p:spPr>
          <a:xfrm>
            <a:off x="4972325" y="662609"/>
            <a:ext cx="6808041" cy="3357227"/>
          </a:xfrm>
          <a:prstGeom prst="rect">
            <a:avLst/>
          </a:prstGeom>
        </p:spPr>
      </p:pic>
    </p:spTree>
    <p:extLst>
      <p:ext uri="{BB962C8B-B14F-4D97-AF65-F5344CB8AC3E}">
        <p14:creationId xmlns:p14="http://schemas.microsoft.com/office/powerpoint/2010/main" val="25706193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92554-1F16-2D68-D505-F89D5111EC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8C5FA1-DD68-2135-29C9-30F2F9DC2901}"/>
              </a:ext>
            </a:extLst>
          </p:cNvPr>
          <p:cNvSpPr>
            <a:spLocks noGrp="1"/>
          </p:cNvSpPr>
          <p:nvPr>
            <p:ph type="title"/>
          </p:nvPr>
        </p:nvSpPr>
        <p:spPr>
          <a:xfrm>
            <a:off x="1635031" y="690"/>
            <a:ext cx="9308460" cy="662955"/>
          </a:xfrm>
        </p:spPr>
        <p:txBody>
          <a:bodyPr>
            <a:normAutofit fontScale="90000"/>
          </a:bodyPr>
          <a:lstStyle/>
          <a:p>
            <a:r>
              <a:rPr lang="en-US" sz="3600" b="1">
                <a:latin typeface="Times New Roman"/>
                <a:ea typeface="+mj-lt"/>
                <a:cs typeface="Times New Roman"/>
              </a:rPr>
              <a:t>Model I: Fast Interconnect Distributed Architecture</a:t>
            </a:r>
            <a:endParaRPr lang="en-US" sz="3600" b="1">
              <a:latin typeface="Times New Roman"/>
              <a:cs typeface="Times New Roman"/>
            </a:endParaRPr>
          </a:p>
        </p:txBody>
      </p:sp>
      <p:pic>
        <p:nvPicPr>
          <p:cNvPr id="8" name="Picture 7">
            <a:extLst>
              <a:ext uri="{FF2B5EF4-FFF2-40B4-BE49-F238E27FC236}">
                <a16:creationId xmlns:a16="http://schemas.microsoft.com/office/drawing/2014/main" id="{ACEB5C9B-E21C-AEE8-D076-3F17174F6C37}"/>
              </a:ext>
            </a:extLst>
          </p:cNvPr>
          <p:cNvPicPr>
            <a:picLocks noChangeAspect="1"/>
          </p:cNvPicPr>
          <p:nvPr/>
        </p:nvPicPr>
        <p:blipFill>
          <a:blip r:embed="rId2"/>
          <a:stretch>
            <a:fillRect/>
          </a:stretch>
        </p:blipFill>
        <p:spPr>
          <a:xfrm>
            <a:off x="4175126" y="1021291"/>
            <a:ext cx="7895166" cy="3249083"/>
          </a:xfrm>
          <a:prstGeom prst="rect">
            <a:avLst/>
          </a:prstGeom>
        </p:spPr>
      </p:pic>
      <p:sp>
        <p:nvSpPr>
          <p:cNvPr id="11" name="TextBox 10">
            <a:extLst>
              <a:ext uri="{FF2B5EF4-FFF2-40B4-BE49-F238E27FC236}">
                <a16:creationId xmlns:a16="http://schemas.microsoft.com/office/drawing/2014/main" id="{946B9FBE-EBAB-7D3A-47DF-924E3990B266}"/>
              </a:ext>
            </a:extLst>
          </p:cNvPr>
          <p:cNvSpPr txBox="1"/>
          <p:nvPr/>
        </p:nvSpPr>
        <p:spPr>
          <a:xfrm>
            <a:off x="116417" y="666750"/>
            <a:ext cx="11345333" cy="56938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latin typeface="Times New Roman"/>
                <a:ea typeface="+mn-lt"/>
                <a:cs typeface="Times New Roman"/>
              </a:rPr>
              <a:t>The model </a:t>
            </a:r>
            <a:r>
              <a:rPr lang="en-US" sz="1400">
                <a:latin typeface="Times New Roman"/>
                <a:ea typeface="+mn-lt"/>
                <a:cs typeface="Times New Roman"/>
              </a:rPr>
              <a:t>evaluates if</a:t>
            </a:r>
            <a:r>
              <a:rPr lang="en-US" sz="1400" dirty="0">
                <a:latin typeface="Times New Roman"/>
                <a:ea typeface="+mn-lt"/>
                <a:cs typeface="Times New Roman"/>
              </a:rPr>
              <a:t> </a:t>
            </a:r>
            <a:r>
              <a:rPr lang="en-US" sz="1400" b="1" dirty="0">
                <a:latin typeface="Times New Roman"/>
                <a:ea typeface="+mn-lt"/>
                <a:cs typeface="Times New Roman"/>
              </a:rPr>
              <a:t>fast photonic interconnects </a:t>
            </a:r>
            <a:r>
              <a:rPr lang="en-US" sz="1400">
                <a:latin typeface="Times New Roman"/>
                <a:ea typeface="+mn-lt"/>
                <a:cs typeface="Times New Roman"/>
              </a:rPr>
              <a:t>can improve communication efficiency and stabilize </a:t>
            </a:r>
            <a:r>
              <a:rPr lang="en-US" sz="1400" dirty="0">
                <a:latin typeface="Times New Roman"/>
                <a:ea typeface="+mn-lt"/>
                <a:cs typeface="Times New Roman"/>
              </a:rPr>
              <a:t>distributed execution. </a:t>
            </a:r>
            <a:endParaRPr lang="en-US" sz="1400" dirty="0">
              <a:latin typeface="Times New Roman"/>
              <a:cs typeface="Times New Roman"/>
            </a:endParaRPr>
          </a:p>
          <a:p>
            <a:endParaRPr lang="en-US" sz="1400" dirty="0">
              <a:latin typeface="Times New Roman"/>
              <a:cs typeface="Times New Roman"/>
            </a:endParaRPr>
          </a:p>
          <a:p>
            <a:endParaRPr lang="en-US" sz="1400" dirty="0">
              <a:latin typeface="Times New Roman"/>
              <a:ea typeface="+mn-lt"/>
              <a:cs typeface="Times New Roman"/>
            </a:endParaRPr>
          </a:p>
          <a:p>
            <a:endParaRPr lang="en-US" sz="1400" dirty="0">
              <a:latin typeface="Times New Roman"/>
              <a:ea typeface="+mn-lt"/>
              <a:cs typeface="Times New Roman"/>
            </a:endParaRPr>
          </a:p>
          <a:p>
            <a:endParaRPr lang="en-US" sz="1400" dirty="0">
              <a:latin typeface="Times New Roman"/>
              <a:ea typeface="+mn-lt"/>
              <a:cs typeface="Times New Roman"/>
            </a:endParaRPr>
          </a:p>
          <a:p>
            <a:endParaRPr lang="en-US" sz="1400" dirty="0">
              <a:latin typeface="Times New Roman"/>
              <a:ea typeface="+mn-lt"/>
              <a:cs typeface="Times New Roman"/>
            </a:endParaRPr>
          </a:p>
          <a:p>
            <a:endParaRPr lang="en-US" sz="1400" dirty="0">
              <a:latin typeface="Times New Roman"/>
              <a:ea typeface="+mn-lt"/>
              <a:cs typeface="Times New Roman"/>
            </a:endParaRPr>
          </a:p>
          <a:p>
            <a:endParaRPr lang="en-US" sz="1400" dirty="0">
              <a:latin typeface="Times New Roman"/>
              <a:ea typeface="+mn-lt"/>
              <a:cs typeface="Times New Roman"/>
            </a:endParaRPr>
          </a:p>
          <a:p>
            <a:r>
              <a:rPr lang="en-US" sz="1400">
                <a:latin typeface="Times New Roman"/>
                <a:ea typeface="+mn-lt"/>
                <a:cs typeface="Times New Roman"/>
              </a:rPr>
              <a:t>As the i</a:t>
            </a:r>
            <a:r>
              <a:rPr lang="en-US" sz="1400" b="1">
                <a:latin typeface="Times New Roman"/>
                <a:ea typeface="+mn-lt"/>
                <a:cs typeface="Times New Roman"/>
              </a:rPr>
              <a:t>nterconnect speed factor (γ)</a:t>
            </a:r>
            <a:r>
              <a:rPr lang="en-US" sz="1400">
                <a:latin typeface="Times New Roman"/>
                <a:ea typeface="+mn-lt"/>
                <a:cs typeface="Times New Roman"/>
              </a:rPr>
              <a:t> increases:</a:t>
            </a:r>
            <a:endParaRPr lang="en-US" sz="1400">
              <a:latin typeface="Times New Roman"/>
              <a:cs typeface="Times New Roman"/>
            </a:endParaRPr>
          </a:p>
          <a:p>
            <a:pPr marL="285750" indent="-285750">
              <a:buFont typeface="Arial"/>
              <a:buChar char="•"/>
            </a:pPr>
            <a:r>
              <a:rPr lang="en-US" sz="1400">
                <a:latin typeface="Times New Roman"/>
                <a:ea typeface="+mn-lt"/>
                <a:cs typeface="Times New Roman"/>
              </a:rPr>
              <a:t>Effective entanglement latency decreases rapidly</a:t>
            </a:r>
            <a:endParaRPr lang="en-US" sz="1400">
              <a:latin typeface="Times New Roman"/>
              <a:cs typeface="Times New Roman"/>
            </a:endParaRPr>
          </a:p>
          <a:p>
            <a:pPr marL="285750" indent="-285750">
              <a:buFont typeface="Arial"/>
              <a:buChar char="•"/>
            </a:pPr>
            <a:r>
              <a:rPr lang="en-US" sz="1400">
                <a:latin typeface="Times New Roman"/>
                <a:ea typeface="+mn-lt"/>
                <a:cs typeface="Times New Roman"/>
              </a:rPr>
              <a:t>Routing delay decreases significantly</a:t>
            </a:r>
            <a:endParaRPr lang="en-US" sz="1400">
              <a:latin typeface="Times New Roman"/>
              <a:cs typeface="Times New Roman"/>
            </a:endParaRPr>
          </a:p>
          <a:p>
            <a:pPr marL="285750" indent="-285750">
              <a:buFont typeface="Arial"/>
              <a:buChar char="•"/>
            </a:pPr>
            <a:r>
              <a:rPr lang="en-US" sz="1400">
                <a:latin typeface="Times New Roman"/>
                <a:ea typeface="+mn-lt"/>
                <a:cs typeface="Times New Roman"/>
              </a:rPr>
              <a:t>Synchronization overhead is reduced</a:t>
            </a:r>
            <a:endParaRPr lang="en-US" sz="1400">
              <a:latin typeface="Times New Roman"/>
              <a:cs typeface="Times New Roman"/>
            </a:endParaRPr>
          </a:p>
          <a:p>
            <a:pPr marL="285750" indent="-285750">
              <a:buFont typeface="Arial"/>
              <a:buChar char="•"/>
            </a:pPr>
            <a:r>
              <a:rPr lang="en-US" sz="1400">
                <a:latin typeface="Times New Roman"/>
                <a:ea typeface="+mn-lt"/>
                <a:cs typeface="Times New Roman"/>
              </a:rPr>
              <a:t>Communication serialization is minimized</a:t>
            </a:r>
            <a:endParaRPr lang="en-US" sz="1400">
              <a:latin typeface="Times New Roman"/>
              <a:cs typeface="Times New Roman"/>
            </a:endParaRPr>
          </a:p>
          <a:p>
            <a:pPr marL="285750" indent="-285750">
              <a:buFont typeface="Arial"/>
              <a:buChar char="•"/>
            </a:pPr>
            <a:r>
              <a:rPr lang="en-US" sz="1400">
                <a:latin typeface="Times New Roman"/>
                <a:ea typeface="+mn-lt"/>
                <a:cs typeface="Times New Roman"/>
              </a:rPr>
              <a:t>Distributed execution becomes more stable</a:t>
            </a:r>
            <a:endParaRPr lang="en-US" sz="1400">
              <a:latin typeface="Times New Roman"/>
              <a:cs typeface="Times New Roman"/>
            </a:endParaRPr>
          </a:p>
          <a:p>
            <a:r>
              <a:rPr lang="en-US" sz="1400" dirty="0">
                <a:latin typeface="Times New Roman"/>
                <a:ea typeface="+mn-lt"/>
                <a:cs typeface="Times New Roman"/>
              </a:rPr>
              <a:t> </a:t>
            </a:r>
            <a:endParaRPr lang="en-US" sz="1400" dirty="0">
              <a:latin typeface="Times New Roman"/>
              <a:cs typeface="Times New Roman"/>
            </a:endParaRPr>
          </a:p>
          <a:p>
            <a:r>
              <a:rPr lang="en-US" sz="1400" b="1">
                <a:latin typeface="Times New Roman"/>
                <a:cs typeface="Times New Roman"/>
              </a:rPr>
              <a:t>Effective Entanglement Latency Reduction</a:t>
            </a:r>
            <a:endParaRPr lang="en-US" sz="1400">
              <a:latin typeface="Times New Roman"/>
              <a:cs typeface="Times New Roman"/>
            </a:endParaRPr>
          </a:p>
          <a:p>
            <a:pPr marL="285750" indent="-285750">
              <a:buFont typeface="Arial"/>
              <a:buChar char="•"/>
            </a:pPr>
            <a:r>
              <a:rPr lang="en-US" sz="1400">
                <a:latin typeface="Times New Roman"/>
                <a:ea typeface="+mn-lt"/>
                <a:cs typeface="Times New Roman"/>
              </a:rPr>
              <a:t>Effective latency drops sharply with increasing γ </a:t>
            </a:r>
            <a:endParaRPr lang="en-US" sz="1400">
              <a:latin typeface="Times New Roman"/>
              <a:cs typeface="Times New Roman"/>
            </a:endParaRPr>
          </a:p>
          <a:p>
            <a:pPr marL="285750" indent="-285750">
              <a:buFont typeface="Arial"/>
              <a:buChar char="•"/>
            </a:pPr>
            <a:r>
              <a:rPr lang="en-US" sz="1400">
                <a:latin typeface="Times New Roman"/>
                <a:ea typeface="+mn-lt"/>
                <a:cs typeface="Times New Roman"/>
              </a:rPr>
              <a:t>Fast photonic communication suppresses long-distance communication overhead </a:t>
            </a:r>
            <a:endParaRPr lang="en-US" sz="1400">
              <a:latin typeface="Times New Roman"/>
              <a:cs typeface="Times New Roman"/>
            </a:endParaRPr>
          </a:p>
          <a:p>
            <a:pPr marL="285750" indent="-285750">
              <a:buFont typeface="Arial"/>
              <a:buChar char="•"/>
            </a:pPr>
            <a:r>
              <a:rPr lang="en-US" sz="1400">
                <a:latin typeface="Times New Roman"/>
                <a:ea typeface="+mn-lt"/>
                <a:cs typeface="Times New Roman"/>
              </a:rPr>
              <a:t>Latency approaches a lower bound at higher interconnect speeds </a:t>
            </a:r>
            <a:endParaRPr lang="en-US" sz="1400">
              <a:latin typeface="Times New Roman"/>
              <a:cs typeface="Times New Roman"/>
            </a:endParaRPr>
          </a:p>
          <a:p>
            <a:endParaRPr lang="en-US" sz="1400" b="1" dirty="0">
              <a:latin typeface="Times New Roman"/>
              <a:cs typeface="Times New Roman"/>
            </a:endParaRPr>
          </a:p>
          <a:p>
            <a:r>
              <a:rPr lang="en-US" sz="1400" b="1">
                <a:latin typeface="Times New Roman"/>
                <a:cs typeface="Times New Roman"/>
              </a:rPr>
              <a:t>Routing Delay vs Interconnect Speed (γ)</a:t>
            </a:r>
            <a:endParaRPr lang="en-US" sz="1400">
              <a:latin typeface="Times New Roman"/>
              <a:cs typeface="Times New Roman"/>
            </a:endParaRPr>
          </a:p>
          <a:p>
            <a:pPr marL="285750" indent="-285750">
              <a:buFont typeface="Arial"/>
              <a:buChar char="•"/>
            </a:pPr>
            <a:r>
              <a:rPr lang="en-US" sz="1400">
                <a:latin typeface="Times New Roman"/>
                <a:ea typeface="+mn-lt"/>
                <a:cs typeface="Times New Roman"/>
              </a:rPr>
              <a:t>Routing delay decreases dramatically as communication becomes faster </a:t>
            </a:r>
            <a:endParaRPr lang="en-US" sz="1400">
              <a:latin typeface="Times New Roman"/>
              <a:cs typeface="Times New Roman"/>
            </a:endParaRPr>
          </a:p>
          <a:p>
            <a:pPr marL="285750" indent="-285750">
              <a:buFont typeface="Arial"/>
              <a:buChar char="•"/>
            </a:pPr>
            <a:r>
              <a:rPr lang="en-US" sz="1400">
                <a:latin typeface="Times New Roman"/>
                <a:ea typeface="+mn-lt"/>
                <a:cs typeface="Times New Roman"/>
              </a:rPr>
              <a:t>Synchronization waiting time is significantly reduced </a:t>
            </a:r>
            <a:endParaRPr lang="en-US" sz="1400">
              <a:latin typeface="Times New Roman"/>
              <a:cs typeface="Times New Roman"/>
            </a:endParaRPr>
          </a:p>
          <a:p>
            <a:pPr marL="285750" indent="-285750">
              <a:buFont typeface="Arial"/>
              <a:buChar char="•"/>
            </a:pPr>
            <a:r>
              <a:rPr lang="en-US" sz="1400">
                <a:latin typeface="Times New Roman"/>
                <a:ea typeface="+mn-lt"/>
                <a:cs typeface="Times New Roman"/>
              </a:rPr>
              <a:t>Routing instability originates primarily from communication latency rather than computation</a:t>
            </a:r>
            <a:endParaRPr lang="en-US" sz="1400">
              <a:latin typeface="Times New Roman"/>
              <a:cs typeface="Times New Roman"/>
            </a:endParaRPr>
          </a:p>
          <a:p>
            <a:endParaRPr lang="en-US" sz="1400" b="1" dirty="0">
              <a:latin typeface="Times New Roman"/>
              <a:cs typeface="Times New Roman"/>
            </a:endParaRPr>
          </a:p>
          <a:p>
            <a:pPr algn="ctr"/>
            <a:endParaRPr lang="en-US" sz="1400">
              <a:latin typeface="Times New Roman"/>
              <a:cs typeface="Times New Roman"/>
            </a:endParaRPr>
          </a:p>
        </p:txBody>
      </p:sp>
    </p:spTree>
    <p:extLst>
      <p:ext uri="{BB962C8B-B14F-4D97-AF65-F5344CB8AC3E}">
        <p14:creationId xmlns:p14="http://schemas.microsoft.com/office/powerpoint/2010/main" val="32675254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4A871-8B43-5DC8-87D7-873B3D2D24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35E337-BD21-DED2-3CF9-F0850AE9B02A}"/>
              </a:ext>
            </a:extLst>
          </p:cNvPr>
          <p:cNvSpPr>
            <a:spLocks noGrp="1"/>
          </p:cNvSpPr>
          <p:nvPr>
            <p:ph type="title"/>
          </p:nvPr>
        </p:nvSpPr>
        <p:spPr>
          <a:xfrm>
            <a:off x="4477877" y="690"/>
            <a:ext cx="3231999" cy="662955"/>
          </a:xfrm>
        </p:spPr>
        <p:txBody>
          <a:bodyPr>
            <a:normAutofit fontScale="90000"/>
          </a:bodyPr>
          <a:lstStyle/>
          <a:p>
            <a:r>
              <a:rPr lang="en-US" sz="3600" b="1">
                <a:latin typeface="Times New Roman"/>
                <a:ea typeface="+mj-lt"/>
                <a:cs typeface="Times New Roman"/>
              </a:rPr>
              <a:t>Model I Results</a:t>
            </a:r>
            <a:endParaRPr lang="en-US" sz="3600" b="1">
              <a:latin typeface="Times New Roman"/>
              <a:cs typeface="Times New Roman"/>
            </a:endParaRPr>
          </a:p>
        </p:txBody>
      </p:sp>
      <p:sp>
        <p:nvSpPr>
          <p:cNvPr id="11" name="TextBox 10">
            <a:extLst>
              <a:ext uri="{FF2B5EF4-FFF2-40B4-BE49-F238E27FC236}">
                <a16:creationId xmlns:a16="http://schemas.microsoft.com/office/drawing/2014/main" id="{5D0F0564-BC81-8827-924F-E7391A7EA711}"/>
              </a:ext>
            </a:extLst>
          </p:cNvPr>
          <p:cNvSpPr txBox="1"/>
          <p:nvPr/>
        </p:nvSpPr>
        <p:spPr>
          <a:xfrm>
            <a:off x="0" y="1714500"/>
            <a:ext cx="5069417" cy="461664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Times New Roman"/>
                <a:cs typeface="Times New Roman"/>
              </a:rPr>
              <a:t>Logical Error vs System Size</a:t>
            </a:r>
          </a:p>
          <a:p>
            <a:pPr algn="just"/>
            <a:r>
              <a:rPr lang="en-US" sz="1400" dirty="0">
                <a:latin typeface="Times New Roman"/>
                <a:cs typeface="Times New Roman"/>
              </a:rPr>
              <a:t>Fast interconnect distributed systems exhibit substantially lower logical error than slow distributed systems. Reduced communication latency suppresses routing-induced decoherence.</a:t>
            </a:r>
          </a:p>
          <a:p>
            <a:endParaRPr lang="en-US" sz="1400" b="1" dirty="0">
              <a:latin typeface="Times New Roman"/>
              <a:cs typeface="Times New Roman"/>
            </a:endParaRPr>
          </a:p>
          <a:p>
            <a:r>
              <a:rPr lang="en-US" sz="1400" b="1">
                <a:latin typeface="Times New Roman"/>
                <a:cs typeface="Times New Roman"/>
              </a:rPr>
              <a:t>Depth vs System Size</a:t>
            </a:r>
            <a:endParaRPr lang="en-US" sz="1400" b="1" dirty="0">
              <a:latin typeface="Times New Roman"/>
              <a:cs typeface="Times New Roman"/>
            </a:endParaRPr>
          </a:p>
          <a:p>
            <a:pPr algn="just"/>
            <a:r>
              <a:rPr lang="en-US" sz="1400" dirty="0">
                <a:latin typeface="Times New Roman"/>
                <a:cs typeface="Times New Roman"/>
              </a:rPr>
              <a:t>Slow interconnect depth grows rapidly. Fast interconnect depth remains significantly lower. </a:t>
            </a:r>
            <a:endParaRPr lang="en-US" sz="1600" dirty="0">
              <a:latin typeface="Aptos" panose="020B0004020202020204"/>
              <a:cs typeface="Times New Roman"/>
            </a:endParaRPr>
          </a:p>
          <a:p>
            <a:pPr algn="just"/>
            <a:endParaRPr lang="en-US" sz="1400" b="1" dirty="0">
              <a:latin typeface="Times New Roman"/>
              <a:cs typeface="Times New Roman"/>
            </a:endParaRPr>
          </a:p>
          <a:p>
            <a:pPr algn="just"/>
            <a:r>
              <a:rPr lang="en-US" sz="1400" b="1">
                <a:latin typeface="Times New Roman"/>
                <a:cs typeface="Times New Roman"/>
              </a:rPr>
              <a:t>Logical Error vs Entanglement Latency</a:t>
            </a:r>
            <a:endParaRPr lang="en-US" sz="1600"/>
          </a:p>
          <a:p>
            <a:pPr algn="just"/>
            <a:r>
              <a:rPr lang="en-US" sz="1400" dirty="0">
                <a:latin typeface="Times New Roman"/>
                <a:cs typeface="Times New Roman"/>
              </a:rPr>
              <a:t>Slow distributed systems show stronger error sensitivity to latency. Fast interconnect systems </a:t>
            </a:r>
            <a:r>
              <a:rPr lang="en-US" sz="1400">
                <a:latin typeface="Times New Roman"/>
                <a:cs typeface="Times New Roman"/>
              </a:rPr>
              <a:t>stay</a:t>
            </a:r>
            <a:r>
              <a:rPr lang="en-US" sz="1400" dirty="0">
                <a:latin typeface="Times New Roman"/>
                <a:cs typeface="Times New Roman"/>
              </a:rPr>
              <a:t> comparatively stable. Fast photonic links effectively isolate the system from communication-induced noise accumulation.</a:t>
            </a:r>
          </a:p>
          <a:p>
            <a:endParaRPr lang="en-US" sz="1400" dirty="0">
              <a:latin typeface="Times New Roman"/>
              <a:cs typeface="Times New Roman"/>
            </a:endParaRPr>
          </a:p>
          <a:p>
            <a:r>
              <a:rPr lang="en-US" sz="1400" b="1">
                <a:latin typeface="Times New Roman"/>
                <a:cs typeface="Times New Roman"/>
              </a:rPr>
              <a:t>Depth vs Entanglement Latency</a:t>
            </a:r>
            <a:endParaRPr lang="en-US" sz="1400" b="1" dirty="0">
              <a:latin typeface="Times New Roman"/>
              <a:cs typeface="Times New Roman"/>
            </a:endParaRPr>
          </a:p>
          <a:p>
            <a:pPr algn="just"/>
            <a:r>
              <a:rPr lang="en-US" sz="1400" dirty="0">
                <a:latin typeface="Times New Roman"/>
                <a:cs typeface="Times New Roman"/>
              </a:rPr>
              <a:t>Slow distributed systems exhibit severe depth explosion. Fast interconnect systems maintain bounded depth growth. Fast communication stabilizes distributed execution and prevents synchronization collapse.</a:t>
            </a:r>
          </a:p>
          <a:p>
            <a:endParaRPr lang="en-US" sz="1200" b="1" dirty="0">
              <a:latin typeface="Times New Roman"/>
              <a:cs typeface="Times New Roman"/>
            </a:endParaRPr>
          </a:p>
        </p:txBody>
      </p:sp>
      <p:pic>
        <p:nvPicPr>
          <p:cNvPr id="4" name="Picture 3">
            <a:extLst>
              <a:ext uri="{FF2B5EF4-FFF2-40B4-BE49-F238E27FC236}">
                <a16:creationId xmlns:a16="http://schemas.microsoft.com/office/drawing/2014/main" id="{8EB8F40C-20C4-57C5-2167-5B678E2196D8}"/>
              </a:ext>
            </a:extLst>
          </p:cNvPr>
          <p:cNvPicPr>
            <a:picLocks noChangeAspect="1"/>
          </p:cNvPicPr>
          <p:nvPr/>
        </p:nvPicPr>
        <p:blipFill>
          <a:blip r:embed="rId2"/>
          <a:stretch>
            <a:fillRect/>
          </a:stretch>
        </p:blipFill>
        <p:spPr>
          <a:xfrm>
            <a:off x="5069417" y="1491191"/>
            <a:ext cx="7101416" cy="3663950"/>
          </a:xfrm>
          <a:prstGeom prst="rect">
            <a:avLst/>
          </a:prstGeom>
        </p:spPr>
      </p:pic>
    </p:spTree>
    <p:extLst>
      <p:ext uri="{BB962C8B-B14F-4D97-AF65-F5344CB8AC3E}">
        <p14:creationId xmlns:p14="http://schemas.microsoft.com/office/powerpoint/2010/main" val="3268533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6F8F1-C256-AFDA-2B5D-EEDFE832DD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F019F3-DB4D-E4B2-9FBF-62D303D9D5C9}"/>
              </a:ext>
            </a:extLst>
          </p:cNvPr>
          <p:cNvSpPr>
            <a:spLocks noGrp="1"/>
          </p:cNvSpPr>
          <p:nvPr>
            <p:ph type="title"/>
          </p:nvPr>
        </p:nvSpPr>
        <p:spPr>
          <a:xfrm>
            <a:off x="1444531" y="690"/>
            <a:ext cx="9308460" cy="662955"/>
          </a:xfrm>
        </p:spPr>
        <p:txBody>
          <a:bodyPr>
            <a:normAutofit fontScale="90000"/>
          </a:bodyPr>
          <a:lstStyle/>
          <a:p>
            <a:r>
              <a:rPr lang="en-US" sz="3600" b="1" dirty="0">
                <a:latin typeface="Times New Roman"/>
                <a:ea typeface="+mj-lt"/>
                <a:cs typeface="Times New Roman"/>
              </a:rPr>
              <a:t>Model II: </a:t>
            </a:r>
            <a:r>
              <a:rPr lang="en-US" sz="3600" b="1" dirty="0" err="1">
                <a:latin typeface="Times New Roman"/>
                <a:ea typeface="+mj-lt"/>
                <a:cs typeface="Times New Roman"/>
              </a:rPr>
              <a:t>IonQ</a:t>
            </a:r>
            <a:r>
              <a:rPr lang="en-US" sz="3600" b="1" dirty="0">
                <a:latin typeface="Times New Roman"/>
                <a:ea typeface="+mj-lt"/>
                <a:cs typeface="Times New Roman"/>
              </a:rPr>
              <a:t> + </a:t>
            </a:r>
            <a:r>
              <a:rPr lang="en-US" sz="3600" b="1" dirty="0" err="1">
                <a:latin typeface="Times New Roman"/>
                <a:ea typeface="+mj-lt"/>
                <a:cs typeface="Times New Roman"/>
              </a:rPr>
              <a:t>SwitchQNet</a:t>
            </a:r>
            <a:r>
              <a:rPr lang="en-US" sz="3600" b="1" dirty="0">
                <a:latin typeface="Times New Roman"/>
                <a:ea typeface="+mj-lt"/>
                <a:cs typeface="Times New Roman"/>
              </a:rPr>
              <a:t> + Fast Interconnect</a:t>
            </a:r>
          </a:p>
        </p:txBody>
      </p:sp>
      <p:sp>
        <p:nvSpPr>
          <p:cNvPr id="11" name="TextBox 10">
            <a:extLst>
              <a:ext uri="{FF2B5EF4-FFF2-40B4-BE49-F238E27FC236}">
                <a16:creationId xmlns:a16="http://schemas.microsoft.com/office/drawing/2014/main" id="{8CB02009-F6A4-0197-F31D-AA8209C15729}"/>
              </a:ext>
            </a:extLst>
          </p:cNvPr>
          <p:cNvSpPr txBox="1"/>
          <p:nvPr/>
        </p:nvSpPr>
        <p:spPr>
          <a:xfrm>
            <a:off x="116417" y="666750"/>
            <a:ext cx="11747499" cy="63401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err="1">
                <a:latin typeface="Times New Roman"/>
                <a:cs typeface="Times New Roman"/>
              </a:rPr>
              <a:t>IonQ</a:t>
            </a:r>
            <a:r>
              <a:rPr lang="en-US" sz="1400" b="1" dirty="0">
                <a:latin typeface="Times New Roman"/>
                <a:cs typeface="Times New Roman"/>
              </a:rPr>
              <a:t> Contribution</a:t>
            </a:r>
            <a:endParaRPr lang="en-US" sz="1400" dirty="0">
              <a:latin typeface="Times New Roman"/>
              <a:cs typeface="Times New Roman"/>
            </a:endParaRPr>
          </a:p>
          <a:p>
            <a:pPr marL="285750" indent="-285750">
              <a:buFont typeface="Arial"/>
              <a:buChar char="•"/>
            </a:pPr>
            <a:r>
              <a:rPr lang="en-US" sz="1400">
                <a:latin typeface="Times New Roman"/>
                <a:ea typeface="+mn-lt"/>
                <a:cs typeface="Times New Roman"/>
              </a:rPr>
              <a:t>Modular distributed QPU architecture </a:t>
            </a:r>
            <a:endParaRPr lang="en-US" sz="1400" dirty="0">
              <a:latin typeface="Times New Roman"/>
              <a:cs typeface="Times New Roman"/>
            </a:endParaRPr>
          </a:p>
          <a:p>
            <a:pPr marL="285750" indent="-285750">
              <a:buFont typeface="Arial"/>
              <a:buChar char="•"/>
            </a:pPr>
            <a:r>
              <a:rPr lang="en-US" sz="1400">
                <a:latin typeface="Times New Roman"/>
                <a:ea typeface="+mn-lt"/>
                <a:cs typeface="Times New Roman"/>
              </a:rPr>
              <a:t>Hardware-aware communication model </a:t>
            </a:r>
            <a:endParaRPr lang="en-US" sz="1400" dirty="0">
              <a:latin typeface="Times New Roman"/>
              <a:cs typeface="Times New Roman"/>
            </a:endParaRPr>
          </a:p>
          <a:p>
            <a:pPr marL="285750" indent="-285750">
              <a:buFont typeface="Arial"/>
              <a:buChar char="•"/>
            </a:pPr>
            <a:r>
              <a:rPr lang="en-US" sz="1400">
                <a:latin typeface="Times New Roman"/>
                <a:ea typeface="+mn-lt"/>
                <a:cs typeface="Times New Roman"/>
              </a:rPr>
              <a:t>Realistic entanglement latency </a:t>
            </a:r>
            <a:endParaRPr lang="en-US" sz="1400" dirty="0">
              <a:latin typeface="Times New Roman"/>
              <a:ea typeface="+mn-lt"/>
              <a:cs typeface="Times New Roman"/>
            </a:endParaRPr>
          </a:p>
          <a:p>
            <a:pPr marL="285750" indent="-285750">
              <a:buFont typeface="Arial"/>
              <a:buChar char="•"/>
            </a:pPr>
            <a:endParaRPr lang="en-US" sz="1400" dirty="0">
              <a:latin typeface="Times New Roman"/>
              <a:cs typeface="Times New Roman"/>
            </a:endParaRPr>
          </a:p>
          <a:p>
            <a:r>
              <a:rPr lang="en-US" sz="1400" b="1" dirty="0" err="1">
                <a:latin typeface="Times New Roman"/>
                <a:cs typeface="Times New Roman"/>
              </a:rPr>
              <a:t>SwitchQNet</a:t>
            </a:r>
            <a:r>
              <a:rPr lang="en-US" sz="1400" b="1" dirty="0">
                <a:latin typeface="Times New Roman"/>
                <a:cs typeface="Times New Roman"/>
              </a:rPr>
              <a:t> Contribution</a:t>
            </a:r>
            <a:endParaRPr lang="en-US" sz="1400" dirty="0">
              <a:latin typeface="Times New Roman"/>
              <a:cs typeface="Times New Roman"/>
            </a:endParaRPr>
          </a:p>
          <a:p>
            <a:pPr marL="285750" indent="-285750">
              <a:buFont typeface="Arial"/>
              <a:buChar char="•"/>
            </a:pPr>
            <a:r>
              <a:rPr lang="en-US" sz="1400">
                <a:latin typeface="Times New Roman"/>
                <a:ea typeface="+mn-lt"/>
                <a:cs typeface="Times New Roman"/>
              </a:rPr>
              <a:t>RL-inspired routing priority </a:t>
            </a:r>
            <a:endParaRPr lang="en-US" sz="1400" dirty="0">
              <a:latin typeface="Times New Roman"/>
              <a:cs typeface="Times New Roman"/>
            </a:endParaRPr>
          </a:p>
          <a:p>
            <a:pPr marL="285750" indent="-285750">
              <a:buFont typeface="Arial"/>
              <a:buChar char="•"/>
            </a:pPr>
            <a:r>
              <a:rPr lang="en-US" sz="1400">
                <a:latin typeface="Times New Roman"/>
                <a:ea typeface="+mn-lt"/>
                <a:cs typeface="Times New Roman"/>
              </a:rPr>
              <a:t>Queue-aware scheduling </a:t>
            </a:r>
            <a:endParaRPr lang="en-US" sz="1400" dirty="0">
              <a:latin typeface="Times New Roman"/>
              <a:cs typeface="Times New Roman"/>
            </a:endParaRPr>
          </a:p>
          <a:p>
            <a:pPr marL="285750" indent="-285750">
              <a:buFont typeface="Arial"/>
              <a:buChar char="•"/>
            </a:pPr>
            <a:r>
              <a:rPr lang="en-US" sz="1400">
                <a:latin typeface="Times New Roman"/>
                <a:ea typeface="+mn-lt"/>
                <a:cs typeface="Times New Roman"/>
              </a:rPr>
              <a:t>Congestion-aware communication management </a:t>
            </a:r>
            <a:endParaRPr lang="en-US" sz="1400" dirty="0">
              <a:latin typeface="Times New Roman"/>
              <a:ea typeface="+mn-lt"/>
              <a:cs typeface="Times New Roman"/>
            </a:endParaRPr>
          </a:p>
          <a:p>
            <a:pPr marL="285750" indent="-285750">
              <a:buFont typeface="Arial"/>
              <a:buChar char="•"/>
            </a:pPr>
            <a:endParaRPr lang="en-US" sz="1400" dirty="0">
              <a:latin typeface="Times New Roman"/>
              <a:cs typeface="Times New Roman"/>
            </a:endParaRPr>
          </a:p>
          <a:p>
            <a:r>
              <a:rPr lang="en-US" sz="1400" b="1">
                <a:latin typeface="Times New Roman"/>
                <a:cs typeface="Times New Roman"/>
              </a:rPr>
              <a:t>Fast Interconnect Contribution</a:t>
            </a:r>
            <a:endParaRPr lang="en-US" sz="1400" dirty="0">
              <a:latin typeface="Times New Roman"/>
              <a:cs typeface="Times New Roman"/>
            </a:endParaRPr>
          </a:p>
          <a:p>
            <a:pPr marL="285750" indent="-285750">
              <a:buFont typeface="Arial"/>
              <a:buChar char="•"/>
            </a:pPr>
            <a:r>
              <a:rPr lang="en-US" sz="1400">
                <a:latin typeface="Times New Roman"/>
                <a:ea typeface="+mn-lt"/>
                <a:cs typeface="Times New Roman"/>
              </a:rPr>
              <a:t>Reduced Bell-pair generation latency </a:t>
            </a:r>
            <a:endParaRPr lang="en-US" sz="1400" dirty="0">
              <a:latin typeface="Times New Roman"/>
              <a:ea typeface="+mn-lt"/>
              <a:cs typeface="Times New Roman"/>
            </a:endParaRPr>
          </a:p>
          <a:p>
            <a:pPr marL="285750" indent="-285750">
              <a:buFont typeface="Arial"/>
              <a:buChar char="•"/>
            </a:pPr>
            <a:r>
              <a:rPr lang="en-US" sz="1400">
                <a:latin typeface="Times New Roman"/>
                <a:ea typeface="+mn-lt"/>
                <a:cs typeface="Times New Roman"/>
              </a:rPr>
              <a:t>Faster synchronization between QPUs </a:t>
            </a:r>
            <a:endParaRPr lang="en-US" sz="1400" dirty="0">
              <a:latin typeface="Times New Roman"/>
              <a:cs typeface="Times New Roman"/>
            </a:endParaRPr>
          </a:p>
          <a:p>
            <a:endParaRPr lang="en-US" sz="1400" dirty="0">
              <a:latin typeface="Times New Roman"/>
              <a:cs typeface="Times New Roman"/>
            </a:endParaRPr>
          </a:p>
          <a:p>
            <a:r>
              <a:rPr lang="en-US" sz="1400" b="1">
                <a:latin typeface="Times New Roman"/>
                <a:cs typeface="Times New Roman"/>
              </a:rPr>
              <a:t>Routing Mechanism</a:t>
            </a:r>
            <a:endParaRPr lang="en-US" sz="1400" dirty="0">
              <a:latin typeface="Times New Roman"/>
              <a:cs typeface="Times New Roman"/>
            </a:endParaRPr>
          </a:p>
          <a:p>
            <a:pPr marL="285750" indent="-285750">
              <a:buFont typeface="Arial"/>
              <a:buChar char="•"/>
            </a:pPr>
            <a:r>
              <a:rPr lang="en-US" sz="1400">
                <a:latin typeface="Times New Roman"/>
                <a:ea typeface="+mn-lt"/>
                <a:cs typeface="Times New Roman"/>
              </a:rPr>
              <a:t>Communication requests enter a routing queue </a:t>
            </a:r>
            <a:endParaRPr lang="en-US" sz="1400" dirty="0">
              <a:latin typeface="Times New Roman"/>
              <a:cs typeface="Times New Roman"/>
            </a:endParaRPr>
          </a:p>
          <a:p>
            <a:pPr marL="285750" indent="-285750">
              <a:buFont typeface="Arial"/>
              <a:buChar char="•"/>
            </a:pPr>
            <a:r>
              <a:rPr lang="en-US" sz="1400">
                <a:latin typeface="Times New Roman"/>
                <a:ea typeface="+mn-lt"/>
                <a:cs typeface="Times New Roman"/>
              </a:rPr>
              <a:t>RL-based priority assigns importance to requests </a:t>
            </a:r>
            <a:endParaRPr lang="en-US" sz="1400" dirty="0">
              <a:latin typeface="Times New Roman"/>
              <a:cs typeface="Times New Roman"/>
            </a:endParaRPr>
          </a:p>
          <a:p>
            <a:pPr marL="285750" indent="-285750">
              <a:buFont typeface="Arial"/>
              <a:buChar char="•"/>
            </a:pPr>
            <a:r>
              <a:rPr lang="en-US" sz="1400" dirty="0">
                <a:latin typeface="Times New Roman"/>
                <a:ea typeface="+mn-lt"/>
                <a:cs typeface="Times New Roman"/>
              </a:rPr>
              <a:t>Scheduler allocates routing resources </a:t>
            </a:r>
            <a:endParaRPr lang="en-US" sz="1400" dirty="0">
              <a:latin typeface="Times New Roman"/>
              <a:cs typeface="Times New Roman"/>
            </a:endParaRPr>
          </a:p>
          <a:p>
            <a:pPr marL="285750" indent="-285750">
              <a:buFont typeface="Arial"/>
              <a:buChar char="•"/>
            </a:pPr>
            <a:r>
              <a:rPr lang="en-US" sz="1400">
                <a:latin typeface="Times New Roman"/>
                <a:ea typeface="+mn-lt"/>
                <a:cs typeface="Times New Roman"/>
              </a:rPr>
              <a:t>Queue-aware decisions minimize congestion </a:t>
            </a:r>
            <a:endParaRPr lang="en-US" sz="1400" dirty="0">
              <a:latin typeface="Times New Roman"/>
              <a:cs typeface="Times New Roman"/>
            </a:endParaRPr>
          </a:p>
          <a:p>
            <a:pPr marL="285750" indent="-285750">
              <a:buFont typeface="Arial"/>
              <a:buChar char="•"/>
            </a:pPr>
            <a:r>
              <a:rPr lang="en-US" sz="1400">
                <a:latin typeface="Times New Roman"/>
                <a:ea typeface="+mn-lt"/>
                <a:cs typeface="Times New Roman"/>
              </a:rPr>
              <a:t>Fast interconnect executes communication </a:t>
            </a:r>
            <a:endParaRPr lang="en-US" sz="1400" dirty="0">
              <a:latin typeface="Times New Roman"/>
              <a:ea typeface="+mn-lt"/>
              <a:cs typeface="Times New Roman"/>
            </a:endParaRPr>
          </a:p>
          <a:p>
            <a:endParaRPr lang="en-US" sz="1400" dirty="0">
              <a:latin typeface="Times New Roman"/>
              <a:cs typeface="Times New Roman"/>
            </a:endParaRPr>
          </a:p>
          <a:p>
            <a:r>
              <a:rPr lang="en-US" sz="1400" b="1">
                <a:latin typeface="Times New Roman"/>
                <a:cs typeface="Times New Roman"/>
              </a:rPr>
              <a:t>Result</a:t>
            </a:r>
            <a:endParaRPr lang="en-US" sz="1400" b="1" dirty="0">
              <a:latin typeface="Times New Roman"/>
              <a:cs typeface="Times New Roman"/>
            </a:endParaRPr>
          </a:p>
          <a:p>
            <a:pPr marL="285750" indent="-285750">
              <a:buFont typeface="Arial"/>
              <a:buChar char="•"/>
            </a:pPr>
            <a:r>
              <a:rPr lang="en-US" sz="1400">
                <a:latin typeface="Times New Roman"/>
                <a:ea typeface="+mn-lt"/>
                <a:cs typeface="Times New Roman"/>
              </a:rPr>
              <a:t>Reduced waiting time </a:t>
            </a:r>
            <a:endParaRPr lang="en-US" sz="1400" dirty="0">
              <a:latin typeface="Times New Roman"/>
              <a:ea typeface="+mn-lt"/>
              <a:cs typeface="Times New Roman"/>
            </a:endParaRPr>
          </a:p>
          <a:p>
            <a:pPr marL="285750" indent="-285750">
              <a:buFont typeface="Arial"/>
              <a:buChar char="•"/>
            </a:pPr>
            <a:r>
              <a:rPr lang="en-US" sz="1400">
                <a:latin typeface="Times New Roman"/>
                <a:ea typeface="+mn-lt"/>
                <a:cs typeface="Times New Roman"/>
              </a:rPr>
              <a:t>Lower queue buildup </a:t>
            </a:r>
            <a:endParaRPr lang="en-US" sz="1400" dirty="0">
              <a:latin typeface="Times New Roman"/>
              <a:cs typeface="Times New Roman"/>
            </a:endParaRPr>
          </a:p>
          <a:p>
            <a:pPr marL="285750" indent="-285750">
              <a:buFont typeface="Arial"/>
              <a:buChar char="•"/>
            </a:pPr>
            <a:r>
              <a:rPr lang="en-US" sz="1400">
                <a:latin typeface="Times New Roman"/>
                <a:ea typeface="+mn-lt"/>
                <a:cs typeface="Times New Roman"/>
              </a:rPr>
              <a:t>Improved routing stability </a:t>
            </a:r>
            <a:endParaRPr lang="en-US" sz="1400" dirty="0">
              <a:latin typeface="Times New Roman"/>
              <a:cs typeface="Times New Roman"/>
            </a:endParaRPr>
          </a:p>
          <a:p>
            <a:pPr marL="285750" indent="-285750">
              <a:buFont typeface="Arial"/>
              <a:buChar char="•"/>
            </a:pPr>
            <a:r>
              <a:rPr lang="en-US" sz="1400" dirty="0">
                <a:latin typeface="Times New Roman"/>
                <a:ea typeface="+mn-lt"/>
                <a:cs typeface="Times New Roman"/>
              </a:rPr>
              <a:t>Better utilization of communication resources</a:t>
            </a:r>
            <a:endParaRPr lang="en-US" sz="1400" dirty="0">
              <a:latin typeface="Times New Roman"/>
              <a:cs typeface="Times New Roman"/>
            </a:endParaRPr>
          </a:p>
          <a:p>
            <a:endParaRPr lang="en-US" sz="1400" dirty="0">
              <a:latin typeface="Times New Roman"/>
              <a:cs typeface="Times New Roman"/>
            </a:endParaRPr>
          </a:p>
          <a:p>
            <a:endParaRPr lang="en-US" sz="1400" b="1" dirty="0">
              <a:latin typeface="Times New Roman"/>
              <a:cs typeface="Times New Roman"/>
            </a:endParaRPr>
          </a:p>
          <a:p>
            <a:pPr algn="ctr"/>
            <a:endParaRPr lang="en-US" sz="1400">
              <a:latin typeface="Times New Roman"/>
              <a:cs typeface="Times New Roman"/>
            </a:endParaRPr>
          </a:p>
        </p:txBody>
      </p:sp>
    </p:spTree>
    <p:extLst>
      <p:ext uri="{BB962C8B-B14F-4D97-AF65-F5344CB8AC3E}">
        <p14:creationId xmlns:p14="http://schemas.microsoft.com/office/powerpoint/2010/main" val="3891261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A4528-E682-5640-9B14-69B16F490A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595253-9A3E-4F44-CDEC-B414EF82563C}"/>
              </a:ext>
            </a:extLst>
          </p:cNvPr>
          <p:cNvSpPr>
            <a:spLocks noGrp="1"/>
          </p:cNvSpPr>
          <p:nvPr>
            <p:ph type="title"/>
          </p:nvPr>
        </p:nvSpPr>
        <p:spPr>
          <a:xfrm>
            <a:off x="4477877" y="690"/>
            <a:ext cx="3507165" cy="662955"/>
          </a:xfrm>
        </p:spPr>
        <p:txBody>
          <a:bodyPr>
            <a:normAutofit fontScale="90000"/>
          </a:bodyPr>
          <a:lstStyle/>
          <a:p>
            <a:r>
              <a:rPr lang="en-US" sz="3600" b="1">
                <a:latin typeface="Times New Roman"/>
                <a:ea typeface="+mj-lt"/>
                <a:cs typeface="Times New Roman"/>
              </a:rPr>
              <a:t>Model III Results</a:t>
            </a:r>
            <a:endParaRPr lang="en-US" sz="3600" b="1">
              <a:latin typeface="Times New Roman"/>
              <a:cs typeface="Times New Roman"/>
            </a:endParaRPr>
          </a:p>
        </p:txBody>
      </p:sp>
      <p:sp>
        <p:nvSpPr>
          <p:cNvPr id="11" name="TextBox 10">
            <a:extLst>
              <a:ext uri="{FF2B5EF4-FFF2-40B4-BE49-F238E27FC236}">
                <a16:creationId xmlns:a16="http://schemas.microsoft.com/office/drawing/2014/main" id="{3090DAF9-8B57-3EB2-FB76-87A961ECC9FB}"/>
              </a:ext>
            </a:extLst>
          </p:cNvPr>
          <p:cNvSpPr txBox="1"/>
          <p:nvPr/>
        </p:nvSpPr>
        <p:spPr>
          <a:xfrm>
            <a:off x="0" y="1047750"/>
            <a:ext cx="4730751" cy="458587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Times New Roman"/>
                <a:cs typeface="Times New Roman"/>
              </a:rPr>
              <a:t>Logical Error vs System Size</a:t>
            </a:r>
            <a:endParaRPr lang="en-US" sz="1400" b="1" dirty="0">
              <a:latin typeface="Times New Roman"/>
              <a:cs typeface="Times New Roman"/>
            </a:endParaRPr>
          </a:p>
          <a:p>
            <a:pPr algn="just"/>
            <a:r>
              <a:rPr lang="en-US" sz="1400">
                <a:latin typeface="Times New Roman"/>
                <a:cs typeface="Times New Roman"/>
              </a:rPr>
              <a:t>RL-assisted fast routing significantly lowers logical error. Slow routing accumulates higher communication overhead. Adaptive scheduling reduces routing congestion and communication decoherence.</a:t>
            </a:r>
            <a:endParaRPr lang="en-US" sz="1400" dirty="0">
              <a:latin typeface="Times New Roman"/>
              <a:cs typeface="Times New Roman"/>
            </a:endParaRPr>
          </a:p>
          <a:p>
            <a:pPr algn="just"/>
            <a:endParaRPr lang="en-US" sz="1400" b="1" dirty="0">
              <a:latin typeface="Times New Roman"/>
              <a:cs typeface="Times New Roman"/>
            </a:endParaRPr>
          </a:p>
          <a:p>
            <a:r>
              <a:rPr lang="en-US" sz="1400" b="1">
                <a:latin typeface="Times New Roman"/>
                <a:cs typeface="Times New Roman"/>
              </a:rPr>
              <a:t>Depth vs System Size</a:t>
            </a:r>
            <a:endParaRPr lang="en-US" sz="1400" b="1" dirty="0">
              <a:latin typeface="Times New Roman"/>
              <a:cs typeface="Times New Roman"/>
            </a:endParaRPr>
          </a:p>
          <a:p>
            <a:pPr algn="just"/>
            <a:r>
              <a:rPr lang="en-US" sz="1400" dirty="0">
                <a:latin typeface="Times New Roman"/>
                <a:cs typeface="Times New Roman"/>
              </a:rPr>
              <a:t>Slow routing produces substantial depth inflation. Fast RL-assisted routing maintains moderate growth. Queue-aware scheduling efficiently stabilizes distributed execution depth.</a:t>
            </a:r>
          </a:p>
          <a:p>
            <a:pPr algn="just"/>
            <a:endParaRPr lang="en-US" sz="1400" b="1" dirty="0">
              <a:latin typeface="Times New Roman"/>
              <a:cs typeface="Times New Roman"/>
            </a:endParaRPr>
          </a:p>
          <a:p>
            <a:r>
              <a:rPr lang="en-US" sz="1400" b="1">
                <a:latin typeface="Times New Roman"/>
                <a:cs typeface="Times New Roman"/>
              </a:rPr>
              <a:t>Logical Error vs Entanglement Latency</a:t>
            </a:r>
            <a:endParaRPr lang="en-US" sz="1400" b="1" dirty="0">
              <a:latin typeface="Times New Roman"/>
              <a:cs typeface="Times New Roman"/>
            </a:endParaRPr>
          </a:p>
          <a:p>
            <a:pPr algn="just"/>
            <a:r>
              <a:rPr lang="en-US" sz="1400">
                <a:latin typeface="Times New Roman"/>
                <a:cs typeface="Times New Roman"/>
              </a:rPr>
              <a:t>Slow systems become increasingly error-prone with latency. Fast RL routing suppresses this growth. Adaptive routing improves robustness against communication delay.</a:t>
            </a:r>
            <a:endParaRPr lang="en-US" sz="1400" dirty="0">
              <a:latin typeface="Times New Roman"/>
              <a:cs typeface="Times New Roman"/>
            </a:endParaRPr>
          </a:p>
          <a:p>
            <a:pPr algn="just"/>
            <a:endParaRPr lang="en-US" sz="1400" dirty="0">
              <a:latin typeface="Times New Roman"/>
              <a:cs typeface="Times New Roman"/>
            </a:endParaRPr>
          </a:p>
          <a:p>
            <a:r>
              <a:rPr lang="en-US" sz="1400" b="1">
                <a:latin typeface="Times New Roman"/>
                <a:cs typeface="Times New Roman"/>
              </a:rPr>
              <a:t>Depth vs Entanglement Latency</a:t>
            </a:r>
            <a:endParaRPr lang="en-US" sz="1400" b="1" dirty="0">
              <a:latin typeface="Times New Roman"/>
              <a:cs typeface="Times New Roman"/>
            </a:endParaRPr>
          </a:p>
          <a:p>
            <a:r>
              <a:rPr lang="en-US" sz="1400">
                <a:latin typeface="Times New Roman"/>
                <a:cs typeface="Times New Roman"/>
              </a:rPr>
              <a:t>Slow distributed depth grows strongly. Fast routing significantly suppresses depth accumulation. RL scheduling successfully prevents routing instability.</a:t>
            </a:r>
          </a:p>
          <a:p>
            <a:endParaRPr lang="en-US" sz="1200" b="1" dirty="0">
              <a:latin typeface="Times New Roman"/>
              <a:cs typeface="Times New Roman"/>
            </a:endParaRPr>
          </a:p>
        </p:txBody>
      </p:sp>
      <p:pic>
        <p:nvPicPr>
          <p:cNvPr id="5" name="Picture 4">
            <a:extLst>
              <a:ext uri="{FF2B5EF4-FFF2-40B4-BE49-F238E27FC236}">
                <a16:creationId xmlns:a16="http://schemas.microsoft.com/office/drawing/2014/main" id="{0EA3E25B-1190-D29E-7562-D0D69207AB58}"/>
              </a:ext>
            </a:extLst>
          </p:cNvPr>
          <p:cNvPicPr>
            <a:picLocks noChangeAspect="1"/>
          </p:cNvPicPr>
          <p:nvPr/>
        </p:nvPicPr>
        <p:blipFill>
          <a:blip r:embed="rId2"/>
          <a:srcRect r="148" b="296"/>
          <a:stretch>
            <a:fillRect/>
          </a:stretch>
        </p:blipFill>
        <p:spPr>
          <a:xfrm>
            <a:off x="4947708" y="1506538"/>
            <a:ext cx="7228402" cy="3664967"/>
          </a:xfrm>
          <a:prstGeom prst="rect">
            <a:avLst/>
          </a:prstGeom>
        </p:spPr>
      </p:pic>
    </p:spTree>
    <p:extLst>
      <p:ext uri="{BB962C8B-B14F-4D97-AF65-F5344CB8AC3E}">
        <p14:creationId xmlns:p14="http://schemas.microsoft.com/office/powerpoint/2010/main" val="1039063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7995A-88A6-6238-8844-86D7E92BC1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7E3181-EE37-98F7-308F-87E69C08B5C2}"/>
              </a:ext>
            </a:extLst>
          </p:cNvPr>
          <p:cNvSpPr>
            <a:spLocks noGrp="1"/>
          </p:cNvSpPr>
          <p:nvPr>
            <p:ph type="title"/>
          </p:nvPr>
        </p:nvSpPr>
        <p:spPr>
          <a:xfrm>
            <a:off x="2449948" y="690"/>
            <a:ext cx="7297627" cy="662955"/>
          </a:xfrm>
        </p:spPr>
        <p:txBody>
          <a:bodyPr>
            <a:normAutofit fontScale="90000"/>
          </a:bodyPr>
          <a:lstStyle/>
          <a:p>
            <a:r>
              <a:rPr lang="en-US" sz="3600" b="1" dirty="0">
                <a:latin typeface="Times New Roman"/>
                <a:ea typeface="+mj-lt"/>
                <a:cs typeface="Times New Roman"/>
              </a:rPr>
              <a:t>Model III: </a:t>
            </a:r>
            <a:r>
              <a:rPr lang="en-US" sz="3600" b="1" dirty="0">
                <a:latin typeface="Times New Roman"/>
                <a:cs typeface="Times New Roman"/>
              </a:rPr>
              <a:t>Model III: </a:t>
            </a:r>
            <a:r>
              <a:rPr lang="en-US" sz="3600" b="1" dirty="0" err="1">
                <a:latin typeface="Times New Roman"/>
                <a:cs typeface="Times New Roman"/>
              </a:rPr>
              <a:t>IonQ</a:t>
            </a:r>
            <a:r>
              <a:rPr lang="en-US" sz="3600" b="1" dirty="0">
                <a:latin typeface="Times New Roman"/>
                <a:cs typeface="Times New Roman"/>
              </a:rPr>
              <a:t> + YOUTIAO</a:t>
            </a:r>
            <a:endParaRPr lang="en-US" sz="3600" dirty="0">
              <a:latin typeface="Times New Roman"/>
              <a:cs typeface="Times New Roman"/>
            </a:endParaRPr>
          </a:p>
        </p:txBody>
      </p:sp>
      <p:sp>
        <p:nvSpPr>
          <p:cNvPr id="11" name="TextBox 10">
            <a:extLst>
              <a:ext uri="{FF2B5EF4-FFF2-40B4-BE49-F238E27FC236}">
                <a16:creationId xmlns:a16="http://schemas.microsoft.com/office/drawing/2014/main" id="{F725965D-64A4-E3E2-AE74-0D4034362A69}"/>
              </a:ext>
            </a:extLst>
          </p:cNvPr>
          <p:cNvSpPr txBox="1"/>
          <p:nvPr/>
        </p:nvSpPr>
        <p:spPr>
          <a:xfrm>
            <a:off x="222250" y="1100667"/>
            <a:ext cx="11747499" cy="52322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Times New Roman"/>
                <a:ea typeface="+mn-lt"/>
                <a:cs typeface="Times New Roman"/>
              </a:rPr>
              <a:t>As distributed quantum systems scale, communication channels become increasingly congested. Simply adding more communication links is not sufficient, as it introduces routing contention, synchronization delays, and control overhead.</a:t>
            </a:r>
            <a:endParaRPr lang="en-US" sz="1400" dirty="0">
              <a:latin typeface="Times New Roman"/>
              <a:cs typeface="Times New Roman"/>
            </a:endParaRPr>
          </a:p>
          <a:p>
            <a:r>
              <a:rPr lang="en-US" sz="1400">
                <a:latin typeface="Times New Roman"/>
                <a:ea typeface="+mn-lt"/>
                <a:cs typeface="Times New Roman"/>
              </a:rPr>
              <a:t>YOUTIAO addresses this challenge through </a:t>
            </a:r>
            <a:r>
              <a:rPr lang="en-US" sz="1400" b="1">
                <a:latin typeface="Times New Roman"/>
                <a:ea typeface="+mn-lt"/>
                <a:cs typeface="Times New Roman"/>
              </a:rPr>
              <a:t>communication multiplexing</a:t>
            </a:r>
            <a:r>
              <a:rPr lang="en-US" sz="1400">
                <a:latin typeface="Times New Roman"/>
                <a:ea typeface="+mn-lt"/>
                <a:cs typeface="Times New Roman"/>
              </a:rPr>
              <a:t>, enabling multiple communication operations to share physical resources more efficiently. </a:t>
            </a:r>
            <a:endParaRPr lang="en-US" sz="1400" dirty="0">
              <a:latin typeface="Times New Roman"/>
              <a:cs typeface="Times New Roman"/>
            </a:endParaRPr>
          </a:p>
          <a:p>
            <a:endParaRPr lang="en-US" sz="1400" dirty="0">
              <a:latin typeface="Times New Roman"/>
              <a:cs typeface="Times New Roman"/>
            </a:endParaRPr>
          </a:p>
          <a:p>
            <a:r>
              <a:rPr lang="en-US" sz="1400" b="1">
                <a:latin typeface="Times New Roman"/>
                <a:cs typeface="Times New Roman"/>
              </a:rPr>
              <a:t>Frequency Division Multiplexing (FDM)</a:t>
            </a:r>
            <a:endParaRPr lang="en-US" sz="1400" dirty="0">
              <a:latin typeface="Times New Roman"/>
              <a:cs typeface="Times New Roman"/>
            </a:endParaRPr>
          </a:p>
          <a:p>
            <a:pPr marL="285750" indent="-285750">
              <a:buFont typeface="Arial"/>
              <a:buChar char="•"/>
            </a:pPr>
            <a:r>
              <a:rPr lang="en-US" sz="1400" dirty="0">
                <a:latin typeface="Times New Roman"/>
                <a:ea typeface="+mn-lt"/>
                <a:cs typeface="Times New Roman"/>
              </a:rPr>
              <a:t>Multiple communication channels operate simultaneously at different frequencies. </a:t>
            </a:r>
            <a:endParaRPr lang="en-US" sz="1400" dirty="0">
              <a:latin typeface="Times New Roman"/>
              <a:cs typeface="Times New Roman"/>
            </a:endParaRPr>
          </a:p>
          <a:p>
            <a:pPr marL="285750" indent="-285750">
              <a:buFont typeface="Arial"/>
              <a:buChar char="•"/>
            </a:pPr>
            <a:r>
              <a:rPr lang="en-US" sz="1400">
                <a:latin typeface="Times New Roman"/>
                <a:ea typeface="+mn-lt"/>
                <a:cs typeface="Times New Roman"/>
              </a:rPr>
              <a:t>Improves communication parallelism. </a:t>
            </a:r>
            <a:endParaRPr lang="en-US" sz="1400" dirty="0">
              <a:latin typeface="Times New Roman"/>
              <a:cs typeface="Times New Roman"/>
            </a:endParaRPr>
          </a:p>
          <a:p>
            <a:pPr marL="285750" indent="-285750">
              <a:buFont typeface="Arial"/>
              <a:buChar char="•"/>
            </a:pPr>
            <a:r>
              <a:rPr lang="en-US" sz="1400">
                <a:latin typeface="Times New Roman"/>
                <a:ea typeface="+mn-lt"/>
                <a:cs typeface="Times New Roman"/>
              </a:rPr>
              <a:t>Reduces channel waiting time. </a:t>
            </a:r>
            <a:endParaRPr lang="en-US" sz="1400" dirty="0">
              <a:latin typeface="Times New Roman"/>
              <a:cs typeface="Times New Roman"/>
            </a:endParaRPr>
          </a:p>
          <a:p>
            <a:pPr marL="285750" indent="-285750">
              <a:buFont typeface="Arial"/>
              <a:buChar char="•"/>
            </a:pPr>
            <a:endParaRPr lang="en-US" sz="1400" dirty="0">
              <a:latin typeface="Times New Roman"/>
              <a:cs typeface="Times New Roman"/>
            </a:endParaRPr>
          </a:p>
          <a:p>
            <a:r>
              <a:rPr lang="en-US" sz="1400" b="1">
                <a:latin typeface="Times New Roman"/>
                <a:cs typeface="Times New Roman"/>
              </a:rPr>
              <a:t>Time Division Multiplexing (TDM)</a:t>
            </a:r>
            <a:endParaRPr lang="en-US" sz="1400" dirty="0">
              <a:latin typeface="Times New Roman"/>
              <a:cs typeface="Times New Roman"/>
            </a:endParaRPr>
          </a:p>
          <a:p>
            <a:pPr marL="285750" indent="-285750">
              <a:buFont typeface="Arial"/>
              <a:buChar char="•"/>
            </a:pPr>
            <a:r>
              <a:rPr lang="en-US" sz="1400">
                <a:latin typeface="Times New Roman"/>
                <a:ea typeface="+mn-lt"/>
                <a:cs typeface="Times New Roman"/>
              </a:rPr>
              <a:t>Communication operations are scheduled across different time slots. </a:t>
            </a:r>
            <a:endParaRPr lang="en-US" sz="1400" dirty="0">
              <a:latin typeface="Times New Roman"/>
              <a:cs typeface="Times New Roman"/>
            </a:endParaRPr>
          </a:p>
          <a:p>
            <a:pPr marL="285750" indent="-285750">
              <a:buFont typeface="Arial"/>
              <a:buChar char="•"/>
            </a:pPr>
            <a:r>
              <a:rPr lang="en-US" sz="1400" dirty="0">
                <a:latin typeface="Times New Roman"/>
                <a:ea typeface="+mn-lt"/>
                <a:cs typeface="Times New Roman"/>
              </a:rPr>
              <a:t>Improves utilization of available communication resources. </a:t>
            </a:r>
            <a:endParaRPr lang="en-US" sz="1400" dirty="0">
              <a:latin typeface="Times New Roman"/>
              <a:cs typeface="Times New Roman"/>
            </a:endParaRPr>
          </a:p>
          <a:p>
            <a:pPr marL="285750" indent="-285750">
              <a:buFont typeface="Arial"/>
              <a:buChar char="•"/>
            </a:pPr>
            <a:r>
              <a:rPr lang="en-US" sz="1400">
                <a:latin typeface="Times New Roman"/>
                <a:ea typeface="+mn-lt"/>
                <a:cs typeface="Times New Roman"/>
              </a:rPr>
              <a:t>Reduces communication serialization.</a:t>
            </a:r>
            <a:endParaRPr lang="en-US" sz="1400" dirty="0">
              <a:latin typeface="Times New Roman"/>
              <a:ea typeface="+mn-lt"/>
              <a:cs typeface="Times New Roman"/>
            </a:endParaRPr>
          </a:p>
          <a:p>
            <a:pPr marL="285750" indent="-285750">
              <a:buFont typeface="Arial"/>
              <a:buChar char="•"/>
            </a:pPr>
            <a:endParaRPr lang="en-US" sz="1400" dirty="0">
              <a:latin typeface="Times New Roman"/>
              <a:cs typeface="Times New Roman"/>
            </a:endParaRPr>
          </a:p>
          <a:p>
            <a:r>
              <a:rPr lang="en-US" sz="1400" b="1">
                <a:latin typeface="Times New Roman"/>
                <a:cs typeface="Times New Roman"/>
              </a:rPr>
              <a:t>Communication Parallelism</a:t>
            </a:r>
            <a:endParaRPr lang="en-US" sz="1400" dirty="0">
              <a:latin typeface="Times New Roman"/>
              <a:cs typeface="Times New Roman"/>
            </a:endParaRPr>
          </a:p>
          <a:p>
            <a:pPr marL="285750" indent="-285750">
              <a:buFont typeface="Arial"/>
              <a:buChar char="•"/>
            </a:pPr>
            <a:r>
              <a:rPr lang="en-US" sz="1400">
                <a:latin typeface="Times New Roman"/>
                <a:ea typeface="+mn-lt"/>
                <a:cs typeface="Times New Roman"/>
              </a:rPr>
              <a:t>Multiple distributed communication requests can be processed concurrently. </a:t>
            </a:r>
            <a:endParaRPr lang="en-US" sz="1400" dirty="0">
              <a:latin typeface="Times New Roman"/>
              <a:cs typeface="Times New Roman"/>
            </a:endParaRPr>
          </a:p>
          <a:p>
            <a:pPr marL="285750" indent="-285750">
              <a:buFont typeface="Arial"/>
              <a:buChar char="•"/>
            </a:pPr>
            <a:r>
              <a:rPr lang="en-US" sz="1400">
                <a:latin typeface="Times New Roman"/>
                <a:ea typeface="+mn-lt"/>
                <a:cs typeface="Times New Roman"/>
              </a:rPr>
              <a:t>Improves effective throughput of the distributed network. </a:t>
            </a:r>
            <a:endParaRPr lang="en-US" sz="1400" dirty="0">
              <a:latin typeface="Times New Roman"/>
              <a:cs typeface="Times New Roman"/>
            </a:endParaRPr>
          </a:p>
          <a:p>
            <a:endParaRPr lang="en-US" sz="1400" dirty="0">
              <a:latin typeface="Times New Roman"/>
              <a:cs typeface="Times New Roman"/>
            </a:endParaRPr>
          </a:p>
          <a:p>
            <a:endParaRPr lang="en-US" sz="1400" dirty="0">
              <a:latin typeface="Times New Roman"/>
              <a:ea typeface="+mn-lt"/>
              <a:cs typeface="Times New Roman"/>
            </a:endParaRPr>
          </a:p>
          <a:p>
            <a:r>
              <a:rPr lang="en-US" sz="1400" b="1">
                <a:latin typeface="Times New Roman"/>
                <a:ea typeface="+mn-lt"/>
                <a:cs typeface="Times New Roman"/>
              </a:rPr>
              <a:t>Increase communication throughput while controlling interference, synchronization overhead, and communication latency.</a:t>
            </a:r>
            <a:endParaRPr lang="en-US" sz="1400" dirty="0">
              <a:latin typeface="Times New Roman"/>
              <a:cs typeface="Times New Roman"/>
            </a:endParaRPr>
          </a:p>
          <a:p>
            <a:endParaRPr lang="en-US" sz="1400" dirty="0">
              <a:latin typeface="Times New Roman"/>
              <a:ea typeface="+mn-lt"/>
              <a:cs typeface="Times New Roman"/>
            </a:endParaRPr>
          </a:p>
          <a:p>
            <a:r>
              <a:rPr lang="en-US" sz="1400" dirty="0">
                <a:latin typeface="Times New Roman"/>
                <a:ea typeface="+mn-lt"/>
                <a:cs typeface="Times New Roman"/>
              </a:rPr>
              <a:t>The central idea  achieve scalable communication by balancing  higher throughput, low routing delay and better resource utilization.</a:t>
            </a:r>
            <a:endParaRPr lang="en-US" sz="1400">
              <a:latin typeface="Times New Roman"/>
              <a:cs typeface="Times New Roman"/>
            </a:endParaRPr>
          </a:p>
          <a:p>
            <a:endParaRPr lang="en-US" sz="1200">
              <a:latin typeface="Times New Roman"/>
              <a:cs typeface="Times New Roman"/>
            </a:endParaRPr>
          </a:p>
        </p:txBody>
      </p:sp>
    </p:spTree>
    <p:extLst>
      <p:ext uri="{BB962C8B-B14F-4D97-AF65-F5344CB8AC3E}">
        <p14:creationId xmlns:p14="http://schemas.microsoft.com/office/powerpoint/2010/main" val="26612014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63FB9-46EE-EBED-8C0E-B1806E3AF9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6AC6C2-D626-10B0-BF3F-4F08D78FE01E}"/>
              </a:ext>
            </a:extLst>
          </p:cNvPr>
          <p:cNvSpPr>
            <a:spLocks noGrp="1"/>
          </p:cNvSpPr>
          <p:nvPr>
            <p:ph type="title"/>
          </p:nvPr>
        </p:nvSpPr>
        <p:spPr>
          <a:xfrm>
            <a:off x="4477877" y="690"/>
            <a:ext cx="3739999" cy="662955"/>
          </a:xfrm>
        </p:spPr>
        <p:txBody>
          <a:bodyPr>
            <a:normAutofit/>
          </a:bodyPr>
          <a:lstStyle/>
          <a:p>
            <a:r>
              <a:rPr lang="en-US" sz="3600" b="1">
                <a:latin typeface="Times New Roman"/>
                <a:ea typeface="+mj-lt"/>
                <a:cs typeface="Times New Roman"/>
              </a:rPr>
              <a:t>Model II Results</a:t>
            </a:r>
            <a:endParaRPr lang="en-US" sz="3600" b="1">
              <a:latin typeface="Times New Roman"/>
              <a:cs typeface="Times New Roman"/>
            </a:endParaRPr>
          </a:p>
        </p:txBody>
      </p:sp>
      <p:sp>
        <p:nvSpPr>
          <p:cNvPr id="11" name="TextBox 10">
            <a:extLst>
              <a:ext uri="{FF2B5EF4-FFF2-40B4-BE49-F238E27FC236}">
                <a16:creationId xmlns:a16="http://schemas.microsoft.com/office/drawing/2014/main" id="{D17EF186-8C48-69C6-DCE6-35B6035BB903}"/>
              </a:ext>
            </a:extLst>
          </p:cNvPr>
          <p:cNvSpPr txBox="1"/>
          <p:nvPr/>
        </p:nvSpPr>
        <p:spPr>
          <a:xfrm>
            <a:off x="0" y="762000"/>
            <a:ext cx="4667251" cy="60016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latin typeface="Times New Roman"/>
                <a:cs typeface="Times New Roman"/>
              </a:rPr>
              <a:t>Logical Error vs System Size</a:t>
            </a:r>
          </a:p>
          <a:p>
            <a:pPr algn="just"/>
            <a:r>
              <a:rPr lang="en-US" sz="1600">
                <a:latin typeface="Times New Roman"/>
                <a:cs typeface="Times New Roman"/>
              </a:rPr>
              <a:t>Fast multiplexed communication</a:t>
            </a:r>
            <a:r>
              <a:rPr lang="en-US" sz="1600" dirty="0">
                <a:latin typeface="Times New Roman"/>
                <a:cs typeface="Times New Roman"/>
              </a:rPr>
              <a:t> lowers logical error. Slow distributed communication produces larger error growth. Communication optimization reduces synchronization-induced decoherence.</a:t>
            </a:r>
          </a:p>
          <a:p>
            <a:pPr algn="just"/>
            <a:endParaRPr lang="en-US" sz="1600" dirty="0">
              <a:latin typeface="Times New Roman"/>
              <a:cs typeface="Times New Roman"/>
            </a:endParaRPr>
          </a:p>
          <a:p>
            <a:r>
              <a:rPr lang="en-US" sz="1600" b="1">
                <a:latin typeface="Times New Roman"/>
                <a:cs typeface="Times New Roman"/>
              </a:rPr>
              <a:t>Depth vs System Size</a:t>
            </a:r>
          </a:p>
          <a:p>
            <a:pPr algn="just"/>
            <a:r>
              <a:rPr lang="en-US" sz="1600" dirty="0">
                <a:latin typeface="Times New Roman"/>
                <a:cs typeface="Times New Roman"/>
              </a:rPr>
              <a:t>Slow distributed architectures show large depth inflation. Fast multiplexed systems remain comparatively stable. Parallelized communication suppresses distributed execution overhead.</a:t>
            </a:r>
          </a:p>
          <a:p>
            <a:pPr algn="just"/>
            <a:endParaRPr lang="en-US" sz="1600" dirty="0">
              <a:latin typeface="Times New Roman"/>
              <a:cs typeface="Times New Roman"/>
            </a:endParaRPr>
          </a:p>
          <a:p>
            <a:r>
              <a:rPr lang="en-US" sz="1600" b="1">
                <a:latin typeface="Times New Roman"/>
                <a:cs typeface="Times New Roman"/>
              </a:rPr>
              <a:t>Logical Error vs Entanglement Latency</a:t>
            </a:r>
          </a:p>
          <a:p>
            <a:pPr algn="just"/>
            <a:r>
              <a:rPr lang="en-US" sz="1600" dirty="0">
                <a:latin typeface="Times New Roman"/>
                <a:cs typeface="Times New Roman"/>
              </a:rPr>
              <a:t>Fast multiplexed communication maintains relatively stable logical error. Slow communication exhibits stronger sensitivity. FDM/TDM optimization stabilizes latency-sensitive execution.</a:t>
            </a:r>
          </a:p>
          <a:p>
            <a:pPr algn="just"/>
            <a:endParaRPr lang="en-US" sz="1600" dirty="0">
              <a:latin typeface="Times New Roman"/>
              <a:cs typeface="Times New Roman"/>
            </a:endParaRPr>
          </a:p>
          <a:p>
            <a:r>
              <a:rPr lang="en-US" sz="1600" b="1">
                <a:latin typeface="Times New Roman"/>
                <a:cs typeface="Times New Roman"/>
              </a:rPr>
              <a:t>Depth vs Entanglement Latency</a:t>
            </a:r>
          </a:p>
          <a:p>
            <a:r>
              <a:rPr lang="en-US" sz="1600">
                <a:latin typeface="Times New Roman"/>
                <a:cs typeface="Times New Roman"/>
              </a:rPr>
              <a:t>Slow systems experience severe depth escalation. Fast multiplexed communication suppresses depth growth. Communication optimization successfully stabilizes distributed synchronization.</a:t>
            </a:r>
          </a:p>
          <a:p>
            <a:endParaRPr lang="en-US" sz="1600" b="1" dirty="0">
              <a:latin typeface="Times New Roman"/>
              <a:cs typeface="Times New Roman"/>
            </a:endParaRPr>
          </a:p>
        </p:txBody>
      </p:sp>
      <p:pic>
        <p:nvPicPr>
          <p:cNvPr id="5" name="Picture 4">
            <a:extLst>
              <a:ext uri="{FF2B5EF4-FFF2-40B4-BE49-F238E27FC236}">
                <a16:creationId xmlns:a16="http://schemas.microsoft.com/office/drawing/2014/main" id="{AFC71A31-4825-6AB4-AE30-12DC04297A21}"/>
              </a:ext>
            </a:extLst>
          </p:cNvPr>
          <p:cNvPicPr>
            <a:picLocks noChangeAspect="1"/>
          </p:cNvPicPr>
          <p:nvPr/>
        </p:nvPicPr>
        <p:blipFill>
          <a:blip r:embed="rId2"/>
          <a:srcRect b="293"/>
          <a:stretch>
            <a:fillRect/>
          </a:stretch>
        </p:blipFill>
        <p:spPr>
          <a:xfrm>
            <a:off x="4755621" y="1714500"/>
            <a:ext cx="7432675" cy="3725302"/>
          </a:xfrm>
          <a:prstGeom prst="rect">
            <a:avLst/>
          </a:prstGeom>
        </p:spPr>
      </p:pic>
    </p:spTree>
    <p:extLst>
      <p:ext uri="{BB962C8B-B14F-4D97-AF65-F5344CB8AC3E}">
        <p14:creationId xmlns:p14="http://schemas.microsoft.com/office/powerpoint/2010/main" val="28398865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4F779-438E-1825-0659-064F2F2FDA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3173FA-E5D2-718E-41E4-6203A6DFA109}"/>
              </a:ext>
            </a:extLst>
          </p:cNvPr>
          <p:cNvSpPr>
            <a:spLocks noGrp="1"/>
          </p:cNvSpPr>
          <p:nvPr>
            <p:ph type="title"/>
          </p:nvPr>
        </p:nvSpPr>
        <p:spPr>
          <a:xfrm>
            <a:off x="4477877" y="690"/>
            <a:ext cx="3951665" cy="662955"/>
          </a:xfrm>
        </p:spPr>
        <p:txBody>
          <a:bodyPr>
            <a:normAutofit fontScale="90000"/>
          </a:bodyPr>
          <a:lstStyle/>
          <a:p>
            <a:r>
              <a:rPr lang="en-US" sz="3600" b="1">
                <a:latin typeface="Times New Roman"/>
                <a:ea typeface="+mj-lt"/>
                <a:cs typeface="Times New Roman"/>
              </a:rPr>
              <a:t>Comparative Results</a:t>
            </a:r>
            <a:endParaRPr lang="en-US" sz="3600" b="1">
              <a:latin typeface="Times New Roman"/>
              <a:cs typeface="Times New Roman"/>
            </a:endParaRPr>
          </a:p>
        </p:txBody>
      </p:sp>
      <p:sp>
        <p:nvSpPr>
          <p:cNvPr id="11" name="TextBox 10">
            <a:extLst>
              <a:ext uri="{FF2B5EF4-FFF2-40B4-BE49-F238E27FC236}">
                <a16:creationId xmlns:a16="http://schemas.microsoft.com/office/drawing/2014/main" id="{EFD83360-D538-CC99-3209-5082B1A25C9A}"/>
              </a:ext>
            </a:extLst>
          </p:cNvPr>
          <p:cNvSpPr txBox="1"/>
          <p:nvPr/>
        </p:nvSpPr>
        <p:spPr>
          <a:xfrm>
            <a:off x="201083" y="1227666"/>
            <a:ext cx="4603751"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a:latin typeface="Times New Roman"/>
                <a:cs typeface="Times New Roman"/>
              </a:rPr>
              <a:t>Fast Interconnect Architecture</a:t>
            </a:r>
            <a:endParaRPr lang="en-US" sz="1400">
              <a:latin typeface="Times New Roman"/>
              <a:cs typeface="Times New Roman"/>
            </a:endParaRPr>
          </a:p>
          <a:p>
            <a:r>
              <a:rPr lang="en-US" sz="1400">
                <a:latin typeface="Times New Roman"/>
                <a:ea typeface="+mn-lt"/>
                <a:cs typeface="Times New Roman"/>
              </a:rPr>
              <a:t>Lower logical error rates</a:t>
            </a:r>
            <a:endParaRPr lang="en-US" sz="1400">
              <a:latin typeface="Times New Roman"/>
              <a:cs typeface="Times New Roman"/>
            </a:endParaRPr>
          </a:p>
          <a:p>
            <a:r>
              <a:rPr lang="en-US" sz="1400">
                <a:latin typeface="Times New Roman"/>
                <a:ea typeface="+mn-lt"/>
                <a:cs typeface="Times New Roman"/>
              </a:rPr>
              <a:t>Reduced circuit depth</a:t>
            </a:r>
            <a:endParaRPr lang="en-US" sz="1400" dirty="0">
              <a:latin typeface="Times New Roman"/>
              <a:ea typeface="+mn-lt"/>
              <a:cs typeface="Times New Roman"/>
            </a:endParaRPr>
          </a:p>
          <a:p>
            <a:r>
              <a:rPr lang="en-US" sz="1400">
                <a:latin typeface="Times New Roman"/>
                <a:ea typeface="+mn-lt"/>
                <a:cs typeface="Times New Roman"/>
              </a:rPr>
              <a:t>Suppresses latency-induced decoherence</a:t>
            </a:r>
            <a:endParaRPr lang="en-US" sz="1400">
              <a:latin typeface="Times New Roman"/>
              <a:cs typeface="Times New Roman"/>
            </a:endParaRPr>
          </a:p>
          <a:p>
            <a:endParaRPr lang="en-US" sz="1400" dirty="0">
              <a:latin typeface="Times New Roman"/>
              <a:ea typeface="+mn-lt"/>
              <a:cs typeface="Times New Roman"/>
            </a:endParaRPr>
          </a:p>
          <a:p>
            <a:r>
              <a:rPr lang="en-US" sz="1400">
                <a:latin typeface="Times New Roman"/>
                <a:ea typeface="+mn-lt"/>
                <a:cs typeface="Times New Roman"/>
              </a:rPr>
              <a:t>➡ Communication speed directly improves scalability.</a:t>
            </a:r>
          </a:p>
          <a:p>
            <a:endParaRPr lang="en-US" sz="1600" b="1" dirty="0">
              <a:latin typeface="Times New Roman"/>
              <a:cs typeface="Times New Roman"/>
            </a:endParaRPr>
          </a:p>
        </p:txBody>
      </p:sp>
      <p:sp>
        <p:nvSpPr>
          <p:cNvPr id="3" name="TextBox 2">
            <a:extLst>
              <a:ext uri="{FF2B5EF4-FFF2-40B4-BE49-F238E27FC236}">
                <a16:creationId xmlns:a16="http://schemas.microsoft.com/office/drawing/2014/main" id="{51A4370A-CF8F-B270-92EE-62F2388578EC}"/>
              </a:ext>
            </a:extLst>
          </p:cNvPr>
          <p:cNvSpPr txBox="1"/>
          <p:nvPr/>
        </p:nvSpPr>
        <p:spPr>
          <a:xfrm>
            <a:off x="3164416" y="3429000"/>
            <a:ext cx="6805083"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dirty="0" err="1">
                <a:latin typeface="Times New Roman"/>
                <a:cs typeface="Times New Roman"/>
              </a:rPr>
              <a:t>IonQ</a:t>
            </a:r>
            <a:r>
              <a:rPr lang="en-US" sz="1400" b="1" dirty="0">
                <a:latin typeface="Times New Roman"/>
                <a:cs typeface="Times New Roman"/>
              </a:rPr>
              <a:t> + </a:t>
            </a:r>
            <a:r>
              <a:rPr lang="en-US" sz="1400" b="1" dirty="0" err="1">
                <a:latin typeface="Times New Roman"/>
                <a:cs typeface="Times New Roman"/>
              </a:rPr>
              <a:t>SwitchQNet</a:t>
            </a:r>
            <a:endParaRPr lang="en-US" sz="1400" b="1" dirty="0">
              <a:latin typeface="Times New Roman"/>
              <a:cs typeface="Times New Roman"/>
            </a:endParaRPr>
          </a:p>
          <a:p>
            <a:r>
              <a:rPr lang="en-US" sz="1400">
                <a:latin typeface="Times New Roman"/>
                <a:cs typeface="Times New Roman"/>
              </a:rPr>
              <a:t>Stable queue growth</a:t>
            </a:r>
            <a:endParaRPr lang="en-US" sz="1400" dirty="0">
              <a:latin typeface="Times New Roman"/>
              <a:cs typeface="Times New Roman"/>
            </a:endParaRPr>
          </a:p>
          <a:p>
            <a:r>
              <a:rPr lang="en-US" sz="1400">
                <a:latin typeface="Times New Roman"/>
                <a:cs typeface="Times New Roman"/>
              </a:rPr>
              <a:t>Reduced congestion</a:t>
            </a:r>
            <a:endParaRPr lang="en-US" sz="1400" dirty="0">
              <a:latin typeface="Times New Roman"/>
              <a:cs typeface="Times New Roman"/>
            </a:endParaRPr>
          </a:p>
          <a:p>
            <a:r>
              <a:rPr lang="en-US" sz="1400">
                <a:latin typeface="Times New Roman"/>
                <a:cs typeface="Times New Roman"/>
              </a:rPr>
              <a:t> Adaptive routing prevents communication collapse</a:t>
            </a:r>
            <a:endParaRPr lang="en-US" sz="1400" dirty="0">
              <a:latin typeface="Times New Roman"/>
              <a:cs typeface="Times New Roman"/>
            </a:endParaRPr>
          </a:p>
          <a:p>
            <a:endParaRPr lang="en-US" sz="1400" dirty="0">
              <a:latin typeface="Times New Roman"/>
              <a:cs typeface="Times New Roman"/>
            </a:endParaRPr>
          </a:p>
          <a:p>
            <a:r>
              <a:rPr lang="en-US" sz="1400">
                <a:latin typeface="Times New Roman"/>
                <a:cs typeface="Times New Roman"/>
              </a:rPr>
              <a:t>➡ Intelligent scheduling transforms communication into a manageable resource.</a:t>
            </a:r>
            <a:endParaRPr lang="en-US" sz="1400" dirty="0">
              <a:latin typeface="Times New Roman"/>
              <a:cs typeface="Times New Roman"/>
            </a:endParaRPr>
          </a:p>
          <a:p>
            <a:pPr algn="ctr"/>
            <a:endParaRPr lang="en-US" sz="1400"/>
          </a:p>
        </p:txBody>
      </p:sp>
      <p:sp>
        <p:nvSpPr>
          <p:cNvPr id="4" name="TextBox 3">
            <a:extLst>
              <a:ext uri="{FF2B5EF4-FFF2-40B4-BE49-F238E27FC236}">
                <a16:creationId xmlns:a16="http://schemas.microsoft.com/office/drawing/2014/main" id="{C740C623-C482-EFF9-6941-421E04C6AFD1}"/>
              </a:ext>
            </a:extLst>
          </p:cNvPr>
          <p:cNvSpPr txBox="1"/>
          <p:nvPr/>
        </p:nvSpPr>
        <p:spPr>
          <a:xfrm>
            <a:off x="7122584" y="5259917"/>
            <a:ext cx="5069418"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dirty="0" err="1">
                <a:latin typeface="Times New Roman"/>
                <a:cs typeface="Times New Roman"/>
              </a:rPr>
              <a:t>IonQ</a:t>
            </a:r>
            <a:r>
              <a:rPr lang="en-US" sz="1400" b="1" dirty="0">
                <a:latin typeface="Times New Roman"/>
                <a:cs typeface="Times New Roman"/>
              </a:rPr>
              <a:t> + YOUTIAO</a:t>
            </a:r>
            <a:endParaRPr lang="en-US" sz="1400"/>
          </a:p>
          <a:p>
            <a:r>
              <a:rPr lang="en-US" sz="1400">
                <a:latin typeface="Times New Roman"/>
                <a:cs typeface="Times New Roman"/>
              </a:rPr>
              <a:t>Highest routing throughput</a:t>
            </a:r>
            <a:endParaRPr lang="en-US" sz="1400" dirty="0">
              <a:latin typeface="Times New Roman"/>
              <a:cs typeface="Times New Roman"/>
            </a:endParaRPr>
          </a:p>
          <a:p>
            <a:r>
              <a:rPr lang="en-US" sz="1400">
                <a:latin typeface="Times New Roman"/>
                <a:cs typeface="Times New Roman"/>
              </a:rPr>
              <a:t>Reduced synchronization overhead</a:t>
            </a:r>
            <a:endParaRPr lang="en-US" sz="1400" dirty="0">
              <a:latin typeface="Times New Roman"/>
              <a:cs typeface="Times New Roman"/>
            </a:endParaRPr>
          </a:p>
          <a:p>
            <a:r>
              <a:rPr lang="en-US" sz="1400">
                <a:latin typeface="Times New Roman"/>
                <a:cs typeface="Times New Roman"/>
              </a:rPr>
              <a:t>Improved communication parallelism</a:t>
            </a:r>
            <a:endParaRPr lang="en-US" sz="1400" dirty="0">
              <a:latin typeface="Times New Roman"/>
              <a:cs typeface="Times New Roman"/>
            </a:endParaRPr>
          </a:p>
          <a:p>
            <a:endParaRPr lang="en-US" sz="1400" dirty="0">
              <a:latin typeface="Times New Roman"/>
              <a:cs typeface="Times New Roman"/>
            </a:endParaRPr>
          </a:p>
          <a:p>
            <a:r>
              <a:rPr lang="en-US" sz="1400" dirty="0">
                <a:latin typeface="Times New Roman"/>
                <a:cs typeface="Times New Roman"/>
              </a:rPr>
              <a:t>➡ Multiplexing maximizes utilization of communication channels.</a:t>
            </a:r>
          </a:p>
          <a:p>
            <a:pPr algn="ctr"/>
            <a:endParaRPr lang="en-US" sz="1400"/>
          </a:p>
        </p:txBody>
      </p:sp>
      <p:pic>
        <p:nvPicPr>
          <p:cNvPr id="6" name="Picture 5">
            <a:extLst>
              <a:ext uri="{FF2B5EF4-FFF2-40B4-BE49-F238E27FC236}">
                <a16:creationId xmlns:a16="http://schemas.microsoft.com/office/drawing/2014/main" id="{DD8827EF-2D6E-3DFF-1AC7-D94C86239083}"/>
              </a:ext>
            </a:extLst>
          </p:cNvPr>
          <p:cNvPicPr>
            <a:picLocks noChangeAspect="1"/>
          </p:cNvPicPr>
          <p:nvPr/>
        </p:nvPicPr>
        <p:blipFill>
          <a:blip r:embed="rId2"/>
          <a:srcRect r="-224"/>
          <a:stretch>
            <a:fillRect/>
          </a:stretch>
        </p:blipFill>
        <p:spPr>
          <a:xfrm>
            <a:off x="6808788" y="578909"/>
            <a:ext cx="5178431" cy="2747432"/>
          </a:xfrm>
          <a:prstGeom prst="rect">
            <a:avLst/>
          </a:prstGeom>
        </p:spPr>
      </p:pic>
    </p:spTree>
    <p:extLst>
      <p:ext uri="{BB962C8B-B14F-4D97-AF65-F5344CB8AC3E}">
        <p14:creationId xmlns:p14="http://schemas.microsoft.com/office/powerpoint/2010/main" val="3250488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44977-B763-8E83-E96B-84C8D5BD3E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C12AD6-9686-EAD4-24BA-880DAA4174D6}"/>
              </a:ext>
            </a:extLst>
          </p:cNvPr>
          <p:cNvSpPr>
            <a:spLocks noGrp="1"/>
          </p:cNvSpPr>
          <p:nvPr>
            <p:ph type="title"/>
          </p:nvPr>
        </p:nvSpPr>
        <p:spPr>
          <a:xfrm>
            <a:off x="4477877" y="690"/>
            <a:ext cx="2798082" cy="662955"/>
          </a:xfrm>
        </p:spPr>
        <p:txBody>
          <a:bodyPr>
            <a:normAutofit fontScale="90000"/>
          </a:bodyPr>
          <a:lstStyle/>
          <a:p>
            <a:r>
              <a:rPr lang="en-US" sz="3600" b="1" dirty="0">
                <a:latin typeface="Times New Roman"/>
                <a:ea typeface="+mj-lt"/>
                <a:cs typeface="Times New Roman"/>
              </a:rPr>
              <a:t>Key </a:t>
            </a:r>
            <a:r>
              <a:rPr lang="en-US" sz="3600" b="1">
                <a:latin typeface="Times New Roman"/>
                <a:ea typeface="+mj-lt"/>
                <a:cs typeface="Times New Roman"/>
              </a:rPr>
              <a:t>Takeaway</a:t>
            </a:r>
            <a:endParaRPr lang="en-US" sz="3600" b="1" dirty="0">
              <a:latin typeface="Times New Roman"/>
              <a:cs typeface="Times New Roman"/>
            </a:endParaRPr>
          </a:p>
        </p:txBody>
      </p:sp>
      <p:sp>
        <p:nvSpPr>
          <p:cNvPr id="11" name="TextBox 10">
            <a:extLst>
              <a:ext uri="{FF2B5EF4-FFF2-40B4-BE49-F238E27FC236}">
                <a16:creationId xmlns:a16="http://schemas.microsoft.com/office/drawing/2014/main" id="{5606BD91-65DD-0534-3F01-D33F6ECCFC71}"/>
              </a:ext>
            </a:extLst>
          </p:cNvPr>
          <p:cNvSpPr txBox="1"/>
          <p:nvPr/>
        </p:nvSpPr>
        <p:spPr>
          <a:xfrm>
            <a:off x="148167" y="1513416"/>
            <a:ext cx="5037665"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a:latin typeface="Times New Roman"/>
                <a:cs typeface="Times New Roman"/>
              </a:rPr>
              <a:t>Communication, Not Computation, Governs Scalability</a:t>
            </a:r>
            <a:endParaRPr lang="en-US" sz="1400">
              <a:latin typeface="Times New Roman"/>
              <a:cs typeface="Times New Roman"/>
            </a:endParaRPr>
          </a:p>
          <a:p>
            <a:endParaRPr lang="en-US" sz="1400" dirty="0">
              <a:latin typeface="Times New Roman"/>
              <a:ea typeface="+mn-lt"/>
              <a:cs typeface="Times New Roman"/>
            </a:endParaRPr>
          </a:p>
          <a:p>
            <a:r>
              <a:rPr lang="en-US" sz="1400">
                <a:latin typeface="Times New Roman"/>
                <a:ea typeface="+mn-lt"/>
                <a:cs typeface="Times New Roman"/>
              </a:rPr>
              <a:t>As quantum gate execution becomes faster, communication </a:t>
            </a:r>
            <a:r>
              <a:rPr lang="en-US" sz="1400" dirty="0">
                <a:latin typeface="Times New Roman"/>
                <a:ea typeface="+mn-lt"/>
                <a:cs typeface="Times New Roman"/>
              </a:rPr>
              <a:t>overhead—including entanglement generation, routing, and synchronization—emerges as the dominant factor determining </a:t>
            </a:r>
            <a:r>
              <a:rPr lang="en-US" sz="1400">
                <a:latin typeface="Times New Roman"/>
                <a:ea typeface="+mn-lt"/>
                <a:cs typeface="Times New Roman"/>
              </a:rPr>
              <a:t>system performance.</a:t>
            </a:r>
            <a:endParaRPr lang="en-US" sz="1400">
              <a:latin typeface="Times New Roman"/>
              <a:cs typeface="Times New Roman"/>
            </a:endParaRPr>
          </a:p>
        </p:txBody>
      </p:sp>
      <p:sp>
        <p:nvSpPr>
          <p:cNvPr id="7" name="TextBox 6">
            <a:extLst>
              <a:ext uri="{FF2B5EF4-FFF2-40B4-BE49-F238E27FC236}">
                <a16:creationId xmlns:a16="http://schemas.microsoft.com/office/drawing/2014/main" id="{03399289-05DD-E734-C853-568F08898CF5}"/>
              </a:ext>
            </a:extLst>
          </p:cNvPr>
          <p:cNvSpPr txBox="1"/>
          <p:nvPr/>
        </p:nvSpPr>
        <p:spPr>
          <a:xfrm>
            <a:off x="4116917" y="3270250"/>
            <a:ext cx="4254500" cy="187743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dirty="0">
                <a:latin typeface="Times New Roman"/>
                <a:cs typeface="Times New Roman"/>
              </a:rPr>
              <a:t>Fast Photonic Interconnects Mitigate </a:t>
            </a:r>
            <a:r>
              <a:rPr lang="en-US" sz="1400" b="1">
                <a:latin typeface="Times New Roman"/>
                <a:cs typeface="Times New Roman"/>
              </a:rPr>
              <a:t>Latency Induced</a:t>
            </a:r>
            <a:r>
              <a:rPr lang="en-US" sz="1400" b="1" dirty="0">
                <a:latin typeface="Times New Roman"/>
                <a:cs typeface="Times New Roman"/>
              </a:rPr>
              <a:t> Instability</a:t>
            </a:r>
            <a:endParaRPr lang="en-US" sz="1400" dirty="0"/>
          </a:p>
          <a:p>
            <a:pPr algn="ctr"/>
            <a:endParaRPr lang="en-US" sz="1400" b="1" dirty="0">
              <a:latin typeface="Times New Roman"/>
              <a:cs typeface="Times New Roman"/>
            </a:endParaRPr>
          </a:p>
          <a:p>
            <a:r>
              <a:rPr lang="en-US" sz="1400">
                <a:latin typeface="Times New Roman"/>
                <a:cs typeface="Times New Roman"/>
              </a:rPr>
              <a:t>Reducing effective entanglement latency significantly suppresses routing delay, synchronization overhead, and communication-induced decoherence, leading to more stable distributed execution.</a:t>
            </a:r>
          </a:p>
          <a:p>
            <a:pPr algn="ctr"/>
            <a:endParaRPr lang="en-US"/>
          </a:p>
        </p:txBody>
      </p:sp>
      <p:sp>
        <p:nvSpPr>
          <p:cNvPr id="8" name="TextBox 7">
            <a:extLst>
              <a:ext uri="{FF2B5EF4-FFF2-40B4-BE49-F238E27FC236}">
                <a16:creationId xmlns:a16="http://schemas.microsoft.com/office/drawing/2014/main" id="{DDB7EEDA-95B2-C39B-9849-D509A0BD2E42}"/>
              </a:ext>
            </a:extLst>
          </p:cNvPr>
          <p:cNvSpPr txBox="1"/>
          <p:nvPr/>
        </p:nvSpPr>
        <p:spPr>
          <a:xfrm>
            <a:off x="8339666" y="4836584"/>
            <a:ext cx="3841750"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a:latin typeface="Times New Roman"/>
                <a:cs typeface="Times New Roman"/>
              </a:rPr>
              <a:t>Adaptive Routing Converts Communication into a Manageable Resource</a:t>
            </a:r>
            <a:endParaRPr lang="en-US" sz="1400"/>
          </a:p>
          <a:p>
            <a:pPr algn="ctr"/>
            <a:endParaRPr lang="en-US" sz="1400" b="1" dirty="0">
              <a:latin typeface="Times New Roman"/>
              <a:cs typeface="Times New Roman"/>
            </a:endParaRPr>
          </a:p>
          <a:p>
            <a:r>
              <a:rPr lang="en-US" sz="1400" dirty="0">
                <a:latin typeface="Times New Roman"/>
                <a:cs typeface="Times New Roman"/>
              </a:rPr>
              <a:t>Queue-aware and RL-inspired scheduling strategies prevent congestion collapse, stabilize routing behavior, and maintain bounded communication complexity even as system size increases.</a:t>
            </a:r>
          </a:p>
        </p:txBody>
      </p:sp>
      <p:sp>
        <p:nvSpPr>
          <p:cNvPr id="9" name="TextBox 8">
            <a:extLst>
              <a:ext uri="{FF2B5EF4-FFF2-40B4-BE49-F238E27FC236}">
                <a16:creationId xmlns:a16="http://schemas.microsoft.com/office/drawing/2014/main" id="{0619B7B2-3C47-C660-914B-19E96188A91B}"/>
              </a:ext>
            </a:extLst>
          </p:cNvPr>
          <p:cNvSpPr txBox="1"/>
          <p:nvPr/>
        </p:nvSpPr>
        <p:spPr>
          <a:xfrm>
            <a:off x="8540750" y="1407583"/>
            <a:ext cx="3429000"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a:latin typeface="Times New Roman"/>
                <a:cs typeface="Times New Roman"/>
              </a:rPr>
              <a:t>Multiplexed Communication Improves Throughput but </a:t>
            </a:r>
            <a:r>
              <a:rPr lang="en-US" sz="1400" b="1" dirty="0">
                <a:latin typeface="Times New Roman"/>
                <a:cs typeface="Times New Roman"/>
              </a:rPr>
              <a:t>Introduces Physical Tradeoffs</a:t>
            </a:r>
            <a:endParaRPr lang="en-US"/>
          </a:p>
          <a:p>
            <a:pPr algn="ctr"/>
            <a:endParaRPr lang="en-US" sz="1400" b="1" dirty="0">
              <a:latin typeface="Times New Roman"/>
              <a:cs typeface="Times New Roman"/>
            </a:endParaRPr>
          </a:p>
          <a:p>
            <a:r>
              <a:rPr lang="en-US" sz="1400">
                <a:latin typeface="Times New Roman"/>
                <a:cs typeface="Times New Roman"/>
              </a:rPr>
              <a:t>Increasing </a:t>
            </a:r>
            <a:r>
              <a:rPr lang="en-US" sz="1400" dirty="0">
                <a:latin typeface="Times New Roman"/>
                <a:cs typeface="Times New Roman"/>
              </a:rPr>
              <a:t>channel density also amplifies crosstalk, creating a fundamental throughput–interference tradeoff.</a:t>
            </a:r>
          </a:p>
          <a:p>
            <a:pPr algn="ctr"/>
            <a:endParaRPr lang="en-US" sz="1400">
              <a:latin typeface="Times New Roman"/>
              <a:cs typeface="Times New Roman"/>
            </a:endParaRPr>
          </a:p>
        </p:txBody>
      </p:sp>
      <p:sp>
        <p:nvSpPr>
          <p:cNvPr id="10" name="TextBox 9">
            <a:extLst>
              <a:ext uri="{FF2B5EF4-FFF2-40B4-BE49-F238E27FC236}">
                <a16:creationId xmlns:a16="http://schemas.microsoft.com/office/drawing/2014/main" id="{7EF5264F-3500-CE77-2085-F60B6E587A0E}"/>
              </a:ext>
            </a:extLst>
          </p:cNvPr>
          <p:cNvSpPr txBox="1"/>
          <p:nvPr/>
        </p:nvSpPr>
        <p:spPr>
          <a:xfrm>
            <a:off x="148167" y="4836583"/>
            <a:ext cx="3968750"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a:latin typeface="Times New Roman"/>
                <a:cs typeface="Times New Roman"/>
              </a:rPr>
              <a:t>Scalability Requires Multi-Layer Communication Optimization</a:t>
            </a:r>
            <a:endParaRPr lang="en-US"/>
          </a:p>
          <a:p>
            <a:pPr algn="ctr"/>
            <a:endParaRPr lang="en-US" sz="1400" b="1" dirty="0">
              <a:latin typeface="Times New Roman"/>
              <a:cs typeface="Times New Roman"/>
            </a:endParaRPr>
          </a:p>
          <a:p>
            <a:r>
              <a:rPr lang="en-US" sz="1400" dirty="0">
                <a:latin typeface="Times New Roman"/>
                <a:cs typeface="Times New Roman"/>
              </a:rPr>
              <a:t>Neither fast interconnects, adaptive routing, nor multiplexing alone is sufficient. Scalable distributed quantum computing emerges only when communication is optimized jointly across hardware, routing, and control layers</a:t>
            </a:r>
          </a:p>
        </p:txBody>
      </p:sp>
    </p:spTree>
    <p:extLst>
      <p:ext uri="{BB962C8B-B14F-4D97-AF65-F5344CB8AC3E}">
        <p14:creationId xmlns:p14="http://schemas.microsoft.com/office/powerpoint/2010/main" val="17888665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Motivation</vt:lpstr>
      <vt:lpstr>Weekly Objective</vt:lpstr>
      <vt:lpstr>Model I: Fast Interconnect Distributed Architecture</vt:lpstr>
      <vt:lpstr>Model I Results</vt:lpstr>
      <vt:lpstr>Model II: IonQ + SwitchQNet + Fast Interconnect</vt:lpstr>
      <vt:lpstr>Model III Results</vt:lpstr>
      <vt:lpstr>Model III: Model III: IonQ + YOUTIAO</vt:lpstr>
      <vt:lpstr>Model II Results</vt:lpstr>
      <vt:lpstr>Comparative Results</vt:lpstr>
      <vt:lpstr>Key Takeaway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356</cp:revision>
  <dcterms:created xsi:type="dcterms:W3CDTF">2026-05-29T10:26:21Z</dcterms:created>
  <dcterms:modified xsi:type="dcterms:W3CDTF">2026-05-29T11:29:42Z</dcterms:modified>
</cp:coreProperties>
</file>