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7"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ED7856-14CC-4B60-9D68-57C990BC9592}" v="1" dt="2026-06-21T09:06:51.6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A63367-251A-43F6-9B26-3921F7361B08}" type="datetimeFigureOut">
              <a:t>6/21/2026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3BFA4F-AC3C-4DD9-94C9-16E5F5F3AAFA}" type="slidenum">
              <a:t>‹#›</a:t>
            </a:fld>
            <a:endParaRPr lang="en-US"/>
          </a:p>
        </p:txBody>
      </p:sp>
    </p:spTree>
    <p:extLst>
      <p:ext uri="{BB962C8B-B14F-4D97-AF65-F5344CB8AC3E}">
        <p14:creationId xmlns:p14="http://schemas.microsoft.com/office/powerpoint/2010/main" val="1848811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E3BFA4F-AC3C-4DD9-94C9-16E5F5F3AAFA}" type="slidenum">
              <a:t>1</a:t>
            </a:fld>
            <a:endParaRPr lang="en-US"/>
          </a:p>
        </p:txBody>
      </p:sp>
    </p:spTree>
    <p:extLst>
      <p:ext uri="{BB962C8B-B14F-4D97-AF65-F5344CB8AC3E}">
        <p14:creationId xmlns:p14="http://schemas.microsoft.com/office/powerpoint/2010/main" val="1798867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0466D-252B-E1F1-955E-E9112A4CE3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22B9F1-35A8-8FA5-6E92-17382BF6AE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11C346-B50F-B86C-3C47-7B687F78B5A1}"/>
              </a:ext>
            </a:extLst>
          </p:cNvPr>
          <p:cNvSpPr>
            <a:spLocks noGrp="1"/>
          </p:cNvSpPr>
          <p:nvPr>
            <p:ph type="body" idx="1"/>
          </p:nvPr>
        </p:nvSpPr>
        <p:spPr/>
        <p:txBody>
          <a:bodyPr/>
          <a:lstStyle/>
          <a:p>
            <a:r>
              <a:rPr lang="en-US" dirty="0"/>
              <a:t>"The purpose of this study is not simply to compare architectures. Instead, we progressively add communication optimizations—from direct communication to a fully unified distributed framework. The final Distributed Unified Fast architecture combines </a:t>
            </a:r>
            <a:r>
              <a:rPr lang="en-US" dirty="0" err="1"/>
              <a:t>IonQ</a:t>
            </a:r>
            <a:r>
              <a:rPr lang="en-US" dirty="0"/>
              <a:t>-inspired multiplexing, YOUTIAO scheduling, </a:t>
            </a:r>
            <a:r>
              <a:rPr lang="en-US" dirty="0" err="1"/>
              <a:t>SwitchQNet</a:t>
            </a:r>
            <a:r>
              <a:rPr lang="en-US" dirty="0"/>
              <a:t> routing, and high-rate Bell-pair generation. This allows us to evaluate which communication mechanisms contribute most significantly to scalability."</a:t>
            </a:r>
          </a:p>
        </p:txBody>
      </p:sp>
      <p:sp>
        <p:nvSpPr>
          <p:cNvPr id="4" name="Slide Number Placeholder 3">
            <a:extLst>
              <a:ext uri="{FF2B5EF4-FFF2-40B4-BE49-F238E27FC236}">
                <a16:creationId xmlns:a16="http://schemas.microsoft.com/office/drawing/2014/main" id="{A9B81D1B-7804-97B9-65BA-588A0284826F}"/>
              </a:ext>
            </a:extLst>
          </p:cNvPr>
          <p:cNvSpPr>
            <a:spLocks noGrp="1"/>
          </p:cNvSpPr>
          <p:nvPr>
            <p:ph type="sldNum" sz="quarter" idx="5"/>
          </p:nvPr>
        </p:nvSpPr>
        <p:spPr/>
        <p:txBody>
          <a:bodyPr/>
          <a:lstStyle/>
          <a:p>
            <a:fld id="{5E3BFA4F-AC3C-4DD9-94C9-16E5F5F3AAFA}" type="slidenum">
              <a:t>2</a:t>
            </a:fld>
            <a:endParaRPr lang="en-US"/>
          </a:p>
        </p:txBody>
      </p:sp>
    </p:spTree>
    <p:extLst>
      <p:ext uri="{BB962C8B-B14F-4D97-AF65-F5344CB8AC3E}">
        <p14:creationId xmlns:p14="http://schemas.microsoft.com/office/powerpoint/2010/main" val="34112819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5D1D8-905C-0007-9824-634E3BB68F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B771AE-98EA-7DF6-AAA8-5BA47898D2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C354CB-41D6-292C-DFCD-897D775AEE5C}"/>
              </a:ext>
            </a:extLst>
          </p:cNvPr>
          <p:cNvSpPr>
            <a:spLocks noGrp="1"/>
          </p:cNvSpPr>
          <p:nvPr>
            <p:ph type="body" idx="1"/>
          </p:nvPr>
        </p:nvSpPr>
        <p:spPr/>
        <p:txBody>
          <a:bodyPr/>
          <a:lstStyle/>
          <a:p>
            <a:r>
              <a:rPr lang="en-US"/>
              <a:t>"The key result from this graph is that scalability is not achieved simply by distributing computation. Scalability emerges when communication overhead is actively managed through fast interconnects, intelligent routing, and multiplexed resource allocation."</a:t>
            </a:r>
          </a:p>
        </p:txBody>
      </p:sp>
      <p:sp>
        <p:nvSpPr>
          <p:cNvPr id="4" name="Slide Number Placeholder 3">
            <a:extLst>
              <a:ext uri="{FF2B5EF4-FFF2-40B4-BE49-F238E27FC236}">
                <a16:creationId xmlns:a16="http://schemas.microsoft.com/office/drawing/2014/main" id="{62EAD318-5E26-64D8-44DD-25E2FF9A327C}"/>
              </a:ext>
            </a:extLst>
          </p:cNvPr>
          <p:cNvSpPr>
            <a:spLocks noGrp="1"/>
          </p:cNvSpPr>
          <p:nvPr>
            <p:ph type="sldNum" sz="quarter" idx="5"/>
          </p:nvPr>
        </p:nvSpPr>
        <p:spPr/>
        <p:txBody>
          <a:bodyPr/>
          <a:lstStyle/>
          <a:p>
            <a:fld id="{5E3BFA4F-AC3C-4DD9-94C9-16E5F5F3AAFA}" type="slidenum">
              <a:t>3</a:t>
            </a:fld>
            <a:endParaRPr lang="en-US"/>
          </a:p>
        </p:txBody>
      </p:sp>
    </p:spTree>
    <p:extLst>
      <p:ext uri="{BB962C8B-B14F-4D97-AF65-F5344CB8AC3E}">
        <p14:creationId xmlns:p14="http://schemas.microsoft.com/office/powerpoint/2010/main" val="18479375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9AFE8-2BD1-B6C0-B733-73E9630172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F875A5-7961-3603-5B38-39F409A7EA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CEAD40-B78C-9746-CEAE-9D27A77F2036}"/>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B4DE6992-7A9E-4E5C-D369-1900A8986241}"/>
              </a:ext>
            </a:extLst>
          </p:cNvPr>
          <p:cNvSpPr>
            <a:spLocks noGrp="1"/>
          </p:cNvSpPr>
          <p:nvPr>
            <p:ph type="sldNum" sz="quarter" idx="5"/>
          </p:nvPr>
        </p:nvSpPr>
        <p:spPr/>
        <p:txBody>
          <a:bodyPr/>
          <a:lstStyle/>
          <a:p>
            <a:fld id="{5E3BFA4F-AC3C-4DD9-94C9-16E5F5F3AAFA}" type="slidenum">
              <a:t>4</a:t>
            </a:fld>
            <a:endParaRPr lang="en-US"/>
          </a:p>
        </p:txBody>
      </p:sp>
    </p:spTree>
    <p:extLst>
      <p:ext uri="{BB962C8B-B14F-4D97-AF65-F5344CB8AC3E}">
        <p14:creationId xmlns:p14="http://schemas.microsoft.com/office/powerpoint/2010/main" val="548919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56BEA-C9DB-C71A-1F85-9BEFB234E3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AF8C3D-E704-B34D-5FC7-544732B6A1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773BB5-E5AB-4BBC-995F-227A16941EE1}"/>
              </a:ext>
            </a:extLst>
          </p:cNvPr>
          <p:cNvSpPr>
            <a:spLocks noGrp="1"/>
          </p:cNvSpPr>
          <p:nvPr>
            <p:ph type="body" idx="1"/>
          </p:nvPr>
        </p:nvSpPr>
        <p:spPr/>
        <p:txBody>
          <a:bodyPr/>
          <a:lstStyle/>
          <a:p>
            <a:r>
              <a:rPr lang="en-US"/>
              <a:t>“The nearly flat Distributed Unified Fast curve indicates that communication overhead has been effectively decoupled from logical error growth, making the architecture substantially more robust to increasing entanglement latency than conventional distributed or monolithic approaches.”</a:t>
            </a:r>
          </a:p>
        </p:txBody>
      </p:sp>
      <p:sp>
        <p:nvSpPr>
          <p:cNvPr id="4" name="Slide Number Placeholder 3">
            <a:extLst>
              <a:ext uri="{FF2B5EF4-FFF2-40B4-BE49-F238E27FC236}">
                <a16:creationId xmlns:a16="http://schemas.microsoft.com/office/drawing/2014/main" id="{9E554187-4479-5C0C-C3F8-9D4B55A5AF0A}"/>
              </a:ext>
            </a:extLst>
          </p:cNvPr>
          <p:cNvSpPr>
            <a:spLocks noGrp="1"/>
          </p:cNvSpPr>
          <p:nvPr>
            <p:ph type="sldNum" sz="quarter" idx="5"/>
          </p:nvPr>
        </p:nvSpPr>
        <p:spPr/>
        <p:txBody>
          <a:bodyPr/>
          <a:lstStyle/>
          <a:p>
            <a:fld id="{5E3BFA4F-AC3C-4DD9-94C9-16E5F5F3AAFA}" type="slidenum">
              <a:t>5</a:t>
            </a:fld>
            <a:endParaRPr lang="en-US"/>
          </a:p>
        </p:txBody>
      </p:sp>
    </p:spTree>
    <p:extLst>
      <p:ext uri="{BB962C8B-B14F-4D97-AF65-F5344CB8AC3E}">
        <p14:creationId xmlns:p14="http://schemas.microsoft.com/office/powerpoint/2010/main" val="2187008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5C60A-5EEF-07EC-6FFC-376D75AA02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A1DBF9-9735-8104-5319-477D5D3AF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30863A-CBB5-AD50-CBB3-DC70793DA065}"/>
              </a:ext>
            </a:extLst>
          </p:cNvPr>
          <p:cNvSpPr>
            <a:spLocks noGrp="1"/>
          </p:cNvSpPr>
          <p:nvPr>
            <p:ph type="body" idx="1"/>
          </p:nvPr>
        </p:nvSpPr>
        <p:spPr/>
        <p:txBody>
          <a:bodyPr/>
          <a:lstStyle/>
          <a:p>
            <a:r>
              <a:rPr lang="en-US"/>
              <a:t>The graph demonstrates that:</a:t>
            </a:r>
          </a:p>
          <a:p>
            <a:r>
              <a:rPr lang="en-US" dirty="0" err="1"/>
              <a:t>Depth∝Computation+Communication+SynchronizationDepth</a:t>
            </a:r>
            <a:r>
              <a:rPr lang="en-US" dirty="0"/>
              <a:t>. Architectures with efficient communication management experience only modest depth growth, whereas architectures with slower interconnects suffer significant execution overhead.</a:t>
            </a:r>
            <a:endParaRPr lang="en-US" dirty="0">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20382C88-942C-FCF5-9822-DAEB1681A26C}"/>
              </a:ext>
            </a:extLst>
          </p:cNvPr>
          <p:cNvSpPr>
            <a:spLocks noGrp="1"/>
          </p:cNvSpPr>
          <p:nvPr>
            <p:ph type="sldNum" sz="quarter" idx="5"/>
          </p:nvPr>
        </p:nvSpPr>
        <p:spPr/>
        <p:txBody>
          <a:bodyPr/>
          <a:lstStyle/>
          <a:p>
            <a:fld id="{5E3BFA4F-AC3C-4DD9-94C9-16E5F5F3AAFA}" type="slidenum">
              <a:t>6</a:t>
            </a:fld>
            <a:endParaRPr lang="en-US"/>
          </a:p>
        </p:txBody>
      </p:sp>
    </p:spTree>
    <p:extLst>
      <p:ext uri="{BB962C8B-B14F-4D97-AF65-F5344CB8AC3E}">
        <p14:creationId xmlns:p14="http://schemas.microsoft.com/office/powerpoint/2010/main" val="1215137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F64C1-127E-9D8B-F481-1A274E81EC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77D31-E4B2-0BE0-DA75-94E306BB27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A4F90A-E2B9-4C3B-5E6A-5482914E1545}"/>
              </a:ext>
            </a:extLst>
          </p:cNvPr>
          <p:cNvSpPr>
            <a:spLocks noGrp="1"/>
          </p:cNvSpPr>
          <p:nvPr>
            <p:ph type="body" idx="1"/>
          </p:nvPr>
        </p:nvSpPr>
        <p:spPr/>
        <p:txBody>
          <a:bodyPr/>
          <a:lstStyle/>
          <a:p>
            <a:r>
              <a:rPr lang="en-US"/>
              <a:t>"The latency graph measures the absolute communication delay, so it decreases smoothly as bandwidth increases. The marginal improvement graph measures the benefit obtained from each additional bandwidth increment. Once communication is no longer the dominant bottleneck, adding more bandwidth produces very little extra benefit. Therefore, the latency curve remains smooth while the marginal improvement curve drops sharply and approaches zero."</a:t>
            </a:r>
          </a:p>
        </p:txBody>
      </p:sp>
      <p:sp>
        <p:nvSpPr>
          <p:cNvPr id="4" name="Slide Number Placeholder 3">
            <a:extLst>
              <a:ext uri="{FF2B5EF4-FFF2-40B4-BE49-F238E27FC236}">
                <a16:creationId xmlns:a16="http://schemas.microsoft.com/office/drawing/2014/main" id="{C963F31A-BAA6-4965-9A9A-17FDFBFFD914}"/>
              </a:ext>
            </a:extLst>
          </p:cNvPr>
          <p:cNvSpPr>
            <a:spLocks noGrp="1"/>
          </p:cNvSpPr>
          <p:nvPr>
            <p:ph type="sldNum" sz="quarter" idx="5"/>
          </p:nvPr>
        </p:nvSpPr>
        <p:spPr/>
        <p:txBody>
          <a:bodyPr/>
          <a:lstStyle/>
          <a:p>
            <a:fld id="{5E3BFA4F-AC3C-4DD9-94C9-16E5F5F3AAFA}" type="slidenum">
              <a:t>7</a:t>
            </a:fld>
            <a:endParaRPr lang="en-US"/>
          </a:p>
        </p:txBody>
      </p:sp>
    </p:spTree>
    <p:extLst>
      <p:ext uri="{BB962C8B-B14F-4D97-AF65-F5344CB8AC3E}">
        <p14:creationId xmlns:p14="http://schemas.microsoft.com/office/powerpoint/2010/main" val="2895827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E5895-05CF-B089-0EFD-2E6A0E305B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66A2F7-A988-50C1-331D-E698602BE1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B18A2-E5BB-B5EA-C6BF-B41D2E8C9DC6}"/>
              </a:ext>
            </a:extLst>
          </p:cNvPr>
          <p:cNvSpPr>
            <a:spLocks noGrp="1"/>
          </p:cNvSpPr>
          <p:nvPr>
            <p:ph type="body" idx="1"/>
          </p:nvPr>
        </p:nvSpPr>
        <p:spPr/>
        <p:txBody>
          <a:bodyPr/>
          <a:lstStyle/>
          <a:p>
            <a:r>
              <a:rPr lang="en-US"/>
              <a:t>"Initially, bandwidth is the dominant limiting factor, which is why the gradient is large. As bandwidth increases, the communication latency drops rapidly. However, beyond 4×1054\times10^54×105, the gradient becomes almost zero, indicating that the network has already captured most of the achievable latency reduction. At this point, allocating additional bandwidth becomes inefficient because the system transitions into a diminishing-returns regime. This is why 4×1054\times10^54×105 was selected as the operating point."</a:t>
            </a:r>
          </a:p>
        </p:txBody>
      </p:sp>
      <p:sp>
        <p:nvSpPr>
          <p:cNvPr id="4" name="Slide Number Placeholder 3">
            <a:extLst>
              <a:ext uri="{FF2B5EF4-FFF2-40B4-BE49-F238E27FC236}">
                <a16:creationId xmlns:a16="http://schemas.microsoft.com/office/drawing/2014/main" id="{2273DEA8-249D-BFDA-7312-273D21843983}"/>
              </a:ext>
            </a:extLst>
          </p:cNvPr>
          <p:cNvSpPr>
            <a:spLocks noGrp="1"/>
          </p:cNvSpPr>
          <p:nvPr>
            <p:ph type="sldNum" sz="quarter" idx="5"/>
          </p:nvPr>
        </p:nvSpPr>
        <p:spPr/>
        <p:txBody>
          <a:bodyPr/>
          <a:lstStyle/>
          <a:p>
            <a:fld id="{5E3BFA4F-AC3C-4DD9-94C9-16E5F5F3AAFA}" type="slidenum">
              <a:t>8</a:t>
            </a:fld>
            <a:endParaRPr lang="en-US"/>
          </a:p>
        </p:txBody>
      </p:sp>
    </p:spTree>
    <p:extLst>
      <p:ext uri="{BB962C8B-B14F-4D97-AF65-F5344CB8AC3E}">
        <p14:creationId xmlns:p14="http://schemas.microsoft.com/office/powerpoint/2010/main" val="38905490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4C6E3-27C1-A22D-AEAA-AA656DA268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2FDFC3-2CE3-3302-F454-E8DF3D54BB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523AE0-2202-C85A-23C1-6C9F3B355494}"/>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F2D869AD-2906-895D-7EEA-AE6D32D1D6C6}"/>
              </a:ext>
            </a:extLst>
          </p:cNvPr>
          <p:cNvSpPr>
            <a:spLocks noGrp="1"/>
          </p:cNvSpPr>
          <p:nvPr>
            <p:ph type="sldNum" sz="quarter" idx="5"/>
          </p:nvPr>
        </p:nvSpPr>
        <p:spPr/>
        <p:txBody>
          <a:bodyPr/>
          <a:lstStyle/>
          <a:p>
            <a:fld id="{5E3BFA4F-AC3C-4DD9-94C9-16E5F5F3AAFA}" type="slidenum">
              <a:t>9</a:t>
            </a:fld>
            <a:endParaRPr lang="en-US"/>
          </a:p>
        </p:txBody>
      </p:sp>
    </p:spTree>
    <p:extLst>
      <p:ext uri="{BB962C8B-B14F-4D97-AF65-F5344CB8AC3E}">
        <p14:creationId xmlns:p14="http://schemas.microsoft.com/office/powerpoint/2010/main" val="5845783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FDE8E-D802-EBE5-226A-49EFB68864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C1E35A-949B-EAE9-F8A8-A0931DBE1D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5E297B-F4C5-8B73-B04D-B920A132FF34}"/>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2DC33493-7B0A-B891-ABB2-A95563814762}"/>
              </a:ext>
            </a:extLst>
          </p:cNvPr>
          <p:cNvSpPr>
            <a:spLocks noGrp="1"/>
          </p:cNvSpPr>
          <p:nvPr>
            <p:ph type="sldNum" sz="quarter" idx="5"/>
          </p:nvPr>
        </p:nvSpPr>
        <p:spPr/>
        <p:txBody>
          <a:bodyPr/>
          <a:lstStyle/>
          <a:p>
            <a:fld id="{5E3BFA4F-AC3C-4DD9-94C9-16E5F5F3AAFA}" type="slidenum">
              <a:t>10</a:t>
            </a:fld>
            <a:endParaRPr lang="en-US"/>
          </a:p>
        </p:txBody>
      </p:sp>
    </p:spTree>
    <p:extLst>
      <p:ext uri="{BB962C8B-B14F-4D97-AF65-F5344CB8AC3E}">
        <p14:creationId xmlns:p14="http://schemas.microsoft.com/office/powerpoint/2010/main" val="17846388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6/21/2026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6/21/2026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6/21/2026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24A-FDDB-EAB1-EED4-EECD29C083AE}"/>
              </a:ext>
            </a:extLst>
          </p:cNvPr>
          <p:cNvSpPr>
            <a:spLocks noGrp="1"/>
          </p:cNvSpPr>
          <p:nvPr>
            <p:ph type="title"/>
          </p:nvPr>
        </p:nvSpPr>
        <p:spPr>
          <a:xfrm>
            <a:off x="4609123" y="3663"/>
            <a:ext cx="3257063" cy="807794"/>
          </a:xfrm>
        </p:spPr>
        <p:txBody>
          <a:bodyPr>
            <a:normAutofit fontScale="90000"/>
          </a:bodyPr>
          <a:lstStyle/>
          <a:p>
            <a:r>
              <a:rPr lang="en-US" sz="3200">
                <a:latin typeface="Times New Roman"/>
                <a:cs typeface="Times New Roman"/>
              </a:rPr>
              <a:t>Questions this week</a:t>
            </a:r>
          </a:p>
        </p:txBody>
      </p:sp>
      <p:sp>
        <p:nvSpPr>
          <p:cNvPr id="3" name="Content Placeholder 2">
            <a:extLst>
              <a:ext uri="{FF2B5EF4-FFF2-40B4-BE49-F238E27FC236}">
                <a16:creationId xmlns:a16="http://schemas.microsoft.com/office/drawing/2014/main" id="{394D3F29-7117-48F1-5FD6-7D2EAA5221C6}"/>
              </a:ext>
            </a:extLst>
          </p:cNvPr>
          <p:cNvSpPr>
            <a:spLocks noGrp="1"/>
          </p:cNvSpPr>
          <p:nvPr>
            <p:ph idx="1"/>
          </p:nvPr>
        </p:nvSpPr>
        <p:spPr>
          <a:xfrm>
            <a:off x="178565" y="970604"/>
            <a:ext cx="5729478" cy="5168749"/>
          </a:xfrm>
        </p:spPr>
        <p:txBody>
          <a:bodyPr vert="horz" lIns="91440" tIns="45720" rIns="91440" bIns="45720" rtlCol="0" anchor="t">
            <a:noAutofit/>
          </a:bodyPr>
          <a:lstStyle/>
          <a:p>
            <a:pPr algn="ctr">
              <a:buNone/>
            </a:pPr>
            <a:r>
              <a:rPr lang="en-US" sz="1600" b="1">
                <a:latin typeface="Times New Roman"/>
                <a:cs typeface="Times New Roman"/>
              </a:rPr>
              <a:t>Unified Distributed Quantum Architecture</a:t>
            </a:r>
            <a:endParaRPr lang="en-US" b="1"/>
          </a:p>
          <a:p>
            <a:pPr>
              <a:buNone/>
            </a:pPr>
            <a:r>
              <a:rPr lang="en-US" sz="1600" dirty="0">
                <a:latin typeface="Times New Roman"/>
                <a:ea typeface="+mn-lt"/>
                <a:cs typeface="Times New Roman"/>
              </a:rPr>
              <a:t>Developed and evaluated a communication-aware distributed architecture that integrates complementary optimization </a:t>
            </a:r>
            <a:r>
              <a:rPr lang="en-US" sz="1600">
                <a:latin typeface="Times New Roman"/>
                <a:ea typeface="+mn-lt"/>
                <a:cs typeface="Times New Roman"/>
              </a:rPr>
              <a:t>strategies .</a:t>
            </a:r>
          </a:p>
          <a:p>
            <a:pPr>
              <a:buNone/>
            </a:pPr>
            <a:r>
              <a:rPr lang="en-US" sz="1600" i="1" dirty="0">
                <a:latin typeface="Times New Roman"/>
                <a:ea typeface="+mn-lt"/>
                <a:cs typeface="Times New Roman"/>
              </a:rPr>
              <a:t>Hardware</a:t>
            </a:r>
            <a:r>
              <a:rPr lang="en-US" sz="1600" i="1" dirty="0">
                <a:latin typeface="Times New Roman"/>
                <a:cs typeface="Times New Roman"/>
              </a:rPr>
              <a:t> Layer (</a:t>
            </a:r>
            <a:r>
              <a:rPr lang="en-US" sz="1600" i="1" dirty="0" err="1">
                <a:latin typeface="Times New Roman"/>
                <a:cs typeface="Times New Roman"/>
              </a:rPr>
              <a:t>IonQ</a:t>
            </a:r>
            <a:r>
              <a:rPr lang="en-US" sz="1600" i="1" dirty="0">
                <a:latin typeface="Times New Roman"/>
                <a:cs typeface="Times New Roman"/>
              </a:rPr>
              <a:t>)</a:t>
            </a:r>
            <a:endParaRPr lang="en-US" i="1"/>
          </a:p>
          <a:p>
            <a:pPr>
              <a:buFont typeface="Arial"/>
              <a:buChar char="•"/>
            </a:pPr>
            <a:r>
              <a:rPr lang="en-US" sz="1600">
                <a:latin typeface="Times New Roman"/>
                <a:ea typeface="+mn-lt"/>
                <a:cs typeface="Times New Roman"/>
              </a:rPr>
              <a:t>High-rate Bell-pair generation </a:t>
            </a:r>
            <a:endParaRPr lang="en-US" sz="1600">
              <a:latin typeface="Times New Roman"/>
              <a:cs typeface="Times New Roman"/>
            </a:endParaRPr>
          </a:p>
          <a:p>
            <a:pPr>
              <a:buFont typeface="Arial"/>
              <a:buChar char="•"/>
            </a:pPr>
            <a:r>
              <a:rPr lang="en-US" sz="1600">
                <a:latin typeface="Times New Roman"/>
                <a:ea typeface="+mn-lt"/>
                <a:cs typeface="Times New Roman"/>
              </a:rPr>
              <a:t>Fast photonic interconnects </a:t>
            </a:r>
            <a:endParaRPr lang="en-US" sz="1600">
              <a:latin typeface="Times New Roman"/>
              <a:cs typeface="Times New Roman"/>
            </a:endParaRPr>
          </a:p>
          <a:p>
            <a:pPr>
              <a:buFont typeface="Arial"/>
              <a:buChar char="•"/>
            </a:pPr>
            <a:r>
              <a:rPr lang="en-US" sz="1600">
                <a:latin typeface="Times New Roman"/>
                <a:ea typeface="+mn-lt"/>
                <a:cs typeface="Times New Roman"/>
              </a:rPr>
              <a:t>Communication-aware execution </a:t>
            </a:r>
            <a:endParaRPr lang="en-US" sz="1600">
              <a:latin typeface="Times New Roman"/>
              <a:cs typeface="Times New Roman"/>
            </a:endParaRPr>
          </a:p>
          <a:p>
            <a:pPr indent="0">
              <a:buNone/>
            </a:pPr>
            <a:r>
              <a:rPr lang="en-US" sz="1600" i="1">
                <a:latin typeface="Times New Roman"/>
                <a:cs typeface="Times New Roman"/>
              </a:rPr>
              <a:t>Control Layer (YOUTIAO)</a:t>
            </a:r>
          </a:p>
          <a:p>
            <a:pPr>
              <a:buFont typeface="Arial"/>
              <a:buChar char="•"/>
            </a:pPr>
            <a:r>
              <a:rPr lang="en-US" sz="1600">
                <a:latin typeface="Times New Roman"/>
                <a:ea typeface="+mn-lt"/>
                <a:cs typeface="Times New Roman"/>
              </a:rPr>
              <a:t>Frequency-Division Multiplexing (FDM) </a:t>
            </a:r>
            <a:endParaRPr lang="en-US" sz="1600">
              <a:latin typeface="Times New Roman"/>
              <a:cs typeface="Times New Roman"/>
            </a:endParaRPr>
          </a:p>
          <a:p>
            <a:pPr>
              <a:buFont typeface="Arial"/>
              <a:buChar char="•"/>
            </a:pPr>
            <a:r>
              <a:rPr lang="en-US" sz="1600">
                <a:latin typeface="Times New Roman"/>
                <a:ea typeface="+mn-lt"/>
                <a:cs typeface="Times New Roman"/>
              </a:rPr>
              <a:t>Time-Division Multiplexing (TDM) </a:t>
            </a:r>
            <a:endParaRPr lang="en-US" sz="1600">
              <a:latin typeface="Times New Roman"/>
              <a:cs typeface="Times New Roman"/>
            </a:endParaRPr>
          </a:p>
          <a:p>
            <a:pPr>
              <a:buFont typeface="Arial"/>
              <a:buChar char="•"/>
            </a:pPr>
            <a:r>
              <a:rPr lang="en-US" sz="1600">
                <a:latin typeface="Times New Roman"/>
                <a:ea typeface="+mn-lt"/>
                <a:cs typeface="Times New Roman"/>
              </a:rPr>
              <a:t>Reduced communication contention </a:t>
            </a:r>
            <a:endParaRPr lang="en-US" sz="1600">
              <a:latin typeface="Times New Roman"/>
              <a:cs typeface="Times New Roman"/>
            </a:endParaRPr>
          </a:p>
          <a:p>
            <a:pPr indent="0">
              <a:buNone/>
            </a:pPr>
            <a:r>
              <a:rPr lang="en-US" sz="1600" i="1" dirty="0">
                <a:latin typeface="Times New Roman"/>
                <a:cs typeface="Times New Roman"/>
              </a:rPr>
              <a:t>Network Layer (</a:t>
            </a:r>
            <a:r>
              <a:rPr lang="en-US" sz="1600" i="1" dirty="0" err="1">
                <a:latin typeface="Times New Roman"/>
                <a:cs typeface="Times New Roman"/>
              </a:rPr>
              <a:t>SwitchQNet</a:t>
            </a:r>
            <a:r>
              <a:rPr lang="en-US" sz="1600" i="1" dirty="0">
                <a:latin typeface="Times New Roman"/>
                <a:cs typeface="Times New Roman"/>
              </a:rPr>
              <a:t>)</a:t>
            </a:r>
          </a:p>
          <a:p>
            <a:pPr>
              <a:buFont typeface="Arial"/>
              <a:buChar char="•"/>
            </a:pPr>
            <a:r>
              <a:rPr lang="en-US" sz="1600">
                <a:latin typeface="Times New Roman"/>
                <a:ea typeface="+mn-lt"/>
                <a:cs typeface="Times New Roman"/>
              </a:rPr>
              <a:t>Intelligent routing </a:t>
            </a:r>
          </a:p>
          <a:p>
            <a:pPr>
              <a:buFont typeface="Arial"/>
              <a:buChar char="•"/>
            </a:pPr>
            <a:r>
              <a:rPr lang="en-US" sz="1600">
                <a:latin typeface="Times New Roman"/>
                <a:ea typeface="+mn-lt"/>
                <a:cs typeface="Times New Roman"/>
              </a:rPr>
              <a:t>Topology-aware scheduling </a:t>
            </a:r>
            <a:endParaRPr lang="en-US" sz="1600">
              <a:latin typeface="Times New Roman"/>
              <a:cs typeface="Times New Roman"/>
            </a:endParaRPr>
          </a:p>
          <a:p>
            <a:pPr>
              <a:buFont typeface="Arial"/>
              <a:buChar char="•"/>
            </a:pPr>
            <a:r>
              <a:rPr lang="en-US" sz="1600">
                <a:latin typeface="Times New Roman"/>
                <a:ea typeface="+mn-lt"/>
                <a:cs typeface="Times New Roman"/>
              </a:rPr>
              <a:t>Congestion-aware resource allocation</a:t>
            </a:r>
            <a:endParaRPr lang="en-US" sz="1600">
              <a:latin typeface="Times New Roman"/>
              <a:cs typeface="Times New Roman"/>
            </a:endParaRPr>
          </a:p>
          <a:p>
            <a:pPr>
              <a:buNone/>
            </a:pPr>
            <a:endParaRPr lang="en-US" sz="1600" b="1" dirty="0">
              <a:latin typeface="Times New Roman"/>
              <a:cs typeface="Times New Roman"/>
            </a:endParaRPr>
          </a:p>
        </p:txBody>
      </p:sp>
      <p:sp>
        <p:nvSpPr>
          <p:cNvPr id="5" name="Content Placeholder 2">
            <a:extLst>
              <a:ext uri="{FF2B5EF4-FFF2-40B4-BE49-F238E27FC236}">
                <a16:creationId xmlns:a16="http://schemas.microsoft.com/office/drawing/2014/main" id="{00BF7849-2C88-7249-05ED-0A60C76F0CED}"/>
              </a:ext>
            </a:extLst>
          </p:cNvPr>
          <p:cNvSpPr txBox="1">
            <a:spLocks/>
          </p:cNvSpPr>
          <p:nvPr/>
        </p:nvSpPr>
        <p:spPr>
          <a:xfrm>
            <a:off x="6096468" y="2347919"/>
            <a:ext cx="5367215" cy="2420553"/>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None/>
            </a:pPr>
            <a:r>
              <a:rPr lang="en-US" sz="1600" b="1">
                <a:latin typeface="Times New Roman"/>
                <a:cs typeface="Times New Roman"/>
              </a:rPr>
              <a:t>Fast Interconnect Optimization Study</a:t>
            </a:r>
            <a:endParaRPr lang="en-US" b="1"/>
          </a:p>
          <a:p>
            <a:pPr>
              <a:buNone/>
            </a:pPr>
            <a:r>
              <a:rPr lang="en-US" sz="1600">
                <a:latin typeface="Times New Roman"/>
                <a:ea typeface="+mn-lt"/>
                <a:cs typeface="Times New Roman"/>
              </a:rPr>
              <a:t>Investigated the impact of communication bandwidth on distributed quantum performance.</a:t>
            </a:r>
            <a:endParaRPr lang="en-US" sz="1600">
              <a:latin typeface="Times New Roman"/>
              <a:cs typeface="Times New Roman"/>
            </a:endParaRPr>
          </a:p>
          <a:p>
            <a:pPr>
              <a:buNone/>
            </a:pPr>
            <a:r>
              <a:rPr lang="en-US" sz="1600">
                <a:latin typeface="Times New Roman"/>
                <a:cs typeface="Times New Roman"/>
              </a:rPr>
              <a:t>Analysis Performed</a:t>
            </a:r>
          </a:p>
          <a:p>
            <a:pPr>
              <a:buFont typeface="Arial"/>
              <a:buChar char="•"/>
            </a:pPr>
            <a:r>
              <a:rPr lang="en-US" sz="1600">
                <a:latin typeface="Times New Roman"/>
                <a:ea typeface="+mn-lt"/>
                <a:cs typeface="Times New Roman"/>
              </a:rPr>
              <a:t>Effective entanglement latency analysis </a:t>
            </a:r>
            <a:endParaRPr lang="en-US" sz="1600" dirty="0">
              <a:latin typeface="Times New Roman"/>
              <a:ea typeface="+mn-lt"/>
              <a:cs typeface="Times New Roman"/>
            </a:endParaRPr>
          </a:p>
          <a:p>
            <a:pPr>
              <a:buFont typeface="Arial"/>
              <a:buChar char="•"/>
            </a:pPr>
            <a:r>
              <a:rPr lang="en-US" sz="1600">
                <a:latin typeface="Times New Roman"/>
                <a:ea typeface="+mn-lt"/>
                <a:cs typeface="Times New Roman"/>
              </a:rPr>
              <a:t>Marginal-improvement analysis </a:t>
            </a:r>
            <a:endParaRPr lang="en-US" sz="1600">
              <a:latin typeface="Times New Roman"/>
              <a:cs typeface="Times New Roman"/>
            </a:endParaRPr>
          </a:p>
          <a:p>
            <a:pPr>
              <a:buFont typeface="Arial"/>
              <a:buChar char="•"/>
            </a:pPr>
            <a:r>
              <a:rPr lang="en-US" sz="1600">
                <a:latin typeface="Times New Roman"/>
                <a:ea typeface="+mn-lt"/>
                <a:cs typeface="Times New Roman"/>
              </a:rPr>
              <a:t>Gradient-based operating-point selection</a:t>
            </a:r>
            <a:endParaRPr lang="en-US" sz="1600">
              <a:latin typeface="Times New Roman"/>
              <a:cs typeface="Times New Roman"/>
            </a:endParaRPr>
          </a:p>
          <a:p>
            <a:pPr>
              <a:buNone/>
            </a:pPr>
            <a:endParaRPr lang="en-US" sz="1800" b="1" dirty="0">
              <a:latin typeface="Times New Roman"/>
              <a:cs typeface="Times New Roman"/>
            </a:endParaRPr>
          </a:p>
        </p:txBody>
      </p:sp>
      <p:sp>
        <p:nvSpPr>
          <p:cNvPr id="8" name="TextBox 7">
            <a:extLst>
              <a:ext uri="{FF2B5EF4-FFF2-40B4-BE49-F238E27FC236}">
                <a16:creationId xmlns:a16="http://schemas.microsoft.com/office/drawing/2014/main" id="{071BF635-4C80-3AE2-9456-A3ACDED60935}"/>
              </a:ext>
            </a:extLst>
          </p:cNvPr>
          <p:cNvSpPr txBox="1"/>
          <p:nvPr/>
        </p:nvSpPr>
        <p:spPr>
          <a:xfrm>
            <a:off x="1" y="6432827"/>
            <a:ext cx="1219199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solidFill>
                  <a:srgbClr val="000000"/>
                </a:solidFill>
                <a:latin typeface="Times New Roman"/>
                <a:ea typeface="+mn-lt"/>
                <a:cs typeface="Times New Roman"/>
              </a:rPr>
              <a:t>How much of the scalability bottleneck can be removed through communication-aware co-design and fast interconnect optimization?</a:t>
            </a:r>
            <a:endParaRPr lang="en-US" sz="1400" i="1">
              <a:latin typeface="Times New Roman"/>
              <a:cs typeface="Times New Roman"/>
            </a:endParaRPr>
          </a:p>
        </p:txBody>
      </p:sp>
    </p:spTree>
    <p:extLst>
      <p:ext uri="{BB962C8B-B14F-4D97-AF65-F5344CB8AC3E}">
        <p14:creationId xmlns:p14="http://schemas.microsoft.com/office/powerpoint/2010/main" val="748298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C9E08-6EB0-0BAF-F3AD-E7D75822F0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D0895D-BD7F-C1C9-6495-745683E68721}"/>
              </a:ext>
            </a:extLst>
          </p:cNvPr>
          <p:cNvSpPr>
            <a:spLocks noGrp="1"/>
          </p:cNvSpPr>
          <p:nvPr>
            <p:ph type="title"/>
          </p:nvPr>
        </p:nvSpPr>
        <p:spPr>
          <a:xfrm>
            <a:off x="2772828" y="3663"/>
            <a:ext cx="6604865" cy="807794"/>
          </a:xfrm>
        </p:spPr>
        <p:txBody>
          <a:bodyPr>
            <a:noAutofit/>
          </a:bodyPr>
          <a:lstStyle/>
          <a:p>
            <a:r>
              <a:rPr lang="en-US" sz="2900">
                <a:latin typeface="Times New Roman"/>
                <a:cs typeface="Times New Roman"/>
              </a:rPr>
              <a:t>Unified Distributed Quantum Architecture</a:t>
            </a:r>
            <a:endParaRPr lang="en-US" sz="2900"/>
          </a:p>
        </p:txBody>
      </p:sp>
      <p:sp>
        <p:nvSpPr>
          <p:cNvPr id="8" name="TextBox 7">
            <a:extLst>
              <a:ext uri="{FF2B5EF4-FFF2-40B4-BE49-F238E27FC236}">
                <a16:creationId xmlns:a16="http://schemas.microsoft.com/office/drawing/2014/main" id="{6203CDAC-ABA2-3F1A-D1C4-886D7D3A6030}"/>
              </a:ext>
            </a:extLst>
          </p:cNvPr>
          <p:cNvSpPr txBox="1"/>
          <p:nvPr/>
        </p:nvSpPr>
        <p:spPr>
          <a:xfrm>
            <a:off x="2" y="6338017"/>
            <a:ext cx="1219199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solidFill>
                  <a:srgbClr val="000000"/>
                </a:solidFill>
                <a:latin typeface="Times New Roman"/>
                <a:ea typeface="+mn-lt"/>
                <a:cs typeface="Times New Roman"/>
              </a:rPr>
              <a:t>Evaluate how progressively adding communication-aware optimizations affects scalability, logical error, and execution depth. </a:t>
            </a:r>
            <a:r>
              <a:rPr lang="en-US" sz="1400" i="1">
                <a:latin typeface="Times New Roman"/>
                <a:ea typeface="+mn-lt"/>
                <a:cs typeface="Times New Roman"/>
              </a:rPr>
              <a:t>Scalability is achieved not by a single optimization, but through the combination of </a:t>
            </a:r>
            <a:r>
              <a:rPr lang="en-US" sz="1400" b="1" i="1">
                <a:latin typeface="Times New Roman"/>
                <a:ea typeface="+mn-lt"/>
                <a:cs typeface="Times New Roman"/>
              </a:rPr>
              <a:t>fast communication, intelligent routing, and communication-aware scheduling</a:t>
            </a:r>
            <a:r>
              <a:rPr lang="en-US" sz="1400" i="1">
                <a:latin typeface="Times New Roman"/>
                <a:ea typeface="+mn-lt"/>
                <a:cs typeface="Times New Roman"/>
              </a:rPr>
              <a:t>.</a:t>
            </a:r>
            <a:endParaRPr lang="en-US" sz="1400" i="1">
              <a:latin typeface="Times New Roman"/>
              <a:cs typeface="Times New Roman"/>
            </a:endParaRPr>
          </a:p>
        </p:txBody>
      </p:sp>
      <p:graphicFrame>
        <p:nvGraphicFramePr>
          <p:cNvPr id="9" name="Table 8">
            <a:extLst>
              <a:ext uri="{FF2B5EF4-FFF2-40B4-BE49-F238E27FC236}">
                <a16:creationId xmlns:a16="http://schemas.microsoft.com/office/drawing/2014/main" id="{B64D04F2-DFA3-2A0D-3B69-AE6512EDF114}"/>
              </a:ext>
            </a:extLst>
          </p:cNvPr>
          <p:cNvGraphicFramePr>
            <a:graphicFrameLocks noGrp="1"/>
          </p:cNvGraphicFramePr>
          <p:nvPr>
            <p:extLst>
              <p:ext uri="{D42A27DB-BD31-4B8C-83A1-F6EECF244321}">
                <p14:modId xmlns:p14="http://schemas.microsoft.com/office/powerpoint/2010/main" val="2157410083"/>
              </p:ext>
            </p:extLst>
          </p:nvPr>
        </p:nvGraphicFramePr>
        <p:xfrm>
          <a:off x="264583" y="1714500"/>
          <a:ext cx="11609896" cy="3078480"/>
        </p:xfrm>
        <a:graphic>
          <a:graphicData uri="http://schemas.openxmlformats.org/drawingml/2006/table">
            <a:tbl>
              <a:tblPr bandRow="1">
                <a:tableStyleId>{616DA210-FB5B-4158-B5E0-FEB733F419BA}</a:tableStyleId>
              </a:tblPr>
              <a:tblGrid>
                <a:gridCol w="2474241">
                  <a:extLst>
                    <a:ext uri="{9D8B030D-6E8A-4147-A177-3AD203B41FA5}">
                      <a16:colId xmlns:a16="http://schemas.microsoft.com/office/drawing/2014/main" val="1984282226"/>
                    </a:ext>
                  </a:extLst>
                </a:gridCol>
                <a:gridCol w="4401291">
                  <a:extLst>
                    <a:ext uri="{9D8B030D-6E8A-4147-A177-3AD203B41FA5}">
                      <a16:colId xmlns:a16="http://schemas.microsoft.com/office/drawing/2014/main" val="3752301985"/>
                    </a:ext>
                  </a:extLst>
                </a:gridCol>
                <a:gridCol w="4734364">
                  <a:extLst>
                    <a:ext uri="{9D8B030D-6E8A-4147-A177-3AD203B41FA5}">
                      <a16:colId xmlns:a16="http://schemas.microsoft.com/office/drawing/2014/main" val="3039852213"/>
                    </a:ext>
                  </a:extLst>
                </a:gridCol>
              </a:tblGrid>
              <a:tr h="328170">
                <a:tc>
                  <a:txBody>
                    <a:bodyPr/>
                    <a:lstStyle/>
                    <a:p>
                      <a:pPr algn="ctr">
                        <a:buNone/>
                      </a:pPr>
                      <a:r>
                        <a:rPr lang="en-US" sz="1600" b="1">
                          <a:latin typeface="Times New Roman"/>
                          <a:cs typeface="Times New Roman"/>
                        </a:rPr>
                        <a:t>Architecture</a:t>
                      </a:r>
                    </a:p>
                  </a:txBody>
                  <a:tcPr anchor="ctr"/>
                </a:tc>
                <a:tc>
                  <a:txBody>
                    <a:bodyPr/>
                    <a:lstStyle/>
                    <a:p>
                      <a:pPr algn="ctr">
                        <a:buNone/>
                      </a:pPr>
                      <a:r>
                        <a:rPr lang="en-US" sz="1600" b="1">
                          <a:latin typeface="Times New Roman"/>
                          <a:cs typeface="Times New Roman"/>
                        </a:rPr>
                        <a:t>Communication Model</a:t>
                      </a:r>
                    </a:p>
                  </a:txBody>
                  <a:tcPr anchor="ctr"/>
                </a:tc>
                <a:tc>
                  <a:txBody>
                    <a:bodyPr/>
                    <a:lstStyle/>
                    <a:p>
                      <a:pPr algn="ctr">
                        <a:buNone/>
                      </a:pPr>
                      <a:r>
                        <a:rPr lang="en-US" sz="1600" b="1">
                          <a:latin typeface="Times New Roman"/>
                          <a:cs typeface="Times New Roman"/>
                        </a:rPr>
                        <a:t>Key Characteristics</a:t>
                      </a:r>
                    </a:p>
                  </a:txBody>
                  <a:tcPr anchor="ctr"/>
                </a:tc>
                <a:extLst>
                  <a:ext uri="{0D108BD9-81ED-4DB2-BD59-A6C34878D82A}">
                    <a16:rowId xmlns:a16="http://schemas.microsoft.com/office/drawing/2014/main" val="2091736143"/>
                  </a:ext>
                </a:extLst>
              </a:tr>
              <a:tr h="328170">
                <a:tc>
                  <a:txBody>
                    <a:bodyPr/>
                    <a:lstStyle/>
                    <a:p>
                      <a:pPr algn="ctr">
                        <a:buNone/>
                      </a:pPr>
                      <a:r>
                        <a:rPr lang="en-US" sz="1600">
                          <a:solidFill>
                            <a:srgbClr val="00B0F0"/>
                          </a:solidFill>
                          <a:latin typeface="Times New Roman"/>
                          <a:cs typeface="Times New Roman"/>
                        </a:rPr>
                        <a:t>Direct (Slow)</a:t>
                      </a:r>
                    </a:p>
                  </a:txBody>
                  <a:tcPr anchor="ctr"/>
                </a:tc>
                <a:tc>
                  <a:txBody>
                    <a:bodyPr/>
                    <a:lstStyle/>
                    <a:p>
                      <a:pPr algn="ctr">
                        <a:buNone/>
                      </a:pPr>
                      <a:r>
                        <a:rPr lang="en-US" sz="1600">
                          <a:solidFill>
                            <a:srgbClr val="00B0F0"/>
                          </a:solidFill>
                          <a:latin typeface="Times New Roman"/>
                          <a:cs typeface="Times New Roman"/>
                        </a:rPr>
                        <a:t>Point-to-point communication</a:t>
                      </a:r>
                    </a:p>
                  </a:txBody>
                  <a:tcPr anchor="ctr"/>
                </a:tc>
                <a:tc>
                  <a:txBody>
                    <a:bodyPr/>
                    <a:lstStyle/>
                    <a:p>
                      <a:pPr algn="ctr">
                        <a:buNone/>
                      </a:pPr>
                      <a:r>
                        <a:rPr lang="en-US" sz="1600">
                          <a:solidFill>
                            <a:srgbClr val="00B0F0"/>
                          </a:solidFill>
                          <a:latin typeface="Times New Roman"/>
                          <a:cs typeface="Times New Roman"/>
                        </a:rPr>
                        <a:t>Limited bandwidth, higher communication latency</a:t>
                      </a:r>
                    </a:p>
                  </a:txBody>
                  <a:tcPr anchor="ctr"/>
                </a:tc>
                <a:extLst>
                  <a:ext uri="{0D108BD9-81ED-4DB2-BD59-A6C34878D82A}">
                    <a16:rowId xmlns:a16="http://schemas.microsoft.com/office/drawing/2014/main" val="3011404882"/>
                  </a:ext>
                </a:extLst>
              </a:tr>
              <a:tr h="328170">
                <a:tc>
                  <a:txBody>
                    <a:bodyPr/>
                    <a:lstStyle/>
                    <a:p>
                      <a:pPr algn="ctr">
                        <a:buNone/>
                      </a:pPr>
                      <a:r>
                        <a:rPr lang="en-US" sz="1600">
                          <a:solidFill>
                            <a:srgbClr val="E97132"/>
                          </a:solidFill>
                          <a:latin typeface="Times New Roman"/>
                          <a:cs typeface="Times New Roman"/>
                        </a:rPr>
                        <a:t>Direct (Fast)</a:t>
                      </a:r>
                    </a:p>
                  </a:txBody>
                  <a:tcPr anchor="ctr"/>
                </a:tc>
                <a:tc>
                  <a:txBody>
                    <a:bodyPr/>
                    <a:lstStyle/>
                    <a:p>
                      <a:pPr algn="ctr">
                        <a:buNone/>
                      </a:pPr>
                      <a:r>
                        <a:rPr lang="en-US" sz="1600">
                          <a:solidFill>
                            <a:srgbClr val="E97132"/>
                          </a:solidFill>
                          <a:latin typeface="Times New Roman"/>
                          <a:cs typeface="Times New Roman"/>
                        </a:rPr>
                        <a:t>High-speed direct links</a:t>
                      </a:r>
                    </a:p>
                  </a:txBody>
                  <a:tcPr anchor="ctr"/>
                </a:tc>
                <a:tc>
                  <a:txBody>
                    <a:bodyPr/>
                    <a:lstStyle/>
                    <a:p>
                      <a:pPr algn="ctr">
                        <a:buNone/>
                      </a:pPr>
                      <a:r>
                        <a:rPr lang="en-US" sz="1600">
                          <a:solidFill>
                            <a:srgbClr val="E97132"/>
                          </a:solidFill>
                          <a:latin typeface="Times New Roman"/>
                          <a:cs typeface="Times New Roman"/>
                        </a:rPr>
                        <a:t>Reduced latency and synchronization overhead</a:t>
                      </a:r>
                    </a:p>
                  </a:txBody>
                  <a:tcPr anchor="ctr"/>
                </a:tc>
                <a:extLst>
                  <a:ext uri="{0D108BD9-81ED-4DB2-BD59-A6C34878D82A}">
                    <a16:rowId xmlns:a16="http://schemas.microsoft.com/office/drawing/2014/main" val="4227206047"/>
                  </a:ext>
                </a:extLst>
              </a:tr>
              <a:tr h="564041">
                <a:tc>
                  <a:txBody>
                    <a:bodyPr/>
                    <a:lstStyle/>
                    <a:p>
                      <a:pPr algn="ctr">
                        <a:buNone/>
                      </a:pPr>
                      <a:r>
                        <a:rPr lang="en-US" sz="1600">
                          <a:solidFill>
                            <a:srgbClr val="00B050"/>
                          </a:solidFill>
                          <a:latin typeface="Times New Roman"/>
                          <a:cs typeface="Times New Roman"/>
                        </a:rPr>
                        <a:t>Monolithic (Slow)</a:t>
                      </a:r>
                    </a:p>
                  </a:txBody>
                  <a:tcPr anchor="ctr"/>
                </a:tc>
                <a:tc>
                  <a:txBody>
                    <a:bodyPr/>
                    <a:lstStyle/>
                    <a:p>
                      <a:pPr algn="ctr">
                        <a:buNone/>
                      </a:pPr>
                      <a:r>
                        <a:rPr lang="en-US" sz="1600">
                          <a:solidFill>
                            <a:srgbClr val="00B050"/>
                          </a:solidFill>
                          <a:latin typeface="Times New Roman"/>
                          <a:cs typeface="Times New Roman"/>
                        </a:rPr>
                        <a:t>Single large processor</a:t>
                      </a:r>
                      <a:endParaRPr lang="en-US" sz="1600" dirty="0">
                        <a:solidFill>
                          <a:srgbClr val="00B050"/>
                        </a:solidFill>
                        <a:latin typeface="Times New Roman"/>
                        <a:cs typeface="Times New Roman"/>
                      </a:endParaRPr>
                    </a:p>
                  </a:txBody>
                  <a:tcPr anchor="ctr"/>
                </a:tc>
                <a:tc>
                  <a:txBody>
                    <a:bodyPr/>
                    <a:lstStyle/>
                    <a:p>
                      <a:pPr algn="ctr">
                        <a:buNone/>
                      </a:pPr>
                      <a:r>
                        <a:rPr lang="en-US" sz="1600">
                          <a:solidFill>
                            <a:srgbClr val="00B050"/>
                          </a:solidFill>
                          <a:latin typeface="Times New Roman"/>
                          <a:cs typeface="Times New Roman"/>
                        </a:rPr>
                        <a:t>High crosstalk, routing congestion, slower </a:t>
                      </a:r>
                      <a:r>
                        <a:rPr lang="en-US" sz="1600" dirty="0">
                          <a:solidFill>
                            <a:srgbClr val="00B050"/>
                          </a:solidFill>
                          <a:latin typeface="Times New Roman"/>
                          <a:cs typeface="Times New Roman"/>
                        </a:rPr>
                        <a:t>operation execution</a:t>
                      </a:r>
                    </a:p>
                  </a:txBody>
                  <a:tcPr anchor="ctr"/>
                </a:tc>
                <a:extLst>
                  <a:ext uri="{0D108BD9-81ED-4DB2-BD59-A6C34878D82A}">
                    <a16:rowId xmlns:a16="http://schemas.microsoft.com/office/drawing/2014/main" val="2541480651"/>
                  </a:ext>
                </a:extLst>
              </a:tr>
              <a:tr h="328170">
                <a:tc>
                  <a:txBody>
                    <a:bodyPr/>
                    <a:lstStyle/>
                    <a:p>
                      <a:pPr algn="ctr">
                        <a:buNone/>
                      </a:pPr>
                      <a:r>
                        <a:rPr lang="en-US" sz="1600">
                          <a:solidFill>
                            <a:srgbClr val="FF0000"/>
                          </a:solidFill>
                          <a:latin typeface="Times New Roman"/>
                          <a:cs typeface="Times New Roman"/>
                        </a:rPr>
                        <a:t>Monolithic (Fast)</a:t>
                      </a:r>
                    </a:p>
                  </a:txBody>
                  <a:tcPr anchor="ctr"/>
                </a:tc>
                <a:tc>
                  <a:txBody>
                    <a:bodyPr/>
                    <a:lstStyle/>
                    <a:p>
                      <a:pPr algn="ctr">
                        <a:buNone/>
                      </a:pPr>
                      <a:r>
                        <a:rPr lang="en-US" sz="1600">
                          <a:solidFill>
                            <a:srgbClr val="FF0000"/>
                          </a:solidFill>
                          <a:latin typeface="Times New Roman"/>
                          <a:cs typeface="Times New Roman"/>
                        </a:rPr>
                        <a:t>Accelerated monolithic processor</a:t>
                      </a:r>
                    </a:p>
                  </a:txBody>
                  <a:tcPr anchor="ctr"/>
                </a:tc>
                <a:tc>
                  <a:txBody>
                    <a:bodyPr/>
                    <a:lstStyle/>
                    <a:p>
                      <a:pPr algn="ctr">
                        <a:buNone/>
                      </a:pPr>
                      <a:r>
                        <a:rPr lang="en-US" sz="1600">
                          <a:solidFill>
                            <a:srgbClr val="FF0000"/>
                          </a:solidFill>
                          <a:latin typeface="Times New Roman"/>
                          <a:cs typeface="Times New Roman"/>
                        </a:rPr>
                        <a:t>Faster operations but retains scalability limitations</a:t>
                      </a:r>
                    </a:p>
                  </a:txBody>
                  <a:tcPr anchor="ctr"/>
                </a:tc>
                <a:extLst>
                  <a:ext uri="{0D108BD9-81ED-4DB2-BD59-A6C34878D82A}">
                    <a16:rowId xmlns:a16="http://schemas.microsoft.com/office/drawing/2014/main" val="2848228885"/>
                  </a:ext>
                </a:extLst>
              </a:tr>
              <a:tr h="564041">
                <a:tc>
                  <a:txBody>
                    <a:bodyPr/>
                    <a:lstStyle/>
                    <a:p>
                      <a:pPr algn="ctr">
                        <a:buNone/>
                      </a:pPr>
                      <a:r>
                        <a:rPr lang="en-US" sz="1600">
                          <a:solidFill>
                            <a:srgbClr val="7030A0"/>
                          </a:solidFill>
                          <a:latin typeface="Times New Roman"/>
                          <a:cs typeface="Times New Roman"/>
                        </a:rPr>
                        <a:t>Distributed Unified (Slow)</a:t>
                      </a:r>
                      <a:endParaRPr lang="en-US" sz="1600" dirty="0">
                        <a:solidFill>
                          <a:srgbClr val="7030A0"/>
                        </a:solidFill>
                        <a:latin typeface="Times New Roman"/>
                        <a:cs typeface="Times New Roman"/>
                      </a:endParaRPr>
                    </a:p>
                  </a:txBody>
                  <a:tcPr anchor="ctr"/>
                </a:tc>
                <a:tc>
                  <a:txBody>
                    <a:bodyPr/>
                    <a:lstStyle/>
                    <a:p>
                      <a:pPr algn="ctr">
                        <a:buNone/>
                      </a:pPr>
                      <a:r>
                        <a:rPr lang="en-US" sz="1600" err="1">
                          <a:solidFill>
                            <a:srgbClr val="7030A0"/>
                          </a:solidFill>
                          <a:latin typeface="Times New Roman"/>
                          <a:cs typeface="Times New Roman"/>
                        </a:rPr>
                        <a:t>IonQ</a:t>
                      </a:r>
                      <a:r>
                        <a:rPr lang="en-US" sz="1600" dirty="0">
                          <a:solidFill>
                            <a:srgbClr val="7030A0"/>
                          </a:solidFill>
                          <a:latin typeface="Times New Roman"/>
                          <a:cs typeface="Times New Roman"/>
                        </a:rPr>
                        <a:t> + YOUTIAO + </a:t>
                      </a:r>
                      <a:r>
                        <a:rPr lang="en-US" sz="1600" err="1">
                          <a:solidFill>
                            <a:srgbClr val="7030A0"/>
                          </a:solidFill>
                          <a:latin typeface="Times New Roman"/>
                          <a:cs typeface="Times New Roman"/>
                        </a:rPr>
                        <a:t>SwitchQNet</a:t>
                      </a:r>
                      <a:r>
                        <a:rPr lang="en-US" sz="1600" dirty="0">
                          <a:solidFill>
                            <a:srgbClr val="7030A0"/>
                          </a:solidFill>
                          <a:latin typeface="Times New Roman"/>
                          <a:cs typeface="Times New Roman"/>
                        </a:rPr>
                        <a:t> with slow interconnect</a:t>
                      </a:r>
                    </a:p>
                  </a:txBody>
                  <a:tcPr anchor="ctr"/>
                </a:tc>
                <a:tc>
                  <a:txBody>
                    <a:bodyPr/>
                    <a:lstStyle/>
                    <a:p>
                      <a:pPr algn="ctr">
                        <a:buNone/>
                      </a:pPr>
                      <a:r>
                        <a:rPr lang="en-US" sz="1600">
                          <a:solidFill>
                            <a:srgbClr val="7030A0"/>
                          </a:solidFill>
                          <a:latin typeface="Times New Roman"/>
                          <a:cs typeface="Times New Roman"/>
                        </a:rPr>
                        <a:t>Advanced routing and scheduling, but communication bottleneck remains</a:t>
                      </a:r>
                      <a:endParaRPr lang="en-US" sz="1600" dirty="0">
                        <a:solidFill>
                          <a:srgbClr val="7030A0"/>
                        </a:solidFill>
                        <a:latin typeface="Times New Roman"/>
                        <a:cs typeface="Times New Roman"/>
                      </a:endParaRPr>
                    </a:p>
                  </a:txBody>
                  <a:tcPr anchor="ctr"/>
                </a:tc>
                <a:extLst>
                  <a:ext uri="{0D108BD9-81ED-4DB2-BD59-A6C34878D82A}">
                    <a16:rowId xmlns:a16="http://schemas.microsoft.com/office/drawing/2014/main" val="1122403291"/>
                  </a:ext>
                </a:extLst>
              </a:tr>
              <a:tr h="564041">
                <a:tc>
                  <a:txBody>
                    <a:bodyPr/>
                    <a:lstStyle/>
                    <a:p>
                      <a:pPr algn="ctr">
                        <a:buNone/>
                      </a:pPr>
                      <a:r>
                        <a:rPr lang="en-US" sz="1600">
                          <a:solidFill>
                            <a:srgbClr val="7D340D"/>
                          </a:solidFill>
                          <a:latin typeface="Times New Roman"/>
                          <a:cs typeface="Times New Roman"/>
                        </a:rPr>
                        <a:t>Distributed Unified (Fast)</a:t>
                      </a:r>
                      <a:endParaRPr lang="en-US" sz="1600" dirty="0">
                        <a:solidFill>
                          <a:srgbClr val="7D340D"/>
                        </a:solidFill>
                        <a:latin typeface="Times New Roman"/>
                        <a:cs typeface="Times New Roman"/>
                      </a:endParaRPr>
                    </a:p>
                  </a:txBody>
                  <a:tcPr anchor="ctr"/>
                </a:tc>
                <a:tc>
                  <a:txBody>
                    <a:bodyPr/>
                    <a:lstStyle/>
                    <a:p>
                      <a:pPr algn="ctr">
                        <a:buNone/>
                      </a:pPr>
                      <a:r>
                        <a:rPr lang="en-US" sz="1600" err="1">
                          <a:solidFill>
                            <a:srgbClr val="7D340D"/>
                          </a:solidFill>
                          <a:latin typeface="Times New Roman"/>
                          <a:cs typeface="Times New Roman"/>
                        </a:rPr>
                        <a:t>IonQ</a:t>
                      </a:r>
                      <a:r>
                        <a:rPr lang="en-US" sz="1600" dirty="0">
                          <a:solidFill>
                            <a:srgbClr val="7D340D"/>
                          </a:solidFill>
                          <a:latin typeface="Times New Roman"/>
                          <a:cs typeface="Times New Roman"/>
                        </a:rPr>
                        <a:t> + YOUTIAO + </a:t>
                      </a:r>
                      <a:r>
                        <a:rPr lang="en-US" sz="1600" err="1">
                          <a:solidFill>
                            <a:srgbClr val="7D340D"/>
                          </a:solidFill>
                          <a:latin typeface="Times New Roman"/>
                          <a:cs typeface="Times New Roman"/>
                        </a:rPr>
                        <a:t>SwitchQNet</a:t>
                      </a:r>
                      <a:r>
                        <a:rPr lang="en-US" sz="1600" dirty="0">
                          <a:solidFill>
                            <a:srgbClr val="7D340D"/>
                          </a:solidFill>
                          <a:latin typeface="Times New Roman"/>
                          <a:cs typeface="Times New Roman"/>
                        </a:rPr>
                        <a:t> + Fast Interconnect</a:t>
                      </a:r>
                    </a:p>
                  </a:txBody>
                  <a:tcPr anchor="ctr"/>
                </a:tc>
                <a:tc>
                  <a:txBody>
                    <a:bodyPr/>
                    <a:lstStyle/>
                    <a:p>
                      <a:pPr algn="ctr">
                        <a:buNone/>
                      </a:pPr>
                      <a:r>
                        <a:rPr lang="en-US" sz="1600">
                          <a:solidFill>
                            <a:srgbClr val="7D340D"/>
                          </a:solidFill>
                          <a:latin typeface="Times New Roman"/>
                          <a:cs typeface="Times New Roman"/>
                        </a:rPr>
                        <a:t>Multiplexing, intelligent routing, high-rate Bell-pair generation, minimized communication overhead</a:t>
                      </a:r>
                      <a:endParaRPr lang="en-US" sz="1600" dirty="0">
                        <a:solidFill>
                          <a:srgbClr val="7D340D"/>
                        </a:solidFill>
                        <a:latin typeface="Times New Roman"/>
                        <a:cs typeface="Times New Roman"/>
                      </a:endParaRPr>
                    </a:p>
                  </a:txBody>
                  <a:tcPr anchor="ctr"/>
                </a:tc>
                <a:extLst>
                  <a:ext uri="{0D108BD9-81ED-4DB2-BD59-A6C34878D82A}">
                    <a16:rowId xmlns:a16="http://schemas.microsoft.com/office/drawing/2014/main" val="4266935796"/>
                  </a:ext>
                </a:extLst>
              </a:tr>
            </a:tbl>
          </a:graphicData>
        </a:graphic>
      </p:graphicFrame>
    </p:spTree>
    <p:extLst>
      <p:ext uri="{BB962C8B-B14F-4D97-AF65-F5344CB8AC3E}">
        <p14:creationId xmlns:p14="http://schemas.microsoft.com/office/powerpoint/2010/main" val="1713143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47C28-7A23-558C-9802-F6A26D3470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A8DEB7-669B-3C7E-D48A-9220BE36F403}"/>
              </a:ext>
            </a:extLst>
          </p:cNvPr>
          <p:cNvSpPr>
            <a:spLocks noGrp="1"/>
          </p:cNvSpPr>
          <p:nvPr>
            <p:ph type="title"/>
          </p:nvPr>
        </p:nvSpPr>
        <p:spPr>
          <a:xfrm>
            <a:off x="4323373" y="-229170"/>
            <a:ext cx="3257063" cy="807794"/>
          </a:xfrm>
        </p:spPr>
        <p:txBody>
          <a:bodyPr>
            <a:normAutofit/>
          </a:bodyPr>
          <a:lstStyle/>
          <a:p>
            <a:r>
              <a:rPr lang="en-US" sz="3200">
                <a:latin typeface="Times New Roman"/>
                <a:cs typeface="Times New Roman"/>
              </a:rPr>
              <a:t>Logical Error Vs n</a:t>
            </a:r>
          </a:p>
        </p:txBody>
      </p:sp>
      <p:sp>
        <p:nvSpPr>
          <p:cNvPr id="8" name="TextBox 7">
            <a:extLst>
              <a:ext uri="{FF2B5EF4-FFF2-40B4-BE49-F238E27FC236}">
                <a16:creationId xmlns:a16="http://schemas.microsoft.com/office/drawing/2014/main" id="{62F946BA-71A3-48E9-C9BA-F8F20AC6588E}"/>
              </a:ext>
            </a:extLst>
          </p:cNvPr>
          <p:cNvSpPr txBox="1"/>
          <p:nvPr/>
        </p:nvSpPr>
        <p:spPr>
          <a:xfrm>
            <a:off x="1" y="6337577"/>
            <a:ext cx="1219199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solidFill>
                  <a:srgbClr val="000000"/>
                </a:solidFill>
                <a:latin typeface="Times New Roman"/>
                <a:ea typeface="+mn-lt"/>
                <a:cs typeface="Times New Roman"/>
              </a:rPr>
              <a:t>The Distributed Unified (Fast) architecture demonstrates that </a:t>
            </a:r>
            <a:r>
              <a:rPr lang="en-US" sz="1400" b="1" i="1">
                <a:solidFill>
                  <a:srgbClr val="000000"/>
                </a:solidFill>
                <a:latin typeface="Times New Roman"/>
                <a:ea typeface="+mn-lt"/>
                <a:cs typeface="Times New Roman"/>
              </a:rPr>
              <a:t>joint optimization of communication, routing, scheduling, and Bell-pair generation can substantially improve scalability and error resilience in distributed quantum computing systems.</a:t>
            </a:r>
            <a:endParaRPr lang="en-US" sz="1400" i="1">
              <a:latin typeface="Times New Roman"/>
              <a:cs typeface="Times New Roman"/>
            </a:endParaRPr>
          </a:p>
        </p:txBody>
      </p:sp>
      <p:pic>
        <p:nvPicPr>
          <p:cNvPr id="4" name="Picture 3">
            <a:extLst>
              <a:ext uri="{FF2B5EF4-FFF2-40B4-BE49-F238E27FC236}">
                <a16:creationId xmlns:a16="http://schemas.microsoft.com/office/drawing/2014/main" id="{985CF6C6-3C24-789B-9F9E-DFE9C9E46D5F}"/>
              </a:ext>
            </a:extLst>
          </p:cNvPr>
          <p:cNvPicPr>
            <a:picLocks noChangeAspect="1"/>
          </p:cNvPicPr>
          <p:nvPr/>
        </p:nvPicPr>
        <p:blipFill>
          <a:blip r:embed="rId3"/>
          <a:srcRect t="851" r="50000" b="50069"/>
          <a:stretch>
            <a:fillRect/>
          </a:stretch>
        </p:blipFill>
        <p:spPr>
          <a:xfrm>
            <a:off x="4889501" y="591038"/>
            <a:ext cx="7302498" cy="3648727"/>
          </a:xfrm>
          <a:prstGeom prst="rect">
            <a:avLst/>
          </a:prstGeom>
        </p:spPr>
      </p:pic>
      <p:sp>
        <p:nvSpPr>
          <p:cNvPr id="9" name="TextBox 8">
            <a:extLst>
              <a:ext uri="{FF2B5EF4-FFF2-40B4-BE49-F238E27FC236}">
                <a16:creationId xmlns:a16="http://schemas.microsoft.com/office/drawing/2014/main" id="{ADB09BFB-FD6C-A782-A9A2-BA018CB55712}"/>
              </a:ext>
            </a:extLst>
          </p:cNvPr>
          <p:cNvSpPr txBox="1"/>
          <p:nvPr/>
        </p:nvSpPr>
        <p:spPr>
          <a:xfrm>
            <a:off x="211666" y="846666"/>
            <a:ext cx="4963583" cy="24622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1400" b="1" i="0" u="none" strike="noStrike" baseline="0">
                <a:solidFill>
                  <a:schemeClr val="accent2">
                    <a:lumMod val="49000"/>
                  </a:schemeClr>
                </a:solidFill>
                <a:latin typeface="Times New Roman"/>
                <a:ea typeface="Segoe UI"/>
                <a:cs typeface="Times New Roman"/>
              </a:rPr>
              <a:t>Why Does Distributed Unified (Fast) Perform Best?</a:t>
            </a:r>
            <a:r>
              <a:rPr lang="en-US" sz="1400" b="1" i="0">
                <a:solidFill>
                  <a:schemeClr val="accent2">
                    <a:lumMod val="49000"/>
                  </a:schemeClr>
                </a:solidFill>
                <a:latin typeface="Times New Roman"/>
                <a:ea typeface="Segoe UI"/>
                <a:cs typeface="Times New Roman"/>
              </a:rPr>
              <a:t>​</a:t>
            </a:r>
          </a:p>
          <a:p>
            <a:pPr rtl="0"/>
            <a:r>
              <a:rPr lang="en-US" sz="1400" b="0" i="0" u="none" strike="noStrike" baseline="0">
                <a:solidFill>
                  <a:srgbClr val="000000"/>
                </a:solidFill>
                <a:latin typeface="Times New Roman"/>
                <a:ea typeface="Segoe UI"/>
                <a:cs typeface="Times New Roman"/>
              </a:rPr>
              <a:t>Communication Bottlenecks Are Reduced at Multiple Layers</a:t>
            </a:r>
            <a:r>
              <a:rPr lang="en-US" sz="1400" b="0" i="0">
                <a:solidFill>
                  <a:srgbClr val="000000"/>
                </a:solidFill>
                <a:latin typeface="Times New Roman"/>
                <a:ea typeface="Segoe UI"/>
                <a:cs typeface="Times New Roman"/>
              </a:rPr>
              <a:t>​</a:t>
            </a:r>
            <a:endParaRPr lang="en-US" sz="1400" b="0" i="0" dirty="0">
              <a:solidFill>
                <a:srgbClr val="000000"/>
              </a:solidFill>
              <a:latin typeface="Times New Roman"/>
              <a:ea typeface="Segoe UI"/>
              <a:cs typeface="Times New Roman"/>
            </a:endParaRPr>
          </a:p>
          <a:p>
            <a:pPr rtl="0"/>
            <a:r>
              <a:rPr lang="en-US" sz="1400" b="0" i="0" u="none" strike="noStrike" baseline="0">
                <a:solidFill>
                  <a:srgbClr val="000000"/>
                </a:solidFill>
                <a:latin typeface="Times New Roman"/>
                <a:ea typeface="Segoe UI"/>
                <a:cs typeface="Times New Roman"/>
              </a:rPr>
              <a:t>The architecture integrates:</a:t>
            </a:r>
            <a:r>
              <a:rPr lang="en-US" sz="1400" b="0" i="0">
                <a:solidFill>
                  <a:srgbClr val="000000"/>
                </a:solidFill>
                <a:latin typeface="Times New Roman"/>
                <a:ea typeface="Segoe UI"/>
                <a:cs typeface="Times New Roman"/>
              </a:rPr>
              <a:t>​</a:t>
            </a:r>
            <a:endParaRPr lang="en-US" sz="1400" b="0" i="0" dirty="0">
              <a:solidFill>
                <a:srgbClr val="000000"/>
              </a:solidFill>
              <a:latin typeface="Times New Roman"/>
              <a:ea typeface="Segoe UI"/>
              <a:cs typeface="Times New Roman"/>
            </a:endParaRPr>
          </a:p>
          <a:p>
            <a:pPr marL="285750" lvl="0" indent="-285750" rtl="0">
              <a:buFont typeface="Arial,Sans-Serif"/>
              <a:buChar char="•"/>
            </a:pPr>
            <a:r>
              <a:rPr lang="en-US" sz="1400" b="1" i="0" u="none" strike="noStrike" baseline="0" dirty="0" err="1">
                <a:solidFill>
                  <a:srgbClr val="000000"/>
                </a:solidFill>
                <a:latin typeface="Times New Roman"/>
                <a:ea typeface="Arial"/>
                <a:cs typeface="Times New Roman"/>
              </a:rPr>
              <a:t>IonQ</a:t>
            </a:r>
            <a:r>
              <a:rPr lang="en-US" sz="1400" b="1" i="0" u="none" strike="noStrike" baseline="0" dirty="0">
                <a:solidFill>
                  <a:srgbClr val="000000"/>
                </a:solidFill>
                <a:latin typeface="Times New Roman"/>
                <a:ea typeface="Arial"/>
                <a:cs typeface="Times New Roman"/>
              </a:rPr>
              <a:t>-inspired multiplexing</a:t>
            </a:r>
            <a:r>
              <a:rPr lang="en-US" sz="1400" b="0" i="0" u="none" strike="noStrike" baseline="0" dirty="0">
                <a:solidFill>
                  <a:srgbClr val="000000"/>
                </a:solidFill>
                <a:latin typeface="Times New Roman"/>
                <a:ea typeface="Arial"/>
                <a:cs typeface="Times New Roman"/>
              </a:rPr>
              <a:t>, which increases Bell-pair utilization efficiency. </a:t>
            </a:r>
            <a:r>
              <a:rPr lang="en-US" sz="1400" b="0" i="0" dirty="0">
                <a:solidFill>
                  <a:srgbClr val="000000"/>
                </a:solidFill>
                <a:latin typeface="Times New Roman"/>
                <a:ea typeface="Arial"/>
                <a:cs typeface="Times New Roman"/>
              </a:rPr>
              <a:t>​</a:t>
            </a:r>
          </a:p>
          <a:p>
            <a:pPr marL="285750" lvl="0" indent="-285750" rtl="0">
              <a:buFont typeface="Arial,Sans-Serif"/>
              <a:buChar char="•"/>
            </a:pPr>
            <a:r>
              <a:rPr lang="en-US" sz="1400" b="1" i="0" u="none" strike="noStrike" baseline="0">
                <a:solidFill>
                  <a:srgbClr val="000000"/>
                </a:solidFill>
                <a:latin typeface="Times New Roman"/>
                <a:ea typeface="Arial"/>
                <a:cs typeface="Times New Roman"/>
              </a:rPr>
              <a:t>YOUTIAO FDM/TDM scheduling</a:t>
            </a:r>
            <a:r>
              <a:rPr lang="en-US" sz="1400" b="0" i="0" u="none" strike="noStrike" baseline="0">
                <a:solidFill>
                  <a:srgbClr val="000000"/>
                </a:solidFill>
                <a:latin typeface="Times New Roman"/>
                <a:ea typeface="Arial"/>
                <a:cs typeface="Times New Roman"/>
              </a:rPr>
              <a:t>, which reduces communication contention and crosstalk. </a:t>
            </a:r>
            <a:r>
              <a:rPr lang="en-US" sz="1400" b="0" i="0">
                <a:solidFill>
                  <a:srgbClr val="000000"/>
                </a:solidFill>
                <a:latin typeface="Times New Roman"/>
                <a:ea typeface="Arial"/>
                <a:cs typeface="Times New Roman"/>
              </a:rPr>
              <a:t>​</a:t>
            </a:r>
            <a:endParaRPr lang="en-US" sz="1400" b="0" i="0" dirty="0">
              <a:solidFill>
                <a:srgbClr val="000000"/>
              </a:solidFill>
              <a:latin typeface="Times New Roman"/>
              <a:ea typeface="Arial"/>
              <a:cs typeface="Times New Roman"/>
            </a:endParaRPr>
          </a:p>
          <a:p>
            <a:pPr marL="285750" lvl="0" indent="-285750" rtl="0">
              <a:buFont typeface="Arial,Sans-Serif"/>
              <a:buChar char="•"/>
            </a:pPr>
            <a:r>
              <a:rPr lang="en-US" sz="1400" b="1" i="0" u="none" strike="noStrike" baseline="0" dirty="0" err="1">
                <a:solidFill>
                  <a:srgbClr val="000000"/>
                </a:solidFill>
                <a:latin typeface="Times New Roman"/>
                <a:ea typeface="Arial"/>
                <a:cs typeface="Times New Roman"/>
              </a:rPr>
              <a:t>SwitchQNet</a:t>
            </a:r>
            <a:r>
              <a:rPr lang="en-US" sz="1400" b="1" i="0" u="none" strike="noStrike" baseline="0" dirty="0">
                <a:solidFill>
                  <a:srgbClr val="000000"/>
                </a:solidFill>
                <a:latin typeface="Times New Roman"/>
                <a:ea typeface="Arial"/>
                <a:cs typeface="Times New Roman"/>
              </a:rPr>
              <a:t> intelligent routing</a:t>
            </a:r>
            <a:r>
              <a:rPr lang="en-US" sz="1400" b="0" i="0" u="none" strike="noStrike" baseline="0" dirty="0">
                <a:solidFill>
                  <a:srgbClr val="000000"/>
                </a:solidFill>
                <a:latin typeface="Times New Roman"/>
                <a:ea typeface="Arial"/>
                <a:cs typeface="Times New Roman"/>
              </a:rPr>
              <a:t>, which minimizes queueing and routing delays. </a:t>
            </a:r>
            <a:r>
              <a:rPr lang="en-US" sz="1400" b="0" i="0" dirty="0">
                <a:solidFill>
                  <a:srgbClr val="000000"/>
                </a:solidFill>
                <a:latin typeface="Times New Roman"/>
                <a:ea typeface="Arial"/>
                <a:cs typeface="Times New Roman"/>
              </a:rPr>
              <a:t>​</a:t>
            </a:r>
          </a:p>
          <a:p>
            <a:pPr marL="285750" lvl="0" indent="-285750" rtl="0">
              <a:buFont typeface="Arial,Sans-Serif"/>
              <a:buChar char="•"/>
            </a:pPr>
            <a:r>
              <a:rPr lang="en-US" sz="1400" b="1" i="0" u="none" strike="noStrike" baseline="0">
                <a:solidFill>
                  <a:srgbClr val="000000"/>
                </a:solidFill>
                <a:latin typeface="Times New Roman"/>
                <a:ea typeface="Arial"/>
                <a:cs typeface="Times New Roman"/>
              </a:rPr>
              <a:t>High-rate Bell-pair generation</a:t>
            </a:r>
            <a:r>
              <a:rPr lang="en-US" sz="1400">
                <a:solidFill>
                  <a:srgbClr val="000000"/>
                </a:solidFill>
                <a:latin typeface="Times New Roman"/>
                <a:ea typeface="Arial"/>
                <a:cs typeface="Times New Roman"/>
              </a:rPr>
              <a:t>,</a:t>
            </a:r>
            <a:r>
              <a:rPr lang="en-US" sz="1400" b="0" i="0" u="none" strike="noStrike" baseline="0">
                <a:solidFill>
                  <a:srgbClr val="000000"/>
                </a:solidFill>
                <a:latin typeface="Times New Roman"/>
                <a:ea typeface="Arial"/>
                <a:cs typeface="Times New Roman"/>
              </a:rPr>
              <a:t> which reduces entanglement waiting time. </a:t>
            </a:r>
            <a:r>
              <a:rPr lang="en-US" sz="1400" b="0" i="0">
                <a:solidFill>
                  <a:srgbClr val="000000"/>
                </a:solidFill>
                <a:latin typeface="Times New Roman"/>
                <a:ea typeface="Arial"/>
                <a:cs typeface="Times New Roman"/>
              </a:rPr>
              <a:t>​</a:t>
            </a:r>
            <a:endParaRPr lang="en-US" sz="1400" b="0" i="0" dirty="0">
              <a:solidFill>
                <a:srgbClr val="000000"/>
              </a:solidFill>
              <a:latin typeface="Times New Roman"/>
              <a:ea typeface="Segoe UI"/>
              <a:cs typeface="Times New Roman"/>
            </a:endParaRPr>
          </a:p>
        </p:txBody>
      </p:sp>
      <p:sp>
        <p:nvSpPr>
          <p:cNvPr id="11" name="TextBox 10">
            <a:extLst>
              <a:ext uri="{FF2B5EF4-FFF2-40B4-BE49-F238E27FC236}">
                <a16:creationId xmlns:a16="http://schemas.microsoft.com/office/drawing/2014/main" id="{C5271950-2498-BB2A-F552-63B3D0BB7D35}"/>
              </a:ext>
            </a:extLst>
          </p:cNvPr>
          <p:cNvSpPr txBox="1"/>
          <p:nvPr/>
        </p:nvSpPr>
        <p:spPr>
          <a:xfrm>
            <a:off x="0" y="4169833"/>
            <a:ext cx="6096000"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1400" b="0" i="1" u="none" strike="noStrike" baseline="0">
                <a:solidFill>
                  <a:schemeClr val="accent2"/>
                </a:solidFill>
                <a:latin typeface="Times New Roman"/>
                <a:ea typeface="Arial"/>
                <a:cs typeface="Times New Roman"/>
              </a:rPr>
              <a:t>Direct (Fast)</a:t>
            </a:r>
            <a:r>
              <a:rPr lang="en-US" sz="1400" b="0" i="0">
                <a:solidFill>
                  <a:schemeClr val="accent2"/>
                </a:solidFill>
                <a:latin typeface="Times New Roman"/>
                <a:ea typeface="Arial"/>
                <a:cs typeface="Times New Roman"/>
              </a:rPr>
              <a:t>​</a:t>
            </a:r>
            <a:endParaRPr lang="en-US" sz="1400">
              <a:solidFill>
                <a:schemeClr val="accent2"/>
              </a:solidFill>
            </a:endParaRPr>
          </a:p>
          <a:p>
            <a:pPr marL="285750" lvl="0" indent="-285750" rtl="0">
              <a:buFont typeface="Arial,Sans-Serif"/>
              <a:buChar char="•"/>
            </a:pPr>
            <a:r>
              <a:rPr lang="en-US" sz="1400" b="0" i="0" u="none" strike="noStrike" baseline="0">
                <a:solidFill>
                  <a:srgbClr val="000000"/>
                </a:solidFill>
                <a:latin typeface="Times New Roman"/>
                <a:ea typeface="Arial"/>
                <a:cs typeface="Times New Roman"/>
              </a:rPr>
              <a:t>Second-best performance. </a:t>
            </a:r>
            <a:r>
              <a:rPr lang="en-US" sz="1400" b="0" i="0">
                <a:solidFill>
                  <a:srgbClr val="000000"/>
                </a:solidFill>
                <a:latin typeface="Times New Roman"/>
                <a:ea typeface="Arial"/>
                <a:cs typeface="Times New Roman"/>
              </a:rPr>
              <a:t>​</a:t>
            </a:r>
          </a:p>
          <a:p>
            <a:pPr marL="285750" lvl="0" indent="-285750" rtl="0">
              <a:buFont typeface="Arial,Sans-Serif"/>
              <a:buChar char="•"/>
            </a:pPr>
            <a:r>
              <a:rPr lang="en-US" sz="1400" b="0" i="0" u="none" strike="noStrike" baseline="0">
                <a:solidFill>
                  <a:srgbClr val="000000"/>
                </a:solidFill>
                <a:latin typeface="Times New Roman"/>
                <a:ea typeface="Arial"/>
                <a:cs typeface="Times New Roman"/>
              </a:rPr>
              <a:t>Benefits from high-speed communication links. </a:t>
            </a:r>
            <a:r>
              <a:rPr lang="en-US" sz="1400" b="0" i="0">
                <a:solidFill>
                  <a:srgbClr val="000000"/>
                </a:solidFill>
                <a:latin typeface="Times New Roman"/>
                <a:ea typeface="Arial"/>
                <a:cs typeface="Times New Roman"/>
              </a:rPr>
              <a:t>​</a:t>
            </a:r>
          </a:p>
          <a:p>
            <a:pPr marL="285750" lvl="0" indent="-285750" rtl="0">
              <a:buFont typeface="Arial,Sans-Serif"/>
              <a:buChar char="•"/>
            </a:pPr>
            <a:r>
              <a:rPr lang="en-US" sz="1400" b="0" i="0" u="none" strike="noStrike" baseline="0">
                <a:solidFill>
                  <a:srgbClr val="000000"/>
                </a:solidFill>
                <a:latin typeface="Times New Roman"/>
                <a:ea typeface="Arial"/>
                <a:cs typeface="Times New Roman"/>
              </a:rPr>
              <a:t>Avoids complex routing overhead. </a:t>
            </a:r>
            <a:r>
              <a:rPr lang="en-US" sz="1400" b="0" i="0">
                <a:solidFill>
                  <a:srgbClr val="000000"/>
                </a:solidFill>
                <a:latin typeface="Times New Roman"/>
                <a:ea typeface="Arial"/>
                <a:cs typeface="Times New Roman"/>
              </a:rPr>
              <a:t>​</a:t>
            </a:r>
          </a:p>
          <a:p>
            <a:pPr marL="285750" lvl="0" indent="-285750" rtl="0">
              <a:buFont typeface="Arial,Sans-Serif"/>
              <a:buChar char="•"/>
            </a:pPr>
            <a:r>
              <a:rPr lang="en-US" sz="1400" b="0" i="0" u="none" strike="noStrike" baseline="0">
                <a:solidFill>
                  <a:srgbClr val="000000"/>
                </a:solidFill>
                <a:latin typeface="Times New Roman"/>
                <a:ea typeface="Arial"/>
                <a:cs typeface="Times New Roman"/>
              </a:rPr>
              <a:t>However, lacks adaptive scheduling and multiplexing optimizations. </a:t>
            </a:r>
            <a:r>
              <a:rPr lang="en-US" sz="1400" b="0" i="0">
                <a:solidFill>
                  <a:srgbClr val="000000"/>
                </a:solidFill>
                <a:latin typeface="Times New Roman"/>
                <a:ea typeface="Arial"/>
                <a:cs typeface="Times New Roman"/>
              </a:rPr>
              <a:t>​</a:t>
            </a:r>
          </a:p>
          <a:p>
            <a:pPr rtl="0"/>
            <a:r>
              <a:rPr lang="en-US" sz="1400" b="0" i="1" u="none" strike="noStrike" baseline="0">
                <a:solidFill>
                  <a:srgbClr val="00B0F0"/>
                </a:solidFill>
                <a:latin typeface="Times New Roman"/>
                <a:ea typeface="Arial"/>
                <a:cs typeface="Times New Roman"/>
              </a:rPr>
              <a:t>Direct (Slow)</a:t>
            </a:r>
            <a:r>
              <a:rPr lang="en-US" sz="1400" b="0" i="1">
                <a:solidFill>
                  <a:srgbClr val="00B0F0"/>
                </a:solidFill>
                <a:latin typeface="Times New Roman"/>
                <a:ea typeface="Arial"/>
                <a:cs typeface="Times New Roman"/>
              </a:rPr>
              <a:t>​</a:t>
            </a:r>
          </a:p>
          <a:p>
            <a:pPr marL="285750" lvl="0" indent="-285750" rtl="0">
              <a:buFont typeface="Arial,Sans-Serif"/>
              <a:buChar char="•"/>
            </a:pPr>
            <a:r>
              <a:rPr lang="en-US" sz="1400" b="0" i="0" u="none" strike="noStrike" baseline="0">
                <a:solidFill>
                  <a:srgbClr val="000000"/>
                </a:solidFill>
                <a:latin typeface="Times New Roman"/>
                <a:ea typeface="Arial"/>
                <a:cs typeface="Times New Roman"/>
              </a:rPr>
              <a:t>Error increases steadily with system size. </a:t>
            </a:r>
            <a:r>
              <a:rPr lang="en-US" sz="1400" b="0" i="0">
                <a:solidFill>
                  <a:srgbClr val="000000"/>
                </a:solidFill>
                <a:latin typeface="Times New Roman"/>
                <a:ea typeface="Arial"/>
                <a:cs typeface="Times New Roman"/>
              </a:rPr>
              <a:t>​</a:t>
            </a:r>
          </a:p>
          <a:p>
            <a:pPr marL="285750" lvl="0" indent="-285750" rtl="0">
              <a:buFont typeface="Arial,Sans-Serif"/>
              <a:buChar char="•"/>
            </a:pPr>
            <a:r>
              <a:rPr lang="en-US" sz="1400" b="0" i="0" u="none" strike="noStrike" baseline="0">
                <a:solidFill>
                  <a:srgbClr val="000000"/>
                </a:solidFill>
                <a:latin typeface="Times New Roman"/>
                <a:ea typeface="Arial"/>
                <a:cs typeface="Times New Roman"/>
              </a:rPr>
              <a:t>Limited bandwidth results in longer waiting times and increased decoherence. </a:t>
            </a:r>
            <a:r>
              <a:rPr lang="en-US" sz="1400" b="0" i="0">
                <a:solidFill>
                  <a:srgbClr val="000000"/>
                </a:solidFill>
                <a:latin typeface="Times New Roman"/>
                <a:ea typeface="Arial"/>
                <a:cs typeface="Times New Roman"/>
              </a:rPr>
              <a:t>​</a:t>
            </a:r>
          </a:p>
          <a:p>
            <a:pPr rtl="0"/>
            <a:endParaRPr lang="en-US" sz="1600" b="0" i="0">
              <a:solidFill>
                <a:srgbClr val="000000"/>
              </a:solidFill>
              <a:latin typeface="Times New Roman"/>
              <a:ea typeface="Arial"/>
              <a:cs typeface="Times New Roman"/>
            </a:endParaRPr>
          </a:p>
        </p:txBody>
      </p:sp>
      <p:sp>
        <p:nvSpPr>
          <p:cNvPr id="12" name="TextBox 11">
            <a:extLst>
              <a:ext uri="{FF2B5EF4-FFF2-40B4-BE49-F238E27FC236}">
                <a16:creationId xmlns:a16="http://schemas.microsoft.com/office/drawing/2014/main" id="{51AE207C-7DF4-1395-F45B-FC1B8D846844}"/>
              </a:ext>
            </a:extLst>
          </p:cNvPr>
          <p:cNvSpPr txBox="1"/>
          <p:nvPr/>
        </p:nvSpPr>
        <p:spPr>
          <a:xfrm>
            <a:off x="6868583" y="4085166"/>
            <a:ext cx="5185834"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1400" b="0" i="1" u="none" strike="noStrike" baseline="0">
                <a:solidFill>
                  <a:srgbClr val="7030A0"/>
                </a:solidFill>
                <a:latin typeface="Times New Roman"/>
                <a:ea typeface="Segoe UI"/>
                <a:cs typeface="Segoe UI"/>
              </a:rPr>
              <a:t>Distributed Unified (Slow)​</a:t>
            </a:r>
            <a:r>
              <a:rPr lang="en-US" sz="1400" b="0" i="0">
                <a:solidFill>
                  <a:srgbClr val="7030A0"/>
                </a:solidFill>
                <a:latin typeface="Times New Roman"/>
                <a:ea typeface="Segoe UI"/>
                <a:cs typeface="Segoe UI"/>
              </a:rPr>
              <a:t>​</a:t>
            </a:r>
            <a:endParaRPr lang="en-US"/>
          </a:p>
          <a:p>
            <a:pPr marL="285750" lvl="0" indent="-285750" algn="l" rtl="0">
              <a:buFont typeface="Arial,Sans-Serif"/>
              <a:buChar char="•"/>
            </a:pPr>
            <a:r>
              <a:rPr lang="en-US" sz="1400" b="0" i="0" u="none" strike="noStrike" baseline="0">
                <a:solidFill>
                  <a:srgbClr val="000000"/>
                </a:solidFill>
                <a:latin typeface="Times New Roman"/>
                <a:ea typeface="Arial"/>
                <a:cs typeface="Arial"/>
              </a:rPr>
              <a:t>Advanced routing and scheduling are present. ​</a:t>
            </a:r>
            <a:r>
              <a:rPr lang="en-US" sz="1400" b="0" i="0">
                <a:solidFill>
                  <a:srgbClr val="000000"/>
                </a:solidFill>
                <a:latin typeface="Times New Roman"/>
                <a:ea typeface="Arial"/>
                <a:cs typeface="Arial"/>
              </a:rPr>
              <a:t>​</a:t>
            </a:r>
            <a:endParaRPr lang="en-US" sz="1400" b="0" i="0" dirty="0">
              <a:solidFill>
                <a:srgbClr val="000000"/>
              </a:solidFill>
              <a:latin typeface="Times New Roman"/>
              <a:ea typeface="Arial"/>
              <a:cs typeface="Arial"/>
            </a:endParaRPr>
          </a:p>
          <a:p>
            <a:pPr marL="285750" indent="-285750">
              <a:buFont typeface="Arial,Sans-Serif"/>
              <a:buChar char="•"/>
            </a:pPr>
            <a:r>
              <a:rPr lang="en-US" sz="1400" b="0" i="0" u="none" strike="noStrike" baseline="0" dirty="0">
                <a:solidFill>
                  <a:srgbClr val="000000"/>
                </a:solidFill>
                <a:latin typeface="Times New Roman"/>
                <a:ea typeface="Arial"/>
                <a:cs typeface="Arial"/>
              </a:rPr>
              <a:t>However, communication remains constrained by </a:t>
            </a:r>
            <a:r>
              <a:rPr lang="en-US" sz="1400">
                <a:solidFill>
                  <a:srgbClr val="000000"/>
                </a:solidFill>
                <a:latin typeface="Times New Roman"/>
                <a:ea typeface="Arial"/>
                <a:cs typeface="Arial"/>
              </a:rPr>
              <a:t>slow interconnects</a:t>
            </a:r>
            <a:r>
              <a:rPr lang="en-US" sz="1400" b="0" i="0" u="none" strike="noStrike" baseline="0" dirty="0">
                <a:solidFill>
                  <a:srgbClr val="000000"/>
                </a:solidFill>
                <a:latin typeface="Times New Roman"/>
                <a:ea typeface="Arial"/>
                <a:cs typeface="Arial"/>
              </a:rPr>
              <a:t>. ​</a:t>
            </a:r>
            <a:r>
              <a:rPr lang="en-US" sz="1400" b="0" i="0" dirty="0">
                <a:solidFill>
                  <a:srgbClr val="000000"/>
                </a:solidFill>
                <a:latin typeface="Times New Roman"/>
                <a:ea typeface="Arial"/>
                <a:cs typeface="Arial"/>
              </a:rPr>
              <a:t>​</a:t>
            </a:r>
          </a:p>
          <a:p>
            <a:pPr marL="285750" lvl="0" indent="-285750" algn="l" rtl="0">
              <a:buFont typeface="Arial,Sans-Serif"/>
              <a:buChar char="•"/>
            </a:pPr>
            <a:r>
              <a:rPr lang="en-US" sz="1400" b="0" i="0" u="none" strike="noStrike" baseline="0">
                <a:solidFill>
                  <a:srgbClr val="000000"/>
                </a:solidFill>
                <a:latin typeface="Times New Roman"/>
                <a:ea typeface="Arial"/>
                <a:cs typeface="Arial"/>
              </a:rPr>
              <a:t>Queueing delays eventually dominate performance. ​</a:t>
            </a:r>
            <a:r>
              <a:rPr lang="en-US" sz="1400" b="0" i="0">
                <a:solidFill>
                  <a:srgbClr val="000000"/>
                </a:solidFill>
                <a:latin typeface="Times New Roman"/>
                <a:ea typeface="Arial"/>
                <a:cs typeface="Arial"/>
              </a:rPr>
              <a:t>​</a:t>
            </a:r>
            <a:endParaRPr lang="en-US" sz="1400" b="0" i="0" dirty="0">
              <a:solidFill>
                <a:srgbClr val="000000"/>
              </a:solidFill>
              <a:latin typeface="Times New Roman"/>
              <a:ea typeface="Arial"/>
              <a:cs typeface="Arial"/>
            </a:endParaRPr>
          </a:p>
          <a:p>
            <a:pPr algn="l" rtl="0"/>
            <a:r>
              <a:rPr lang="en-US" sz="1400" b="0" i="1" u="none" strike="noStrike" baseline="0">
                <a:solidFill>
                  <a:srgbClr val="FF0000"/>
                </a:solidFill>
                <a:latin typeface="Times New Roman"/>
                <a:ea typeface="Segoe UI"/>
                <a:cs typeface="Segoe UI"/>
              </a:rPr>
              <a:t>Monolithic Architectures​</a:t>
            </a:r>
            <a:r>
              <a:rPr lang="en-US" sz="1400" b="0" i="0">
                <a:solidFill>
                  <a:srgbClr val="FF0000"/>
                </a:solidFill>
                <a:latin typeface="Times New Roman"/>
                <a:ea typeface="Segoe UI"/>
                <a:cs typeface="Segoe UI"/>
              </a:rPr>
              <a:t>​</a:t>
            </a:r>
          </a:p>
          <a:p>
            <a:pPr marL="285750" lvl="0" indent="-285750" algn="l" rtl="0">
              <a:buFont typeface="Arial,Sans-Serif"/>
              <a:buChar char="•"/>
            </a:pPr>
            <a:r>
              <a:rPr lang="en-US" sz="1400" b="0" i="0" u="none" strike="noStrike" baseline="0">
                <a:solidFill>
                  <a:srgbClr val="000000"/>
                </a:solidFill>
                <a:latin typeface="Times New Roman"/>
                <a:ea typeface="Arial"/>
                <a:cs typeface="Arial"/>
              </a:rPr>
              <a:t>Highest logical error growth. ​</a:t>
            </a:r>
            <a:r>
              <a:rPr lang="en-US" sz="1400" b="0" i="0">
                <a:solidFill>
                  <a:srgbClr val="000000"/>
                </a:solidFill>
                <a:latin typeface="Times New Roman"/>
                <a:ea typeface="Arial"/>
                <a:cs typeface="Arial"/>
              </a:rPr>
              <a:t>​</a:t>
            </a:r>
            <a:endParaRPr lang="en-US" sz="1400" b="0" i="0" dirty="0">
              <a:solidFill>
                <a:srgbClr val="000000"/>
              </a:solidFill>
              <a:latin typeface="Times New Roman"/>
              <a:ea typeface="Arial"/>
              <a:cs typeface="Arial"/>
            </a:endParaRPr>
          </a:p>
          <a:p>
            <a:pPr marL="285750" indent="-285750">
              <a:buFont typeface="Arial,Sans-Serif"/>
              <a:buChar char="•"/>
            </a:pPr>
            <a:r>
              <a:rPr lang="en-US" sz="1400" b="0" i="0" u="none" strike="noStrike" baseline="0" dirty="0">
                <a:solidFill>
                  <a:srgbClr val="000000"/>
                </a:solidFill>
                <a:latin typeface="Times New Roman"/>
                <a:ea typeface="Arial"/>
                <a:cs typeface="Arial"/>
              </a:rPr>
              <a:t>Increased crosstalk, control complexity, and routing </a:t>
            </a:r>
            <a:r>
              <a:rPr lang="en-US" sz="1400">
                <a:solidFill>
                  <a:srgbClr val="000000"/>
                </a:solidFill>
                <a:latin typeface="Times New Roman"/>
                <a:ea typeface="Arial"/>
                <a:cs typeface="Arial"/>
              </a:rPr>
              <a:t>congestion accumulate</a:t>
            </a:r>
            <a:r>
              <a:rPr lang="en-US" sz="1400" b="0" i="0" u="none" strike="noStrike" baseline="0" dirty="0">
                <a:solidFill>
                  <a:srgbClr val="000000"/>
                </a:solidFill>
                <a:latin typeface="Times New Roman"/>
                <a:ea typeface="Arial"/>
                <a:cs typeface="Arial"/>
              </a:rPr>
              <a:t> as system size increases. ​</a:t>
            </a:r>
            <a:r>
              <a:rPr lang="en-US" sz="1400" b="0" i="0" dirty="0">
                <a:solidFill>
                  <a:srgbClr val="000000"/>
                </a:solidFill>
                <a:latin typeface="Times New Roman"/>
                <a:ea typeface="Arial"/>
                <a:cs typeface="Arial"/>
              </a:rPr>
              <a:t>​</a:t>
            </a:r>
          </a:p>
          <a:p>
            <a:pPr marL="285750" lvl="0" indent="-285750" algn="l" rtl="0">
              <a:buFont typeface="Arial,Sans-Serif"/>
              <a:buChar char="•"/>
            </a:pPr>
            <a:r>
              <a:rPr lang="en-US" sz="1400" b="0" i="0" u="none" strike="noStrike" baseline="0">
                <a:solidFill>
                  <a:srgbClr val="000000"/>
                </a:solidFill>
                <a:latin typeface="Times New Roman"/>
                <a:ea typeface="Arial"/>
                <a:cs typeface="Arial"/>
              </a:rPr>
              <a:t>Scalability deteriorates rapidly at larger qubit counts.​</a:t>
            </a:r>
            <a:r>
              <a:rPr lang="en-US" sz="1400" b="0" i="0">
                <a:solidFill>
                  <a:srgbClr val="000000"/>
                </a:solidFill>
                <a:latin typeface="Times New Roman"/>
                <a:ea typeface="Arial"/>
                <a:cs typeface="Arial"/>
              </a:rPr>
              <a:t>​</a:t>
            </a:r>
          </a:p>
          <a:p>
            <a:pPr algn="l" rtl="0"/>
            <a:r>
              <a:rPr lang="en-US" sz="1800" b="0" i="0">
                <a:solidFill>
                  <a:srgbClr val="000000"/>
                </a:solidFill>
                <a:latin typeface="Aptos"/>
                <a:ea typeface="Segoe UI"/>
                <a:cs typeface="Segoe UI"/>
              </a:rPr>
              <a:t>​</a:t>
            </a:r>
          </a:p>
          <a:p>
            <a:pPr algn="ctr"/>
            <a:endParaRPr lang="en-US"/>
          </a:p>
        </p:txBody>
      </p:sp>
    </p:spTree>
    <p:extLst>
      <p:ext uri="{BB962C8B-B14F-4D97-AF65-F5344CB8AC3E}">
        <p14:creationId xmlns:p14="http://schemas.microsoft.com/office/powerpoint/2010/main" val="3316390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2FDE2-9B0E-CB2B-A12E-FEC3C5F25E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E463DE-B234-7822-FA8D-99D221DA13F6}"/>
              </a:ext>
            </a:extLst>
          </p:cNvPr>
          <p:cNvSpPr>
            <a:spLocks noGrp="1"/>
          </p:cNvSpPr>
          <p:nvPr>
            <p:ph type="title"/>
          </p:nvPr>
        </p:nvSpPr>
        <p:spPr>
          <a:xfrm>
            <a:off x="4885504" y="-229170"/>
            <a:ext cx="2032867" cy="832777"/>
          </a:xfrm>
        </p:spPr>
        <p:txBody>
          <a:bodyPr>
            <a:normAutofit/>
          </a:bodyPr>
          <a:lstStyle/>
          <a:p>
            <a:r>
              <a:rPr lang="en-US" sz="3200">
                <a:latin typeface="Times New Roman"/>
                <a:cs typeface="Times New Roman"/>
              </a:rPr>
              <a:t>Depth</a:t>
            </a:r>
            <a:r>
              <a:rPr lang="en-US" sz="3200" dirty="0">
                <a:latin typeface="Times New Roman"/>
                <a:cs typeface="Times New Roman"/>
              </a:rPr>
              <a:t> Vs n</a:t>
            </a:r>
          </a:p>
        </p:txBody>
      </p:sp>
      <p:sp>
        <p:nvSpPr>
          <p:cNvPr id="8" name="TextBox 7">
            <a:extLst>
              <a:ext uri="{FF2B5EF4-FFF2-40B4-BE49-F238E27FC236}">
                <a16:creationId xmlns:a16="http://schemas.microsoft.com/office/drawing/2014/main" id="{0116F24F-EF18-AFAF-086C-310BDB3FD28B}"/>
              </a:ext>
            </a:extLst>
          </p:cNvPr>
          <p:cNvSpPr txBox="1"/>
          <p:nvPr/>
        </p:nvSpPr>
        <p:spPr>
          <a:xfrm>
            <a:off x="1" y="6337577"/>
            <a:ext cx="1219199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solidFill>
                  <a:srgbClr val="000000"/>
                </a:solidFill>
                <a:latin typeface="Times New Roman"/>
                <a:ea typeface="+mn-lt"/>
                <a:cs typeface="Times New Roman"/>
              </a:rPr>
              <a:t>Fast communication infrastructure combined with intelligent routing and scheduling allows distributed quantum systems to approach the efficiency of direct architectures while retaining the scalability benefits of modular execution.</a:t>
            </a:r>
            <a:endParaRPr lang="en-US">
              <a:latin typeface="Times New Roman"/>
              <a:ea typeface="+mn-lt"/>
              <a:cs typeface="Times New Roman"/>
            </a:endParaRPr>
          </a:p>
        </p:txBody>
      </p:sp>
      <p:pic>
        <p:nvPicPr>
          <p:cNvPr id="4" name="Picture 3">
            <a:extLst>
              <a:ext uri="{FF2B5EF4-FFF2-40B4-BE49-F238E27FC236}">
                <a16:creationId xmlns:a16="http://schemas.microsoft.com/office/drawing/2014/main" id="{1A2BD708-61CF-DAFE-0F74-134DD47F1512}"/>
              </a:ext>
            </a:extLst>
          </p:cNvPr>
          <p:cNvPicPr>
            <a:picLocks noChangeAspect="1"/>
          </p:cNvPicPr>
          <p:nvPr/>
        </p:nvPicPr>
        <p:blipFill>
          <a:blip r:embed="rId3"/>
          <a:srcRect l="49486" t="-168" r="428" b="49891"/>
          <a:stretch>
            <a:fillRect/>
          </a:stretch>
        </p:blipFill>
        <p:spPr>
          <a:xfrm>
            <a:off x="4257618" y="345453"/>
            <a:ext cx="7939371" cy="4171681"/>
          </a:xfrm>
          <a:prstGeom prst="rect">
            <a:avLst/>
          </a:prstGeom>
        </p:spPr>
      </p:pic>
      <p:sp>
        <p:nvSpPr>
          <p:cNvPr id="9" name="TextBox 8">
            <a:extLst>
              <a:ext uri="{FF2B5EF4-FFF2-40B4-BE49-F238E27FC236}">
                <a16:creationId xmlns:a16="http://schemas.microsoft.com/office/drawing/2014/main" id="{1C30EF78-E49D-A812-6F16-37C3EB7DF1E3}"/>
              </a:ext>
            </a:extLst>
          </p:cNvPr>
          <p:cNvSpPr txBox="1"/>
          <p:nvPr/>
        </p:nvSpPr>
        <p:spPr>
          <a:xfrm>
            <a:off x="6169388" y="4650766"/>
            <a:ext cx="4963583"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Times New Roman"/>
                <a:ea typeface="+mn-lt"/>
                <a:cs typeface="Times New Roman"/>
              </a:rPr>
              <a:t>Direct (Fast)</a:t>
            </a:r>
            <a:r>
              <a:rPr lang="en-US" sz="1400">
                <a:latin typeface="Times New Roman"/>
                <a:ea typeface="+mn-lt"/>
                <a:cs typeface="Times New Roman"/>
              </a:rPr>
              <a:t> achieves the lowest circuit depth. </a:t>
            </a:r>
            <a:endParaRPr lang="en-US" sz="1400">
              <a:latin typeface="Times New Roman"/>
              <a:cs typeface="Times New Roman"/>
            </a:endParaRPr>
          </a:p>
          <a:p>
            <a:r>
              <a:rPr lang="en-US" sz="1400" b="1" i="0" u="none" strike="noStrike" baseline="0">
                <a:latin typeface="Times New Roman"/>
                <a:ea typeface="+mn-lt"/>
                <a:cs typeface="Times New Roman"/>
              </a:rPr>
              <a:t>Distributed Unified (Fast)</a:t>
            </a:r>
            <a:r>
              <a:rPr lang="en-US" sz="1400" i="0" u="none" strike="noStrike" baseline="0">
                <a:latin typeface="Times New Roman"/>
                <a:ea typeface="+mn-lt"/>
                <a:cs typeface="Times New Roman"/>
              </a:rPr>
              <a:t> </a:t>
            </a:r>
            <a:r>
              <a:rPr lang="en-US" sz="1400">
                <a:latin typeface="Times New Roman"/>
                <a:ea typeface="+mn-lt"/>
                <a:cs typeface="Times New Roman"/>
              </a:rPr>
              <a:t>achieves the second-lowest depth</a:t>
            </a:r>
            <a:r>
              <a:rPr lang="en-US" sz="1400" b="0" i="0" u="none" strike="noStrike" baseline="0">
                <a:latin typeface="Times New Roman"/>
                <a:ea typeface="+mn-lt"/>
                <a:cs typeface="Times New Roman"/>
              </a:rPr>
              <a:t>.</a:t>
            </a:r>
            <a:r>
              <a:rPr lang="en-US" sz="1400">
                <a:latin typeface="Times New Roman"/>
                <a:ea typeface="+mn-lt"/>
                <a:cs typeface="Times New Roman"/>
              </a:rPr>
              <a:t> </a:t>
            </a:r>
            <a:endParaRPr lang="en-US" sz="1400">
              <a:latin typeface="Times New Roman"/>
              <a:cs typeface="Times New Roman"/>
            </a:endParaRPr>
          </a:p>
          <a:p>
            <a:r>
              <a:rPr lang="en-US" sz="1400" b="1">
                <a:latin typeface="Times New Roman"/>
                <a:ea typeface="+mn-lt"/>
                <a:cs typeface="Times New Roman"/>
              </a:rPr>
              <a:t>Monolithic architectures</a:t>
            </a:r>
            <a:r>
              <a:rPr lang="en-US" sz="1400">
                <a:latin typeface="Times New Roman"/>
                <a:ea typeface="+mn-lt"/>
                <a:cs typeface="Times New Roman"/>
              </a:rPr>
              <a:t> exhibit substantially larger depths</a:t>
            </a:r>
            <a:r>
              <a:rPr lang="en-US" sz="1400" b="0" i="0" u="none" strike="noStrike" baseline="0">
                <a:latin typeface="Times New Roman"/>
                <a:ea typeface="+mn-lt"/>
                <a:cs typeface="Times New Roman"/>
              </a:rPr>
              <a:t>.</a:t>
            </a:r>
            <a:r>
              <a:rPr lang="en-US" sz="1400">
                <a:latin typeface="Times New Roman"/>
                <a:ea typeface="+mn-lt"/>
                <a:cs typeface="Times New Roman"/>
              </a:rPr>
              <a:t> </a:t>
            </a:r>
            <a:endParaRPr lang="en-US" sz="1400">
              <a:latin typeface="Times New Roman"/>
              <a:cs typeface="Times New Roman"/>
            </a:endParaRPr>
          </a:p>
          <a:p>
            <a:r>
              <a:rPr lang="en-US" sz="1400" b="1">
                <a:latin typeface="Times New Roman"/>
                <a:ea typeface="+mn-lt"/>
                <a:cs typeface="Times New Roman"/>
              </a:rPr>
              <a:t>Distributed Unified (Slow)</a:t>
            </a:r>
            <a:r>
              <a:rPr lang="en-US" sz="1400">
                <a:latin typeface="Times New Roman"/>
                <a:ea typeface="+mn-lt"/>
                <a:cs typeface="Times New Roman"/>
              </a:rPr>
              <a:t> shows the largest depth growth</a:t>
            </a:r>
            <a:r>
              <a:rPr lang="en-US" sz="1400" b="0" i="0" u="none" strike="noStrike" baseline="0">
                <a:latin typeface="Times New Roman"/>
                <a:ea typeface="+mn-lt"/>
                <a:cs typeface="Times New Roman"/>
              </a:rPr>
              <a:t>.</a:t>
            </a:r>
            <a:r>
              <a:rPr lang="en-US" sz="1400">
                <a:latin typeface="Times New Roman"/>
                <a:ea typeface="+mn-lt"/>
                <a:cs typeface="Times New Roman"/>
              </a:rPr>
              <a:t> </a:t>
            </a:r>
            <a:endParaRPr lang="en-US" sz="1400">
              <a:latin typeface="Times New Roman"/>
              <a:cs typeface="Times New Roman"/>
            </a:endParaRPr>
          </a:p>
        </p:txBody>
      </p:sp>
      <p:sp>
        <p:nvSpPr>
          <p:cNvPr id="11" name="TextBox 10">
            <a:extLst>
              <a:ext uri="{FF2B5EF4-FFF2-40B4-BE49-F238E27FC236}">
                <a16:creationId xmlns:a16="http://schemas.microsoft.com/office/drawing/2014/main" id="{FB5D7011-5585-ECB9-CAE8-42B3B78E6B6F}"/>
              </a:ext>
            </a:extLst>
          </p:cNvPr>
          <p:cNvSpPr txBox="1"/>
          <p:nvPr/>
        </p:nvSpPr>
        <p:spPr>
          <a:xfrm>
            <a:off x="1" y="3429001"/>
            <a:ext cx="4423834"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solidFill>
                  <a:schemeClr val="accent2"/>
                </a:solidFill>
                <a:latin typeface="Times New Roman"/>
                <a:cs typeface="Times New Roman"/>
              </a:rPr>
              <a:t>Why Does Direct (Fast) Have the Lowest Depth?</a:t>
            </a:r>
          </a:p>
          <a:p>
            <a:r>
              <a:rPr lang="en-US" sz="1400">
                <a:latin typeface="Times New Roman"/>
                <a:ea typeface="+mn-lt"/>
                <a:cs typeface="Times New Roman"/>
              </a:rPr>
              <a:t>The Direct architecture executes operations locally and therefore avoids the </a:t>
            </a:r>
            <a:r>
              <a:rPr lang="en-US" sz="1400" b="0" i="0" u="none" strike="noStrike" baseline="0">
                <a:latin typeface="Times New Roman"/>
                <a:ea typeface="+mn-lt"/>
                <a:cs typeface="Times New Roman"/>
              </a:rPr>
              <a:t>communication overhead</a:t>
            </a:r>
            <a:r>
              <a:rPr lang="en-US" sz="1400">
                <a:latin typeface="Times New Roman"/>
                <a:ea typeface="+mn-lt"/>
                <a:cs typeface="Times New Roman"/>
              </a:rPr>
              <a:t> associated with distributed execution</a:t>
            </a:r>
            <a:r>
              <a:rPr lang="en-US" sz="1400" b="0" i="0" u="none" strike="noStrike" baseline="0">
                <a:latin typeface="Times New Roman"/>
                <a:ea typeface="+mn-lt"/>
                <a:cs typeface="Times New Roman"/>
              </a:rPr>
              <a:t>.</a:t>
            </a:r>
            <a:endParaRPr lang="en-US" sz="1400" dirty="0">
              <a:latin typeface="Times New Roman"/>
              <a:ea typeface="+mn-lt"/>
              <a:cs typeface="Times New Roman"/>
            </a:endParaRPr>
          </a:p>
          <a:p>
            <a:endParaRPr lang="en-US" sz="1400" dirty="0">
              <a:latin typeface="Times New Roman"/>
              <a:ea typeface="+mn-lt"/>
              <a:cs typeface="Times New Roman"/>
            </a:endParaRPr>
          </a:p>
          <a:p>
            <a:r>
              <a:rPr lang="en-US" sz="1400">
                <a:latin typeface="Times New Roman"/>
                <a:ea typeface="+mn-lt"/>
                <a:cs typeface="Times New Roman"/>
              </a:rPr>
              <a:t>Unlike distributed systems</a:t>
            </a:r>
            <a:r>
              <a:rPr lang="en-US" sz="1400" b="0" i="0" u="none" strike="noStrike" baseline="0">
                <a:latin typeface="Times New Roman"/>
                <a:ea typeface="+mn-lt"/>
                <a:cs typeface="Times New Roman"/>
              </a:rPr>
              <a:t>, </a:t>
            </a:r>
            <a:r>
              <a:rPr lang="en-US" sz="1400">
                <a:latin typeface="Times New Roman"/>
                <a:ea typeface="+mn-lt"/>
                <a:cs typeface="Times New Roman"/>
              </a:rPr>
              <a:t>it does </a:t>
            </a:r>
            <a:r>
              <a:rPr lang="en-US" sz="1400" b="1">
                <a:latin typeface="Times New Roman"/>
                <a:ea typeface="+mn-lt"/>
                <a:cs typeface="Times New Roman"/>
              </a:rPr>
              <a:t>not require</a:t>
            </a:r>
            <a:r>
              <a:rPr lang="en-US" sz="1400">
                <a:latin typeface="Times New Roman"/>
                <a:ea typeface="+mn-lt"/>
                <a:cs typeface="Times New Roman"/>
              </a:rPr>
              <a:t>: Bell-pair generation + Quantum teleportation + Inter-node synchronization + Routing of remote operations </a:t>
            </a:r>
            <a:endParaRPr lang="en-US" sz="1400">
              <a:latin typeface="Times New Roman"/>
              <a:cs typeface="Times New Roman"/>
            </a:endParaRPr>
          </a:p>
          <a:p>
            <a:endParaRPr lang="en-US" sz="1400" dirty="0">
              <a:latin typeface="Times New Roman"/>
              <a:ea typeface="+mn-lt"/>
              <a:cs typeface="Times New Roman"/>
            </a:endParaRPr>
          </a:p>
          <a:p>
            <a:r>
              <a:rPr lang="en-US" sz="1400" dirty="0">
                <a:latin typeface="Times New Roman"/>
                <a:ea typeface="+mn-lt"/>
                <a:cs typeface="Times New Roman"/>
              </a:rPr>
              <a:t>Therefore, </a:t>
            </a:r>
            <a:r>
              <a:rPr lang="en-US" sz="1400" b="1" i="1" dirty="0" err="1">
                <a:latin typeface="Times New Roman"/>
                <a:ea typeface="+mn-lt"/>
                <a:cs typeface="Times New Roman"/>
              </a:rPr>
              <a:t>DepthDirect≈DepthLocal</a:t>
            </a:r>
            <a:r>
              <a:rPr lang="en-US" sz="1400" dirty="0">
                <a:latin typeface="Times New Roman"/>
                <a:ea typeface="+mn-lt"/>
                <a:cs typeface="Times New Roman"/>
              </a:rPr>
              <a:t>  and the overall circuit depth grows primarily due to the computational workload rather than communication delays</a:t>
            </a:r>
            <a:r>
              <a:rPr lang="en-US" sz="1400" b="0" i="0" u="none" strike="noStrike" baseline="0" dirty="0">
                <a:latin typeface="Times New Roman"/>
                <a:ea typeface="+mn-lt"/>
                <a:cs typeface="Times New Roman"/>
              </a:rPr>
              <a:t>.</a:t>
            </a:r>
            <a:endParaRPr lang="en-US" sz="1400">
              <a:latin typeface="Times New Roman"/>
              <a:ea typeface="+mn-lt"/>
              <a:cs typeface="Times New Roman"/>
            </a:endParaRPr>
          </a:p>
        </p:txBody>
      </p:sp>
      <p:sp>
        <p:nvSpPr>
          <p:cNvPr id="12" name="TextBox 11">
            <a:extLst>
              <a:ext uri="{FF2B5EF4-FFF2-40B4-BE49-F238E27FC236}">
                <a16:creationId xmlns:a16="http://schemas.microsoft.com/office/drawing/2014/main" id="{ABCF7015-C7C0-B4F1-0BFB-396995826A5F}"/>
              </a:ext>
            </a:extLst>
          </p:cNvPr>
          <p:cNvSpPr txBox="1"/>
          <p:nvPr/>
        </p:nvSpPr>
        <p:spPr>
          <a:xfrm>
            <a:off x="0" y="349249"/>
            <a:ext cx="4582584"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solidFill>
                  <a:schemeClr val="accent2">
                    <a:lumMod val="49000"/>
                  </a:schemeClr>
                </a:solidFill>
                <a:latin typeface="Times New Roman"/>
                <a:ea typeface="+mn-lt"/>
                <a:cs typeface="Times New Roman"/>
              </a:rPr>
              <a:t>Why Does Distributed Unified (Fast) Perform Well?</a:t>
            </a:r>
            <a:endParaRPr lang="en-US" b="1">
              <a:solidFill>
                <a:schemeClr val="accent2">
                  <a:lumMod val="49000"/>
                </a:schemeClr>
              </a:solidFill>
              <a:latin typeface="Times New Roman"/>
              <a:cs typeface="Times New Roman"/>
            </a:endParaRPr>
          </a:p>
          <a:p>
            <a:r>
              <a:rPr lang="en-US" sz="1400" dirty="0">
                <a:latin typeface="Times New Roman"/>
                <a:ea typeface="+mn-lt"/>
                <a:cs typeface="Times New Roman"/>
              </a:rPr>
              <a:t>Although communication is required, the unified architecture combines: </a:t>
            </a:r>
            <a:r>
              <a:rPr lang="en-US" sz="1400" b="1" dirty="0" err="1">
                <a:latin typeface="Times New Roman"/>
                <a:ea typeface="+mn-lt"/>
                <a:cs typeface="Times New Roman"/>
              </a:rPr>
              <a:t>IonQ</a:t>
            </a:r>
            <a:r>
              <a:rPr lang="en-US" sz="1400" b="1" dirty="0">
                <a:latin typeface="Times New Roman"/>
                <a:ea typeface="+mn-lt"/>
                <a:cs typeface="Times New Roman"/>
              </a:rPr>
              <a:t>-inspired multiplexing</a:t>
            </a:r>
            <a:r>
              <a:rPr lang="en-US" sz="1400" dirty="0">
                <a:latin typeface="Times New Roman"/>
                <a:ea typeface="+mn-lt"/>
                <a:cs typeface="Times New Roman"/>
              </a:rPr>
              <a:t> + </a:t>
            </a:r>
            <a:r>
              <a:rPr lang="en-US" sz="1400" b="1" dirty="0">
                <a:latin typeface="Times New Roman"/>
                <a:ea typeface="+mn-lt"/>
                <a:cs typeface="Times New Roman"/>
              </a:rPr>
              <a:t>YOUTIAO FDM/TDM </a:t>
            </a:r>
            <a:r>
              <a:rPr lang="en-US" sz="1400" b="1" i="0" u="none" strike="noStrike" baseline="0" dirty="0">
                <a:latin typeface="Times New Roman"/>
                <a:ea typeface="+mn-lt"/>
                <a:cs typeface="Times New Roman"/>
              </a:rPr>
              <a:t>scheduling</a:t>
            </a:r>
            <a:r>
              <a:rPr lang="en-US" sz="1400" dirty="0">
                <a:latin typeface="Times New Roman"/>
                <a:ea typeface="+mn-lt"/>
                <a:cs typeface="Times New Roman"/>
              </a:rPr>
              <a:t> + </a:t>
            </a:r>
            <a:r>
              <a:rPr lang="en-US" sz="1400" b="1" dirty="0" err="1">
                <a:latin typeface="Times New Roman"/>
                <a:ea typeface="+mn-lt"/>
                <a:cs typeface="Times New Roman"/>
              </a:rPr>
              <a:t>SwitchQNet</a:t>
            </a:r>
            <a:r>
              <a:rPr lang="en-US" sz="1400" b="1" dirty="0">
                <a:latin typeface="Times New Roman"/>
                <a:ea typeface="+mn-lt"/>
                <a:cs typeface="Times New Roman"/>
              </a:rPr>
              <a:t> routing optimization</a:t>
            </a:r>
            <a:r>
              <a:rPr lang="en-US" sz="1400" dirty="0">
                <a:latin typeface="Times New Roman"/>
                <a:ea typeface="+mn-lt"/>
                <a:cs typeface="Times New Roman"/>
              </a:rPr>
              <a:t> + </a:t>
            </a:r>
            <a:r>
              <a:rPr lang="en-US" sz="1400" b="1" dirty="0">
                <a:latin typeface="Times New Roman"/>
                <a:ea typeface="+mn-lt"/>
                <a:cs typeface="Times New Roman"/>
              </a:rPr>
              <a:t>Fast Bell-pair generation </a:t>
            </a:r>
            <a:endParaRPr lang="en-US" sz="1400" dirty="0">
              <a:latin typeface="Times New Roman"/>
              <a:cs typeface="Times New Roman"/>
            </a:endParaRPr>
          </a:p>
          <a:p>
            <a:endParaRPr lang="en-US" sz="1400" b="1" dirty="0">
              <a:latin typeface="Times New Roman"/>
              <a:ea typeface="+mn-lt"/>
              <a:cs typeface="Times New Roman"/>
            </a:endParaRPr>
          </a:p>
          <a:p>
            <a:r>
              <a:rPr lang="en-US" sz="1400" i="1">
                <a:latin typeface="Times New Roman"/>
                <a:ea typeface="+mn-lt"/>
                <a:cs typeface="Times New Roman"/>
              </a:rPr>
              <a:t>These mechanisms reduce: </a:t>
            </a:r>
            <a:r>
              <a:rPr lang="en-US" sz="1400" b="0" i="1" u="none" strike="noStrike" baseline="0">
                <a:latin typeface="Times New Roman"/>
                <a:ea typeface="+mn-lt"/>
                <a:cs typeface="Times New Roman"/>
              </a:rPr>
              <a:t>Queueing delays</a:t>
            </a:r>
            <a:r>
              <a:rPr lang="en-US" sz="1400" i="1">
                <a:latin typeface="Times New Roman"/>
                <a:ea typeface="+mn-lt"/>
                <a:cs typeface="Times New Roman"/>
              </a:rPr>
              <a:t>, Waiting times, Routing congestion and Resource contention </a:t>
            </a:r>
            <a:endParaRPr lang="en-US" i="1">
              <a:latin typeface="Times New Roman"/>
              <a:cs typeface="Times New Roman"/>
            </a:endParaRPr>
          </a:p>
          <a:p>
            <a:endParaRPr lang="en-US" sz="1400" i="1" dirty="0">
              <a:latin typeface="Times New Roman"/>
              <a:ea typeface="+mn-lt"/>
              <a:cs typeface="Times New Roman"/>
            </a:endParaRPr>
          </a:p>
          <a:p>
            <a:r>
              <a:rPr lang="en-US" sz="1400">
                <a:latin typeface="Times New Roman"/>
                <a:ea typeface="+mn-lt"/>
                <a:cs typeface="Times New Roman"/>
              </a:rPr>
              <a:t>As a result</a:t>
            </a:r>
            <a:r>
              <a:rPr lang="en-US" sz="1400" b="0" i="0" u="none" strike="noStrike" baseline="0">
                <a:latin typeface="Times New Roman"/>
                <a:ea typeface="+mn-lt"/>
                <a:cs typeface="Times New Roman"/>
              </a:rPr>
              <a:t>, </a:t>
            </a:r>
            <a:r>
              <a:rPr lang="en-US" sz="1400">
                <a:latin typeface="Times New Roman"/>
                <a:ea typeface="+mn-lt"/>
                <a:cs typeface="Times New Roman"/>
              </a:rPr>
              <a:t>communication overhead remains bounded</a:t>
            </a:r>
            <a:r>
              <a:rPr lang="en-US" sz="1400" b="0" i="0" u="none" strike="noStrike" baseline="0">
                <a:latin typeface="Times New Roman"/>
                <a:ea typeface="+mn-lt"/>
                <a:cs typeface="Times New Roman"/>
              </a:rPr>
              <a:t>, </a:t>
            </a:r>
            <a:r>
              <a:rPr lang="en-US" sz="1400">
                <a:latin typeface="Times New Roman"/>
                <a:ea typeface="+mn-lt"/>
                <a:cs typeface="Times New Roman"/>
              </a:rPr>
              <a:t>allowing the architecture to maintain significantly lower depth than conventional distributed systems</a:t>
            </a:r>
            <a:r>
              <a:rPr lang="en-US" sz="1400" b="0" i="0" u="none" strike="noStrike" baseline="0">
                <a:latin typeface="Times New Roman"/>
                <a:ea typeface="+mn-lt"/>
                <a:cs typeface="Times New Roman"/>
              </a:rPr>
              <a:t>.</a:t>
            </a:r>
            <a:endParaRPr lang="en-US">
              <a:latin typeface="Times New Roman"/>
              <a:ea typeface="+mn-lt"/>
              <a:cs typeface="Times New Roman"/>
            </a:endParaRPr>
          </a:p>
        </p:txBody>
      </p:sp>
    </p:spTree>
    <p:extLst>
      <p:ext uri="{BB962C8B-B14F-4D97-AF65-F5344CB8AC3E}">
        <p14:creationId xmlns:p14="http://schemas.microsoft.com/office/powerpoint/2010/main" val="3617139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6E57A-4473-A0E1-3CD3-40E4CA1A7E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0C09AA-F823-B90F-F1FA-ADD9717CEEDC}"/>
              </a:ext>
            </a:extLst>
          </p:cNvPr>
          <p:cNvSpPr>
            <a:spLocks noGrp="1"/>
          </p:cNvSpPr>
          <p:nvPr>
            <p:ph type="title"/>
          </p:nvPr>
        </p:nvSpPr>
        <p:spPr>
          <a:xfrm>
            <a:off x="2811171" y="-208003"/>
            <a:ext cx="7800782" cy="832777"/>
          </a:xfrm>
        </p:spPr>
        <p:txBody>
          <a:bodyPr>
            <a:normAutofit/>
          </a:bodyPr>
          <a:lstStyle/>
          <a:p>
            <a:r>
              <a:rPr lang="en-US" sz="3200" dirty="0">
                <a:latin typeface="Times New Roman"/>
                <a:cs typeface="Times New Roman"/>
              </a:rPr>
              <a:t>Logical Error Vs </a:t>
            </a:r>
            <a:r>
              <a:rPr lang="en-US" sz="3200">
                <a:latin typeface="Times New Roman"/>
                <a:cs typeface="Times New Roman"/>
              </a:rPr>
              <a:t>Entanglement</a:t>
            </a:r>
            <a:r>
              <a:rPr lang="en-US" sz="3200" dirty="0">
                <a:latin typeface="Times New Roman"/>
                <a:cs typeface="Times New Roman"/>
              </a:rPr>
              <a:t> Latency</a:t>
            </a:r>
          </a:p>
        </p:txBody>
      </p:sp>
      <p:sp>
        <p:nvSpPr>
          <p:cNvPr id="8" name="TextBox 7">
            <a:extLst>
              <a:ext uri="{FF2B5EF4-FFF2-40B4-BE49-F238E27FC236}">
                <a16:creationId xmlns:a16="http://schemas.microsoft.com/office/drawing/2014/main" id="{89E894A6-F8EC-FFBC-0C1E-8C284FDAD3EB}"/>
              </a:ext>
            </a:extLst>
          </p:cNvPr>
          <p:cNvSpPr txBox="1"/>
          <p:nvPr/>
        </p:nvSpPr>
        <p:spPr>
          <a:xfrm>
            <a:off x="1" y="6337577"/>
            <a:ext cx="1219199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solidFill>
                  <a:srgbClr val="000000"/>
                </a:solidFill>
                <a:latin typeface="Times New Roman"/>
                <a:ea typeface="+mn-lt"/>
                <a:cs typeface="Times New Roman"/>
              </a:rPr>
              <a:t>This suggests that scalable distributed quantum systems require not only fast communication links but also intelligent routing, multiplexing, and resource scheduling to maintain logical stability as network latency increases.</a:t>
            </a:r>
            <a:endParaRPr lang="en-US" sz="1400" i="1">
              <a:latin typeface="Times New Roman"/>
              <a:ea typeface="+mn-lt"/>
              <a:cs typeface="Times New Roman"/>
            </a:endParaRPr>
          </a:p>
        </p:txBody>
      </p:sp>
      <p:pic>
        <p:nvPicPr>
          <p:cNvPr id="4" name="Picture 3">
            <a:extLst>
              <a:ext uri="{FF2B5EF4-FFF2-40B4-BE49-F238E27FC236}">
                <a16:creationId xmlns:a16="http://schemas.microsoft.com/office/drawing/2014/main" id="{FED6BD66-6CF0-EF4D-5DBD-85935AC79F2F}"/>
              </a:ext>
            </a:extLst>
          </p:cNvPr>
          <p:cNvPicPr>
            <a:picLocks noChangeAspect="1"/>
          </p:cNvPicPr>
          <p:nvPr/>
        </p:nvPicPr>
        <p:blipFill>
          <a:blip r:embed="rId3"/>
          <a:srcRect l="67" t="49936" r="49886" b="128"/>
          <a:stretch>
            <a:fillRect/>
          </a:stretch>
        </p:blipFill>
        <p:spPr>
          <a:xfrm>
            <a:off x="4257618" y="440703"/>
            <a:ext cx="7933220" cy="4143420"/>
          </a:xfrm>
          <a:prstGeom prst="rect">
            <a:avLst/>
          </a:prstGeom>
        </p:spPr>
      </p:pic>
      <p:sp>
        <p:nvSpPr>
          <p:cNvPr id="9" name="TextBox 8">
            <a:extLst>
              <a:ext uri="{FF2B5EF4-FFF2-40B4-BE49-F238E27FC236}">
                <a16:creationId xmlns:a16="http://schemas.microsoft.com/office/drawing/2014/main" id="{C4E4A105-0FF5-C0C0-3AEE-D67A5B49F143}"/>
              </a:ext>
            </a:extLst>
          </p:cNvPr>
          <p:cNvSpPr txBox="1"/>
          <p:nvPr/>
        </p:nvSpPr>
        <p:spPr>
          <a:xfrm>
            <a:off x="3883388" y="4883600"/>
            <a:ext cx="3407833"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7030A0"/>
                </a:solidFill>
                <a:latin typeface="Times New Roman"/>
                <a:cs typeface="Times New Roman"/>
              </a:rPr>
              <a:t>Distributed Unified Slow</a:t>
            </a:r>
            <a:endParaRPr lang="en-US"/>
          </a:p>
          <a:p>
            <a:r>
              <a:rPr lang="en-US" sz="1400">
                <a:latin typeface="Times New Roman"/>
                <a:ea typeface="+mn-lt"/>
                <a:cs typeface="Times New Roman"/>
              </a:rPr>
              <a:t>Although advanced routing and multiplexing are available, slower interconnects increase queueing delays and waiting time, resulting in higher logical error</a:t>
            </a:r>
            <a:r>
              <a:rPr lang="en-US" sz="1400" b="0" i="0" u="none" strike="noStrike" baseline="0">
                <a:latin typeface="Times New Roman"/>
                <a:ea typeface="+mn-lt"/>
                <a:cs typeface="Times New Roman"/>
              </a:rPr>
              <a:t>.</a:t>
            </a:r>
            <a:endParaRPr lang="en-US" sz="1400">
              <a:latin typeface="Times New Roman"/>
              <a:ea typeface="+mn-lt"/>
              <a:cs typeface="Times New Roman"/>
            </a:endParaRPr>
          </a:p>
        </p:txBody>
      </p:sp>
      <p:sp>
        <p:nvSpPr>
          <p:cNvPr id="12" name="TextBox 11">
            <a:extLst>
              <a:ext uri="{FF2B5EF4-FFF2-40B4-BE49-F238E27FC236}">
                <a16:creationId xmlns:a16="http://schemas.microsoft.com/office/drawing/2014/main" id="{8DEF891E-FF6A-9E3E-0BF7-5A8F33C23FB0}"/>
              </a:ext>
            </a:extLst>
          </p:cNvPr>
          <p:cNvSpPr txBox="1"/>
          <p:nvPr/>
        </p:nvSpPr>
        <p:spPr>
          <a:xfrm>
            <a:off x="0" y="444499"/>
            <a:ext cx="4582584" cy="31085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Times New Roman"/>
                <a:ea typeface="+mn-lt"/>
                <a:cs typeface="Times New Roman"/>
              </a:rPr>
              <a:t>The</a:t>
            </a:r>
            <a:r>
              <a:rPr lang="en-US" sz="1400" dirty="0">
                <a:solidFill>
                  <a:schemeClr val="accent2">
                    <a:lumMod val="49000"/>
                  </a:schemeClr>
                </a:solidFill>
                <a:latin typeface="Times New Roman"/>
                <a:ea typeface="+mn-lt"/>
                <a:cs typeface="Times New Roman"/>
              </a:rPr>
              <a:t> </a:t>
            </a:r>
            <a:r>
              <a:rPr lang="en-US" sz="1400" b="1">
                <a:solidFill>
                  <a:schemeClr val="accent2">
                    <a:lumMod val="49000"/>
                  </a:schemeClr>
                </a:solidFill>
                <a:latin typeface="Times New Roman"/>
                <a:ea typeface="+mn-lt"/>
                <a:cs typeface="Times New Roman"/>
              </a:rPr>
              <a:t>Distributed Unified (Fast)</a:t>
            </a:r>
            <a:r>
              <a:rPr lang="en-US" sz="1400">
                <a:latin typeface="Times New Roman"/>
                <a:ea typeface="+mn-lt"/>
                <a:cs typeface="Times New Roman"/>
              </a:rPr>
              <a:t> architecture maintains the </a:t>
            </a:r>
            <a:r>
              <a:rPr lang="en-US" sz="1400" b="1">
                <a:latin typeface="Times New Roman"/>
                <a:ea typeface="+mn-lt"/>
                <a:cs typeface="Times New Roman"/>
              </a:rPr>
              <a:t>lowest and most stable logical error rate</a:t>
            </a:r>
            <a:r>
              <a:rPr lang="en-US" sz="1400">
                <a:latin typeface="Times New Roman"/>
                <a:ea typeface="+mn-lt"/>
                <a:cs typeface="Times New Roman"/>
              </a:rPr>
              <a:t> across the entire range of entanglement latency values.</a:t>
            </a:r>
            <a:endParaRPr lang="en-US" sz="1400">
              <a:latin typeface="Times New Roman"/>
              <a:cs typeface="Times New Roman"/>
            </a:endParaRPr>
          </a:p>
          <a:p>
            <a:r>
              <a:rPr lang="en-US" sz="1400">
                <a:latin typeface="Times New Roman"/>
                <a:ea typeface="+mn-lt"/>
                <a:cs typeface="Times New Roman"/>
              </a:rPr>
              <a:t>The slope of the curve is nearly flat</a:t>
            </a:r>
            <a:r>
              <a:rPr lang="en-US" sz="1400" b="0" i="0" u="none" strike="noStrike" baseline="0">
                <a:latin typeface="Times New Roman"/>
                <a:ea typeface="+mn-lt"/>
                <a:cs typeface="Times New Roman"/>
              </a:rPr>
              <a:t>, </a:t>
            </a:r>
            <a:r>
              <a:rPr lang="en-US" sz="1400">
                <a:latin typeface="Times New Roman"/>
                <a:ea typeface="+mn-lt"/>
                <a:cs typeface="Times New Roman"/>
              </a:rPr>
              <a:t>indicating minimal sensitivity to increasing communication delay</a:t>
            </a:r>
            <a:r>
              <a:rPr lang="en-US" sz="1400" b="0" i="0" u="none" strike="noStrike" baseline="0">
                <a:latin typeface="Times New Roman"/>
                <a:ea typeface="+mn-lt"/>
                <a:cs typeface="Times New Roman"/>
              </a:rPr>
              <a:t>.</a:t>
            </a:r>
            <a:endParaRPr lang="en-US" sz="1400" dirty="0">
              <a:latin typeface="Times New Roman"/>
              <a:ea typeface="+mn-lt"/>
              <a:cs typeface="Times New Roman"/>
            </a:endParaRPr>
          </a:p>
          <a:p>
            <a:endParaRPr lang="en-US" sz="1400" dirty="0">
              <a:latin typeface="Times New Roman"/>
              <a:ea typeface="+mn-lt"/>
              <a:cs typeface="Times New Roman"/>
            </a:endParaRPr>
          </a:p>
          <a:p>
            <a:r>
              <a:rPr lang="en-US" sz="1400" dirty="0">
                <a:latin typeface="Times New Roman"/>
                <a:ea typeface="+mn-lt"/>
                <a:cs typeface="Times New Roman"/>
              </a:rPr>
              <a:t>The architecture combines: </a:t>
            </a:r>
            <a:r>
              <a:rPr lang="en-US" sz="1400" b="1" dirty="0">
                <a:latin typeface="Times New Roman"/>
                <a:ea typeface="+mn-lt"/>
                <a:cs typeface="Times New Roman"/>
              </a:rPr>
              <a:t>High-rate Bell-pair generation</a:t>
            </a:r>
            <a:r>
              <a:rPr lang="en-US" sz="1400" dirty="0">
                <a:latin typeface="Times New Roman"/>
                <a:ea typeface="+mn-lt"/>
                <a:cs typeface="Times New Roman"/>
              </a:rPr>
              <a:t> + </a:t>
            </a:r>
            <a:r>
              <a:rPr lang="en-US" sz="1400" b="1" dirty="0" err="1">
                <a:latin typeface="Times New Roman"/>
                <a:ea typeface="+mn-lt"/>
                <a:cs typeface="Times New Roman"/>
              </a:rPr>
              <a:t>IonQ</a:t>
            </a:r>
            <a:r>
              <a:rPr lang="en-US" sz="1400" b="1" dirty="0">
                <a:latin typeface="Times New Roman"/>
                <a:ea typeface="+mn-lt"/>
                <a:cs typeface="Times New Roman"/>
              </a:rPr>
              <a:t>-inspired communication multiplexing</a:t>
            </a:r>
            <a:r>
              <a:rPr lang="en-US" sz="1400" dirty="0">
                <a:latin typeface="Times New Roman"/>
                <a:ea typeface="+mn-lt"/>
                <a:cs typeface="Times New Roman"/>
              </a:rPr>
              <a:t> + </a:t>
            </a:r>
            <a:r>
              <a:rPr lang="en-US" sz="1400" b="1" dirty="0">
                <a:latin typeface="Times New Roman"/>
                <a:ea typeface="+mn-lt"/>
                <a:cs typeface="Times New Roman"/>
              </a:rPr>
              <a:t>YOUTIAO FDM/TDM scheduling</a:t>
            </a:r>
            <a:r>
              <a:rPr lang="en-US" sz="1400" dirty="0">
                <a:latin typeface="Times New Roman"/>
                <a:ea typeface="+mn-lt"/>
                <a:cs typeface="Times New Roman"/>
              </a:rPr>
              <a:t> + </a:t>
            </a:r>
            <a:r>
              <a:rPr lang="en-US" sz="1400" b="1" dirty="0" err="1">
                <a:latin typeface="Times New Roman"/>
                <a:ea typeface="+mn-lt"/>
                <a:cs typeface="Times New Roman"/>
              </a:rPr>
              <a:t>SwitchQNet</a:t>
            </a:r>
            <a:r>
              <a:rPr lang="en-US" sz="1400" b="1" dirty="0">
                <a:latin typeface="Times New Roman"/>
                <a:ea typeface="+mn-lt"/>
                <a:cs typeface="Times New Roman"/>
              </a:rPr>
              <a:t> intelligent routing</a:t>
            </a:r>
            <a:r>
              <a:rPr lang="en-US" sz="1400" dirty="0">
                <a:latin typeface="Times New Roman"/>
                <a:ea typeface="+mn-lt"/>
                <a:cs typeface="Times New Roman"/>
              </a:rPr>
              <a:t> </a:t>
            </a:r>
            <a:endParaRPr lang="en-US" sz="1400">
              <a:latin typeface="Times New Roman"/>
              <a:cs typeface="Times New Roman"/>
            </a:endParaRPr>
          </a:p>
          <a:p>
            <a:endParaRPr lang="en-US" sz="1400" dirty="0">
              <a:latin typeface="Times New Roman"/>
              <a:ea typeface="+mn-lt"/>
              <a:cs typeface="Times New Roman"/>
            </a:endParaRPr>
          </a:p>
          <a:p>
            <a:r>
              <a:rPr lang="en-US" sz="1400" dirty="0">
                <a:latin typeface="Times New Roman"/>
                <a:ea typeface="+mn-lt"/>
                <a:cs typeface="Times New Roman"/>
              </a:rPr>
              <a:t>Together these mechanisms reduce Waiting time for entanglement resources, Communication congestion, Queue </a:t>
            </a:r>
            <a:r>
              <a:rPr lang="en-US" sz="1400">
                <a:latin typeface="Times New Roman"/>
                <a:ea typeface="+mn-lt"/>
                <a:cs typeface="Times New Roman"/>
              </a:rPr>
              <a:t>build-up and Synchronization overhead.</a:t>
            </a:r>
            <a:endParaRPr lang="en-US" sz="1400">
              <a:latin typeface="Times New Roman"/>
              <a:cs typeface="Times New Roman"/>
            </a:endParaRPr>
          </a:p>
        </p:txBody>
      </p:sp>
      <p:sp>
        <p:nvSpPr>
          <p:cNvPr id="3" name="TextBox 2">
            <a:extLst>
              <a:ext uri="{FF2B5EF4-FFF2-40B4-BE49-F238E27FC236}">
                <a16:creationId xmlns:a16="http://schemas.microsoft.com/office/drawing/2014/main" id="{67485AC7-D92B-EEA7-04A8-F5220154C2BB}"/>
              </a:ext>
            </a:extLst>
          </p:cNvPr>
          <p:cNvSpPr txBox="1"/>
          <p:nvPr/>
        </p:nvSpPr>
        <p:spPr>
          <a:xfrm>
            <a:off x="1195917" y="3788834"/>
            <a:ext cx="3058584"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US" sz="1400" b="0" i="0" u="none" strike="noStrike" baseline="0">
                <a:solidFill>
                  <a:srgbClr val="E97132"/>
                </a:solidFill>
                <a:latin typeface="Times New Roman"/>
                <a:ea typeface="Segoe UI"/>
                <a:cs typeface="Segoe UI"/>
              </a:rPr>
              <a:t>Direct Fast</a:t>
            </a:r>
            <a:r>
              <a:rPr lang="en-US" sz="1400" b="0" i="0">
                <a:solidFill>
                  <a:srgbClr val="000000"/>
                </a:solidFill>
                <a:latin typeface="Times New Roman"/>
                <a:ea typeface="Segoe UI"/>
                <a:cs typeface="Segoe UI"/>
              </a:rPr>
              <a:t>​</a:t>
            </a:r>
          </a:p>
          <a:p>
            <a:pPr algn="l" rtl="0"/>
            <a:r>
              <a:rPr lang="en-US" sz="1400" b="0" i="0" u="none" strike="noStrike" baseline="0" dirty="0">
                <a:solidFill>
                  <a:srgbClr val="000000"/>
                </a:solidFill>
                <a:latin typeface="Times New Roman"/>
                <a:ea typeface="Segoe UI"/>
                <a:cs typeface="Segoe UI"/>
              </a:rPr>
              <a:t>Also exhibits low sensitivity to increasing </a:t>
            </a:r>
            <a:r>
              <a:rPr lang="en-US" sz="1400" b="0" i="0" u="none" strike="noStrike" baseline="0" dirty="0" err="1">
                <a:solidFill>
                  <a:srgbClr val="000000"/>
                </a:solidFill>
                <a:latin typeface="Times New Roman"/>
                <a:ea typeface="Segoe UI"/>
                <a:cs typeface="Segoe UI"/>
              </a:rPr>
              <a:t>τe</a:t>
            </a:r>
            <a:r>
              <a:rPr lang="en-US" sz="1400" b="0" i="0" u="none" strike="noStrike" baseline="0" dirty="0">
                <a:solidFill>
                  <a:srgbClr val="000000"/>
                </a:solidFill>
                <a:latin typeface="Times New Roman"/>
                <a:ea typeface="Segoe UI"/>
                <a:cs typeface="Segoe UI"/>
              </a:rPr>
              <a:t> because high-bandwidth communication minimizes latency overhead.</a:t>
            </a:r>
            <a:r>
              <a:rPr lang="en-US" sz="1400" b="0" i="0" dirty="0">
                <a:solidFill>
                  <a:srgbClr val="000000"/>
                </a:solidFill>
                <a:latin typeface="Times New Roman"/>
                <a:ea typeface="Segoe UI"/>
                <a:cs typeface="Segoe UI"/>
              </a:rPr>
              <a:t>​</a:t>
            </a:r>
          </a:p>
          <a:p>
            <a:pPr algn="l" rtl="0"/>
            <a:r>
              <a:rPr lang="en-US" sz="1400" b="0" i="0">
                <a:solidFill>
                  <a:srgbClr val="000000"/>
                </a:solidFill>
                <a:latin typeface="Times New Roman"/>
                <a:ea typeface="Segoe UI"/>
                <a:cs typeface="Segoe UI"/>
              </a:rPr>
              <a:t>​</a:t>
            </a:r>
          </a:p>
        </p:txBody>
      </p:sp>
      <p:sp>
        <p:nvSpPr>
          <p:cNvPr id="5" name="TextBox 4">
            <a:extLst>
              <a:ext uri="{FF2B5EF4-FFF2-40B4-BE49-F238E27FC236}">
                <a16:creationId xmlns:a16="http://schemas.microsoft.com/office/drawing/2014/main" id="{5648BC88-DA1E-A990-94BE-DD32038AFA72}"/>
              </a:ext>
            </a:extLst>
          </p:cNvPr>
          <p:cNvSpPr txBox="1"/>
          <p:nvPr/>
        </p:nvSpPr>
        <p:spPr>
          <a:xfrm>
            <a:off x="8382000" y="4773082"/>
            <a:ext cx="3291417"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US" sz="1400" b="0" i="0" u="none" strike="noStrike" baseline="0">
                <a:solidFill>
                  <a:srgbClr val="FF0000"/>
                </a:solidFill>
                <a:latin typeface="Times New Roman"/>
                <a:ea typeface="Segoe UI"/>
                <a:cs typeface="Segoe UI"/>
              </a:rPr>
              <a:t>Monolithic Architectures</a:t>
            </a:r>
            <a:r>
              <a:rPr lang="en-US" sz="1400" b="0" i="0">
                <a:solidFill>
                  <a:srgbClr val="000000"/>
                </a:solidFill>
                <a:latin typeface="Times New Roman"/>
                <a:ea typeface="Segoe UI"/>
                <a:cs typeface="Segoe UI"/>
              </a:rPr>
              <a:t>​</a:t>
            </a:r>
          </a:p>
          <a:p>
            <a:pPr algn="l" rtl="0"/>
            <a:r>
              <a:rPr lang="en-US" sz="1400" b="0" i="0" u="none" strike="noStrike" baseline="0">
                <a:solidFill>
                  <a:srgbClr val="000000"/>
                </a:solidFill>
                <a:latin typeface="Times New Roman"/>
                <a:ea typeface="Segoe UI"/>
                <a:cs typeface="Segoe UI"/>
              </a:rPr>
              <a:t>Show the highest logical error rates due to:</a:t>
            </a:r>
            <a:r>
              <a:rPr lang="en-US" sz="1400" b="0" i="0">
                <a:solidFill>
                  <a:srgbClr val="000000"/>
                </a:solidFill>
                <a:latin typeface="Times New Roman"/>
                <a:ea typeface="Segoe UI"/>
                <a:cs typeface="Segoe UI"/>
              </a:rPr>
              <a:t>​</a:t>
            </a:r>
          </a:p>
          <a:p>
            <a:pPr marL="285750" lvl="0" indent="-285750" algn="l" rtl="0">
              <a:buFont typeface="Arial,Sans-Serif"/>
              <a:buChar char="•"/>
            </a:pPr>
            <a:r>
              <a:rPr lang="en-US" sz="1400" b="0" i="0" u="none" strike="noStrike" baseline="0">
                <a:solidFill>
                  <a:srgbClr val="000000"/>
                </a:solidFill>
                <a:latin typeface="Times New Roman"/>
                <a:ea typeface="Arial"/>
                <a:cs typeface="Arial"/>
              </a:rPr>
              <a:t>Control complexity </a:t>
            </a:r>
            <a:r>
              <a:rPr lang="en-US" sz="1400" b="0" i="0">
                <a:solidFill>
                  <a:srgbClr val="000000"/>
                </a:solidFill>
                <a:latin typeface="Times New Roman"/>
                <a:ea typeface="Arial"/>
                <a:cs typeface="Arial"/>
              </a:rPr>
              <a:t>​</a:t>
            </a:r>
          </a:p>
          <a:p>
            <a:pPr marL="285750" lvl="0" indent="-285750" algn="l" rtl="0">
              <a:buFont typeface="Arial,Sans-Serif"/>
              <a:buChar char="•"/>
            </a:pPr>
            <a:r>
              <a:rPr lang="en-US" sz="1400" b="0" i="0" u="none" strike="noStrike" baseline="0">
                <a:solidFill>
                  <a:srgbClr val="000000"/>
                </a:solidFill>
                <a:latin typeface="Times New Roman"/>
                <a:ea typeface="Arial"/>
                <a:cs typeface="Arial"/>
              </a:rPr>
              <a:t>Crosstalk accumulation </a:t>
            </a:r>
            <a:r>
              <a:rPr lang="en-US" sz="1400" b="0" i="0">
                <a:solidFill>
                  <a:srgbClr val="000000"/>
                </a:solidFill>
                <a:latin typeface="Times New Roman"/>
                <a:ea typeface="Arial"/>
                <a:cs typeface="Arial"/>
              </a:rPr>
              <a:t>​</a:t>
            </a:r>
          </a:p>
          <a:p>
            <a:pPr marL="285750" lvl="0" indent="-285750" algn="l" rtl="0">
              <a:buFont typeface="Arial,Sans-Serif"/>
              <a:buChar char="•"/>
            </a:pPr>
            <a:r>
              <a:rPr lang="en-US" sz="1400" b="0" i="0" u="none" strike="noStrike" baseline="0">
                <a:solidFill>
                  <a:srgbClr val="000000"/>
                </a:solidFill>
                <a:latin typeface="Times New Roman"/>
                <a:ea typeface="Arial"/>
                <a:cs typeface="Arial"/>
              </a:rPr>
              <a:t>Routing contention </a:t>
            </a:r>
            <a:r>
              <a:rPr lang="en-US" sz="1400" b="0" i="0">
                <a:solidFill>
                  <a:srgbClr val="000000"/>
                </a:solidFill>
                <a:latin typeface="Times New Roman"/>
                <a:ea typeface="Arial"/>
                <a:cs typeface="Arial"/>
              </a:rPr>
              <a:t>​</a:t>
            </a:r>
          </a:p>
          <a:p>
            <a:pPr marL="285750" lvl="0" indent="-285750" algn="l" rtl="0">
              <a:buFont typeface="Arial,Sans-Serif"/>
              <a:buChar char="•"/>
            </a:pPr>
            <a:r>
              <a:rPr lang="en-US" sz="1400" b="0" i="0" u="none" strike="noStrike" baseline="0">
                <a:solidFill>
                  <a:srgbClr val="000000"/>
                </a:solidFill>
                <a:latin typeface="Times New Roman"/>
                <a:ea typeface="Arial"/>
                <a:cs typeface="Arial"/>
              </a:rPr>
              <a:t>Increased qubit interaction overhead </a:t>
            </a:r>
          </a:p>
        </p:txBody>
      </p:sp>
      <p:sp>
        <p:nvSpPr>
          <p:cNvPr id="6" name="TextBox 5">
            <a:extLst>
              <a:ext uri="{FF2B5EF4-FFF2-40B4-BE49-F238E27FC236}">
                <a16:creationId xmlns:a16="http://schemas.microsoft.com/office/drawing/2014/main" id="{D333929C-E1D8-9E70-939B-D638350C2BF2}"/>
              </a:ext>
            </a:extLst>
          </p:cNvPr>
          <p:cNvSpPr txBox="1"/>
          <p:nvPr/>
        </p:nvSpPr>
        <p:spPr>
          <a:xfrm>
            <a:off x="0" y="4847166"/>
            <a:ext cx="3217334"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US" sz="1400" b="0" i="0" u="none" strike="noStrike" baseline="0">
                <a:solidFill>
                  <a:srgbClr val="00B0F0"/>
                </a:solidFill>
                <a:latin typeface="Times New Roman"/>
                <a:ea typeface="Segoe UI"/>
                <a:cs typeface="Segoe UI"/>
              </a:rPr>
              <a:t>Direct Slow</a:t>
            </a:r>
            <a:r>
              <a:rPr lang="en-US" sz="1400" b="0" i="0" u="none" strike="noStrike" baseline="0">
                <a:solidFill>
                  <a:srgbClr val="000000"/>
                </a:solidFill>
                <a:latin typeface="Times New Roman"/>
                <a:ea typeface="Segoe UI"/>
                <a:cs typeface="Segoe UI"/>
              </a:rPr>
              <a:t>​</a:t>
            </a:r>
            <a:r>
              <a:rPr lang="en-US" sz="1400" b="0" i="0">
                <a:solidFill>
                  <a:srgbClr val="000000"/>
                </a:solidFill>
                <a:latin typeface="Times New Roman"/>
                <a:ea typeface="Segoe UI"/>
                <a:cs typeface="Segoe UI"/>
              </a:rPr>
              <a:t>​</a:t>
            </a:r>
          </a:p>
          <a:p>
            <a:r>
              <a:rPr lang="en-US" sz="1400" b="0" i="0" u="none" strike="noStrike" baseline="0" dirty="0">
                <a:solidFill>
                  <a:srgbClr val="000000"/>
                </a:solidFill>
                <a:latin typeface="Times New Roman"/>
                <a:ea typeface="Segoe UI"/>
                <a:cs typeface="Segoe UI"/>
              </a:rPr>
              <a:t>Logical error gradually increases as </a:t>
            </a:r>
            <a:r>
              <a:rPr lang="en-US" sz="1400">
                <a:solidFill>
                  <a:srgbClr val="000000"/>
                </a:solidFill>
                <a:latin typeface="Times New Roman"/>
                <a:ea typeface="Segoe UI"/>
                <a:cs typeface="Segoe UI"/>
              </a:rPr>
              <a:t>longer communication</a:t>
            </a:r>
            <a:r>
              <a:rPr lang="en-US" sz="1400" b="0" i="0" u="none" strike="noStrike" baseline="0" dirty="0">
                <a:solidFill>
                  <a:srgbClr val="000000"/>
                </a:solidFill>
                <a:latin typeface="Times New Roman"/>
                <a:ea typeface="Segoe UI"/>
                <a:cs typeface="Segoe UI"/>
              </a:rPr>
              <a:t> delays expose qubits to </a:t>
            </a:r>
            <a:r>
              <a:rPr lang="en-US" sz="1400">
                <a:solidFill>
                  <a:srgbClr val="000000"/>
                </a:solidFill>
                <a:latin typeface="Times New Roman"/>
                <a:ea typeface="Segoe UI"/>
                <a:cs typeface="Segoe UI"/>
              </a:rPr>
              <a:t>additional decoherence</a:t>
            </a:r>
            <a:r>
              <a:rPr lang="en-US" sz="1400" b="0" i="0" u="none" strike="noStrike" baseline="0" dirty="0">
                <a:solidFill>
                  <a:srgbClr val="000000"/>
                </a:solidFill>
                <a:latin typeface="Times New Roman"/>
                <a:ea typeface="Segoe UI"/>
                <a:cs typeface="Segoe UI"/>
              </a:rPr>
              <a:t>.​</a:t>
            </a:r>
            <a:r>
              <a:rPr lang="en-US" sz="1400" b="0" i="0" dirty="0">
                <a:solidFill>
                  <a:srgbClr val="000000"/>
                </a:solidFill>
                <a:latin typeface="Times New Roman"/>
                <a:ea typeface="Segoe UI"/>
                <a:cs typeface="Segoe UI"/>
              </a:rPr>
              <a:t>​</a:t>
            </a:r>
          </a:p>
          <a:p>
            <a:pPr algn="ctr"/>
            <a:endParaRPr lang="en-US"/>
          </a:p>
        </p:txBody>
      </p:sp>
    </p:spTree>
    <p:extLst>
      <p:ext uri="{BB962C8B-B14F-4D97-AF65-F5344CB8AC3E}">
        <p14:creationId xmlns:p14="http://schemas.microsoft.com/office/powerpoint/2010/main" val="3479661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20158-8117-0FBE-CCBF-4DF6249496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8D6F15-8B40-FA36-A0DE-EEF9295D4A91}"/>
              </a:ext>
            </a:extLst>
          </p:cNvPr>
          <p:cNvSpPr>
            <a:spLocks noGrp="1"/>
          </p:cNvSpPr>
          <p:nvPr>
            <p:ph type="title"/>
          </p:nvPr>
        </p:nvSpPr>
        <p:spPr>
          <a:xfrm>
            <a:off x="2811171" y="-208003"/>
            <a:ext cx="7800782" cy="832777"/>
          </a:xfrm>
        </p:spPr>
        <p:txBody>
          <a:bodyPr>
            <a:normAutofit/>
          </a:bodyPr>
          <a:lstStyle/>
          <a:p>
            <a:r>
              <a:rPr lang="en-US" sz="3200">
                <a:latin typeface="Times New Roman"/>
                <a:cs typeface="Times New Roman"/>
              </a:rPr>
              <a:t>Depth</a:t>
            </a:r>
            <a:r>
              <a:rPr lang="en-US" sz="3200" dirty="0">
                <a:latin typeface="Times New Roman"/>
                <a:cs typeface="Times New Roman"/>
              </a:rPr>
              <a:t> Vs Entanglement Latency</a:t>
            </a:r>
          </a:p>
        </p:txBody>
      </p:sp>
      <p:sp>
        <p:nvSpPr>
          <p:cNvPr id="8" name="TextBox 7">
            <a:extLst>
              <a:ext uri="{FF2B5EF4-FFF2-40B4-BE49-F238E27FC236}">
                <a16:creationId xmlns:a16="http://schemas.microsoft.com/office/drawing/2014/main" id="{F5854D05-45DA-E470-7B92-B5A918922192}"/>
              </a:ext>
            </a:extLst>
          </p:cNvPr>
          <p:cNvSpPr txBox="1"/>
          <p:nvPr/>
        </p:nvSpPr>
        <p:spPr>
          <a:xfrm>
            <a:off x="1" y="6337577"/>
            <a:ext cx="1219199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i="1">
                <a:solidFill>
                  <a:srgbClr val="000000"/>
                </a:solidFill>
                <a:latin typeface="Times New Roman"/>
                <a:ea typeface="+mn-lt"/>
                <a:cs typeface="Times New Roman"/>
              </a:rPr>
              <a:t>Fast communication infrastructure is essential for scalable distributed quantum computing. </a:t>
            </a:r>
            <a:r>
              <a:rPr lang="en-US" sz="1400" i="1">
                <a:solidFill>
                  <a:srgbClr val="000000"/>
                </a:solidFill>
                <a:latin typeface="Times New Roman"/>
                <a:ea typeface="+mn-lt"/>
                <a:cs typeface="Times New Roman"/>
              </a:rPr>
              <a:t>When combined with intelligent routing, multiplexing, and resource scheduling, distributed architectures can maintain near-linear depth scaling even under increasing entanglement latency.</a:t>
            </a:r>
            <a:endParaRPr lang="en-US" i="1">
              <a:latin typeface="Times New Roman"/>
              <a:ea typeface="+mn-lt"/>
              <a:cs typeface="Times New Roman"/>
            </a:endParaRPr>
          </a:p>
        </p:txBody>
      </p:sp>
      <p:pic>
        <p:nvPicPr>
          <p:cNvPr id="4" name="Picture 3">
            <a:extLst>
              <a:ext uri="{FF2B5EF4-FFF2-40B4-BE49-F238E27FC236}">
                <a16:creationId xmlns:a16="http://schemas.microsoft.com/office/drawing/2014/main" id="{D08EB4FE-93FF-4111-CC5E-30BD4841E120}"/>
              </a:ext>
            </a:extLst>
          </p:cNvPr>
          <p:cNvPicPr>
            <a:picLocks noChangeAspect="1"/>
          </p:cNvPicPr>
          <p:nvPr/>
        </p:nvPicPr>
        <p:blipFill>
          <a:blip r:embed="rId3"/>
          <a:srcRect l="49527" t="50377" r="394" b="819"/>
          <a:stretch>
            <a:fillRect/>
          </a:stretch>
        </p:blipFill>
        <p:spPr>
          <a:xfrm>
            <a:off x="4257618" y="540637"/>
            <a:ext cx="7938198" cy="4049427"/>
          </a:xfrm>
          <a:prstGeom prst="rect">
            <a:avLst/>
          </a:prstGeom>
        </p:spPr>
      </p:pic>
      <p:sp>
        <p:nvSpPr>
          <p:cNvPr id="12" name="TextBox 11">
            <a:extLst>
              <a:ext uri="{FF2B5EF4-FFF2-40B4-BE49-F238E27FC236}">
                <a16:creationId xmlns:a16="http://schemas.microsoft.com/office/drawing/2014/main" id="{D663FAE3-2922-C6C9-31BA-7839695BB5FA}"/>
              </a:ext>
            </a:extLst>
          </p:cNvPr>
          <p:cNvSpPr txBox="1"/>
          <p:nvPr/>
        </p:nvSpPr>
        <p:spPr>
          <a:xfrm>
            <a:off x="0" y="769286"/>
            <a:ext cx="4582584"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latin typeface="Times New Roman"/>
                <a:ea typeface="+mn-lt"/>
                <a:cs typeface="Times New Roman"/>
              </a:rPr>
              <a:t>As entanglement latency (τₑ) increases</a:t>
            </a:r>
            <a:r>
              <a:rPr lang="en-US" sz="1400" i="1" u="none" strike="noStrike" baseline="0">
                <a:latin typeface="Times New Roman"/>
                <a:ea typeface="+mn-lt"/>
                <a:cs typeface="Times New Roman"/>
              </a:rPr>
              <a:t>, </a:t>
            </a:r>
            <a:r>
              <a:rPr lang="en-US" sz="1400" i="1">
                <a:latin typeface="Times New Roman"/>
                <a:ea typeface="+mn-lt"/>
                <a:cs typeface="Times New Roman"/>
              </a:rPr>
              <a:t>all architectures experience an increase in execution depth</a:t>
            </a:r>
            <a:r>
              <a:rPr lang="en-US" sz="1400" i="1" u="none" strike="noStrike" baseline="0">
                <a:latin typeface="Times New Roman"/>
                <a:ea typeface="+mn-lt"/>
                <a:cs typeface="Times New Roman"/>
              </a:rPr>
              <a:t>.</a:t>
            </a:r>
            <a:r>
              <a:rPr lang="en-US" sz="1400" i="1">
                <a:latin typeface="Times New Roman"/>
                <a:ea typeface="+mn-lt"/>
                <a:cs typeface="Times New Roman"/>
              </a:rPr>
              <a:t> However, the rate of increase varies significantly across architectures</a:t>
            </a:r>
            <a:r>
              <a:rPr lang="en-US" sz="1400">
                <a:ea typeface="+mn-lt"/>
                <a:cs typeface="+mn-lt"/>
              </a:rPr>
              <a:t>.</a:t>
            </a:r>
            <a:endParaRPr lang="en-US">
              <a:ea typeface="+mn-lt"/>
              <a:cs typeface="+mn-lt"/>
            </a:endParaRPr>
          </a:p>
        </p:txBody>
      </p:sp>
      <p:sp>
        <p:nvSpPr>
          <p:cNvPr id="6" name="TextBox 5">
            <a:extLst>
              <a:ext uri="{FF2B5EF4-FFF2-40B4-BE49-F238E27FC236}">
                <a16:creationId xmlns:a16="http://schemas.microsoft.com/office/drawing/2014/main" id="{85566E80-CDAD-A67E-163F-6E33DDF0BE55}"/>
              </a:ext>
            </a:extLst>
          </p:cNvPr>
          <p:cNvSpPr txBox="1"/>
          <p:nvPr/>
        </p:nvSpPr>
        <p:spPr>
          <a:xfrm>
            <a:off x="8969114" y="4582584"/>
            <a:ext cx="3217334"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solidFill>
                  <a:srgbClr val="FF0000"/>
                </a:solidFill>
                <a:latin typeface="Times New Roman"/>
                <a:cs typeface="Times New Roman"/>
              </a:rPr>
              <a:t>Monolithic Architectures</a:t>
            </a:r>
            <a:endParaRPr lang="en-US" sz="1400">
              <a:solidFill>
                <a:srgbClr val="FF0000"/>
              </a:solidFill>
              <a:latin typeface="Times New Roman"/>
              <a:cs typeface="Times New Roman"/>
            </a:endParaRPr>
          </a:p>
          <a:p>
            <a:pPr marL="285750" indent="-285750">
              <a:buFont typeface="Arial"/>
              <a:buChar char="•"/>
            </a:pPr>
            <a:r>
              <a:rPr lang="en-US" sz="1400">
                <a:solidFill>
                  <a:srgbClr val="000000"/>
                </a:solidFill>
                <a:latin typeface="Times New Roman"/>
                <a:ea typeface="+mn-lt"/>
                <a:cs typeface="Times New Roman"/>
              </a:rPr>
              <a:t>Depth remains significantly larger than Direct Fast and Distributed Unified Fast. </a:t>
            </a:r>
            <a:endParaRPr lang="en-US" sz="1400">
              <a:latin typeface="Times New Roman"/>
              <a:cs typeface="Times New Roman"/>
            </a:endParaRPr>
          </a:p>
          <a:p>
            <a:pPr marL="285750" indent="-285750">
              <a:buFont typeface="Arial"/>
              <a:buChar char="•"/>
            </a:pPr>
            <a:r>
              <a:rPr lang="en-US" sz="1400">
                <a:solidFill>
                  <a:srgbClr val="000000"/>
                </a:solidFill>
                <a:latin typeface="Times New Roman"/>
                <a:ea typeface="+mn-lt"/>
                <a:cs typeface="Times New Roman"/>
              </a:rPr>
              <a:t>Scaling is limited by control complexity, routing contention, and increasing scheduling overhead within a single processor</a:t>
            </a:r>
            <a:r>
              <a:rPr lang="en-US" sz="1400" b="0" i="0" u="none" strike="noStrike" baseline="0">
                <a:solidFill>
                  <a:srgbClr val="000000"/>
                </a:solidFill>
                <a:latin typeface="Times New Roman"/>
                <a:ea typeface="+mn-lt"/>
                <a:cs typeface="Times New Roman"/>
              </a:rPr>
              <a:t>.</a:t>
            </a:r>
            <a:endParaRPr lang="en-US" sz="1400">
              <a:latin typeface="Times New Roman"/>
              <a:ea typeface="+mn-lt"/>
              <a:cs typeface="Times New Roman"/>
            </a:endParaRPr>
          </a:p>
        </p:txBody>
      </p:sp>
      <p:sp>
        <p:nvSpPr>
          <p:cNvPr id="7" name="TextBox 6">
            <a:extLst>
              <a:ext uri="{FF2B5EF4-FFF2-40B4-BE49-F238E27FC236}">
                <a16:creationId xmlns:a16="http://schemas.microsoft.com/office/drawing/2014/main" id="{5AB53961-F475-3A63-2B4E-896B296C0459}"/>
              </a:ext>
            </a:extLst>
          </p:cNvPr>
          <p:cNvSpPr txBox="1"/>
          <p:nvPr/>
        </p:nvSpPr>
        <p:spPr>
          <a:xfrm>
            <a:off x="5746230" y="4590738"/>
            <a:ext cx="3222886"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US" sz="1400" b="1" i="0" u="none" strike="noStrike" baseline="0">
                <a:solidFill>
                  <a:schemeClr val="accent2"/>
                </a:solidFill>
                <a:latin typeface="Times New Roman"/>
                <a:ea typeface="Arial"/>
                <a:cs typeface="Arial"/>
              </a:rPr>
              <a:t>Direct (Fast)</a:t>
            </a:r>
            <a:r>
              <a:rPr lang="en-US" sz="1400" b="0" i="0">
                <a:solidFill>
                  <a:schemeClr val="accent2"/>
                </a:solidFill>
                <a:latin typeface="Times New Roman"/>
                <a:ea typeface="Arial"/>
                <a:cs typeface="Arial"/>
              </a:rPr>
              <a:t>​</a:t>
            </a:r>
            <a:endParaRPr lang="en-US">
              <a:solidFill>
                <a:schemeClr val="accent2"/>
              </a:solidFill>
            </a:endParaRPr>
          </a:p>
          <a:p>
            <a:pPr marL="285750" indent="-285750">
              <a:buFont typeface="Arial,Sans-Serif"/>
              <a:buChar char="•"/>
            </a:pPr>
            <a:r>
              <a:rPr lang="en-US" sz="1400" b="0" i="0" u="none" strike="noStrike" baseline="0" dirty="0">
                <a:solidFill>
                  <a:srgbClr val="000000"/>
                </a:solidFill>
                <a:latin typeface="Times New Roman"/>
                <a:ea typeface="Arial"/>
                <a:cs typeface="Arial"/>
              </a:rPr>
              <a:t>Maintains the lowest circuit </a:t>
            </a:r>
            <a:r>
              <a:rPr lang="en-US" sz="1400">
                <a:solidFill>
                  <a:srgbClr val="000000"/>
                </a:solidFill>
                <a:latin typeface="Times New Roman"/>
                <a:ea typeface="Arial"/>
                <a:cs typeface="Arial"/>
              </a:rPr>
              <a:t>depth across</a:t>
            </a:r>
            <a:r>
              <a:rPr lang="en-US" sz="1400" b="0" i="0" u="none" strike="noStrike" baseline="0" dirty="0">
                <a:solidFill>
                  <a:srgbClr val="000000"/>
                </a:solidFill>
                <a:latin typeface="Times New Roman"/>
                <a:ea typeface="Arial"/>
                <a:cs typeface="Arial"/>
              </a:rPr>
              <a:t> the entire τₑ range. </a:t>
            </a:r>
            <a:r>
              <a:rPr lang="en-US" sz="1400" b="0" i="0" dirty="0">
                <a:solidFill>
                  <a:srgbClr val="000000"/>
                </a:solidFill>
                <a:latin typeface="Times New Roman"/>
                <a:ea typeface="Arial"/>
                <a:cs typeface="Arial"/>
              </a:rPr>
              <a:t>​</a:t>
            </a:r>
          </a:p>
          <a:p>
            <a:pPr marL="285750" indent="-285750">
              <a:buFont typeface="Arial,Sans-Serif"/>
              <a:buChar char="•"/>
            </a:pPr>
            <a:r>
              <a:rPr lang="en-US" sz="1400" b="0" i="0" u="none" strike="noStrike" baseline="0" dirty="0">
                <a:solidFill>
                  <a:srgbClr val="000000"/>
                </a:solidFill>
                <a:latin typeface="Times New Roman"/>
                <a:ea typeface="Arial"/>
                <a:cs typeface="Arial"/>
              </a:rPr>
              <a:t>Benefits from </a:t>
            </a:r>
            <a:r>
              <a:rPr lang="en-US" sz="1400" dirty="0">
                <a:solidFill>
                  <a:srgbClr val="000000"/>
                </a:solidFill>
                <a:latin typeface="Times New Roman"/>
                <a:ea typeface="Arial"/>
                <a:cs typeface="Arial"/>
              </a:rPr>
              <a:t>high-speed communication</a:t>
            </a:r>
            <a:r>
              <a:rPr lang="en-US" sz="1400" b="0" i="0" u="none" strike="noStrike" baseline="0" dirty="0">
                <a:solidFill>
                  <a:srgbClr val="000000"/>
                </a:solidFill>
                <a:latin typeface="Times New Roman"/>
                <a:ea typeface="Arial"/>
                <a:cs typeface="Arial"/>
              </a:rPr>
              <a:t> and minimal </a:t>
            </a:r>
            <a:r>
              <a:rPr lang="en-US" sz="1400">
                <a:solidFill>
                  <a:srgbClr val="000000"/>
                </a:solidFill>
                <a:latin typeface="Times New Roman"/>
                <a:ea typeface="Arial"/>
                <a:cs typeface="Arial"/>
              </a:rPr>
              <a:t>routing overhead</a:t>
            </a:r>
            <a:r>
              <a:rPr lang="en-US" sz="1400" b="0" i="0" u="none" strike="noStrike" baseline="0" dirty="0">
                <a:solidFill>
                  <a:srgbClr val="000000"/>
                </a:solidFill>
                <a:latin typeface="Times New Roman"/>
                <a:ea typeface="Arial"/>
                <a:cs typeface="Arial"/>
              </a:rPr>
              <a:t>. </a:t>
            </a:r>
            <a:r>
              <a:rPr lang="en-US" sz="1400" b="0" i="0" dirty="0">
                <a:solidFill>
                  <a:srgbClr val="000000"/>
                </a:solidFill>
                <a:latin typeface="Times New Roman"/>
                <a:ea typeface="Arial"/>
                <a:cs typeface="Arial"/>
              </a:rPr>
              <a:t>​</a:t>
            </a:r>
          </a:p>
          <a:p>
            <a:pPr marL="285750" indent="-285750">
              <a:buFont typeface="Arial,Sans-Serif"/>
              <a:buChar char="•"/>
            </a:pPr>
            <a:r>
              <a:rPr lang="en-US" sz="1400" b="0" i="0" u="none" strike="noStrike" baseline="0" dirty="0">
                <a:solidFill>
                  <a:srgbClr val="000000"/>
                </a:solidFill>
                <a:latin typeface="Times New Roman"/>
                <a:ea typeface="Arial"/>
                <a:cs typeface="Arial"/>
              </a:rPr>
              <a:t>Least sensitive to </a:t>
            </a:r>
            <a:r>
              <a:rPr lang="en-US" sz="1400">
                <a:solidFill>
                  <a:srgbClr val="000000"/>
                </a:solidFill>
                <a:latin typeface="Times New Roman"/>
                <a:ea typeface="Arial"/>
                <a:cs typeface="Arial"/>
              </a:rPr>
              <a:t>increasing entanglement</a:t>
            </a:r>
            <a:r>
              <a:rPr lang="en-US" sz="1400" b="0" i="0" u="none" strike="noStrike" baseline="0">
                <a:solidFill>
                  <a:srgbClr val="000000"/>
                </a:solidFill>
                <a:latin typeface="Times New Roman"/>
                <a:ea typeface="Arial"/>
                <a:cs typeface="Arial"/>
              </a:rPr>
              <a:t> latency. </a:t>
            </a:r>
            <a:r>
              <a:rPr lang="en-US" sz="1400" b="0" i="0">
                <a:solidFill>
                  <a:srgbClr val="000000"/>
                </a:solidFill>
                <a:latin typeface="Times New Roman"/>
                <a:ea typeface="Arial"/>
                <a:cs typeface="Arial"/>
              </a:rPr>
              <a:t>​</a:t>
            </a:r>
          </a:p>
        </p:txBody>
      </p:sp>
      <p:sp>
        <p:nvSpPr>
          <p:cNvPr id="10" name="TextBox 9">
            <a:extLst>
              <a:ext uri="{FF2B5EF4-FFF2-40B4-BE49-F238E27FC236}">
                <a16:creationId xmlns:a16="http://schemas.microsoft.com/office/drawing/2014/main" id="{157321A8-76C2-F31B-AD71-771274A75E14}"/>
              </a:ext>
            </a:extLst>
          </p:cNvPr>
          <p:cNvSpPr txBox="1"/>
          <p:nvPr/>
        </p:nvSpPr>
        <p:spPr>
          <a:xfrm>
            <a:off x="2810656" y="4590739"/>
            <a:ext cx="3072983"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US" sz="1400" b="1" i="0" u="none" strike="noStrike" baseline="0">
                <a:solidFill>
                  <a:srgbClr val="0070C0"/>
                </a:solidFill>
                <a:latin typeface="Times New Roman"/>
                <a:ea typeface="Segoe UI"/>
                <a:cs typeface="Segoe UI"/>
              </a:rPr>
              <a:t>Direct (Slow)</a:t>
            </a:r>
            <a:r>
              <a:rPr lang="en-US" sz="1400" b="0" i="0" u="none" strike="noStrike" baseline="0">
                <a:solidFill>
                  <a:srgbClr val="0070C0"/>
                </a:solidFill>
                <a:latin typeface="Times New Roman"/>
                <a:ea typeface="Segoe UI"/>
                <a:cs typeface="Segoe UI"/>
              </a:rPr>
              <a:t>​</a:t>
            </a:r>
            <a:r>
              <a:rPr lang="en-US" sz="1400" b="0" i="0">
                <a:solidFill>
                  <a:srgbClr val="0070C0"/>
                </a:solidFill>
                <a:latin typeface="Times New Roman"/>
                <a:ea typeface="Segoe UI"/>
                <a:cs typeface="Segoe UI"/>
              </a:rPr>
              <a:t>​</a:t>
            </a:r>
            <a:endParaRPr lang="en-US">
              <a:solidFill>
                <a:srgbClr val="0070C0"/>
              </a:solidFill>
            </a:endParaRPr>
          </a:p>
          <a:p>
            <a:pPr marL="285750" lvl="0" indent="-285750" algn="l" rtl="0">
              <a:buFont typeface="Arial,Sans-Serif"/>
              <a:buChar char="•"/>
            </a:pPr>
            <a:r>
              <a:rPr lang="en-US" sz="1400" b="0" i="0" u="none" strike="noStrike" baseline="0">
                <a:solidFill>
                  <a:srgbClr val="000000"/>
                </a:solidFill>
                <a:latin typeface="Times New Roman"/>
                <a:ea typeface="Arial"/>
                <a:cs typeface="Arial"/>
              </a:rPr>
              <a:t>Shows moderate depth growth. ​</a:t>
            </a:r>
            <a:r>
              <a:rPr lang="en-US" sz="1400" b="0" i="0">
                <a:solidFill>
                  <a:srgbClr val="000000"/>
                </a:solidFill>
                <a:latin typeface="Times New Roman"/>
                <a:ea typeface="Arial"/>
                <a:cs typeface="Arial"/>
              </a:rPr>
              <a:t>​</a:t>
            </a:r>
          </a:p>
          <a:p>
            <a:pPr marL="285750" indent="-285750">
              <a:buFont typeface="Arial,Sans-Serif"/>
              <a:buChar char="•"/>
            </a:pPr>
            <a:r>
              <a:rPr lang="en-US" sz="1400" b="0" i="0" u="none" strike="noStrike" baseline="0" dirty="0">
                <a:solidFill>
                  <a:srgbClr val="000000"/>
                </a:solidFill>
                <a:latin typeface="Times New Roman"/>
                <a:ea typeface="Arial"/>
                <a:cs typeface="Arial"/>
              </a:rPr>
              <a:t>Communication latency </a:t>
            </a:r>
            <a:r>
              <a:rPr lang="en-US" sz="1400">
                <a:solidFill>
                  <a:srgbClr val="000000"/>
                </a:solidFill>
                <a:latin typeface="Times New Roman"/>
                <a:ea typeface="Arial"/>
                <a:cs typeface="Arial"/>
              </a:rPr>
              <a:t>accumulates as</a:t>
            </a:r>
            <a:r>
              <a:rPr lang="en-US" sz="1400" b="0" i="0" u="none" strike="noStrike" baseline="0" dirty="0">
                <a:solidFill>
                  <a:srgbClr val="000000"/>
                </a:solidFill>
                <a:latin typeface="Times New Roman"/>
                <a:ea typeface="Arial"/>
                <a:cs typeface="Arial"/>
              </a:rPr>
              <a:t> τₑ increases. ​</a:t>
            </a:r>
            <a:r>
              <a:rPr lang="en-US" sz="1400" b="0" i="0" dirty="0">
                <a:solidFill>
                  <a:srgbClr val="000000"/>
                </a:solidFill>
                <a:latin typeface="Times New Roman"/>
                <a:ea typeface="Arial"/>
                <a:cs typeface="Arial"/>
              </a:rPr>
              <a:t>​</a:t>
            </a:r>
          </a:p>
          <a:p>
            <a:pPr marL="285750" indent="-285750">
              <a:buFont typeface="Arial,Sans-Serif"/>
              <a:buChar char="•"/>
            </a:pPr>
            <a:r>
              <a:rPr lang="en-US" sz="1400" b="0" i="0" u="none" strike="noStrike" baseline="0" dirty="0">
                <a:solidFill>
                  <a:srgbClr val="000000"/>
                </a:solidFill>
                <a:latin typeface="Times New Roman"/>
                <a:ea typeface="Arial"/>
                <a:cs typeface="Arial"/>
              </a:rPr>
              <a:t>Remains more efficient </a:t>
            </a:r>
            <a:r>
              <a:rPr lang="en-US" sz="1400" dirty="0">
                <a:solidFill>
                  <a:srgbClr val="000000"/>
                </a:solidFill>
                <a:latin typeface="Times New Roman"/>
                <a:ea typeface="Arial"/>
                <a:cs typeface="Arial"/>
              </a:rPr>
              <a:t>than distributed</a:t>
            </a:r>
            <a:r>
              <a:rPr lang="en-US" sz="1400" b="0" i="0" u="none" strike="noStrike" baseline="0" dirty="0">
                <a:solidFill>
                  <a:srgbClr val="000000"/>
                </a:solidFill>
                <a:latin typeface="Times New Roman"/>
                <a:ea typeface="Arial"/>
                <a:cs typeface="Arial"/>
              </a:rPr>
              <a:t> architectures due to </a:t>
            </a:r>
            <a:r>
              <a:rPr lang="en-US" sz="1400" dirty="0">
                <a:solidFill>
                  <a:srgbClr val="000000"/>
                </a:solidFill>
                <a:latin typeface="Times New Roman"/>
                <a:ea typeface="Arial"/>
                <a:cs typeface="Arial"/>
              </a:rPr>
              <a:t>the absence</a:t>
            </a:r>
            <a:r>
              <a:rPr lang="en-US" sz="1400" b="0" i="0" u="none" strike="noStrike" baseline="0" dirty="0">
                <a:solidFill>
                  <a:srgbClr val="000000"/>
                </a:solidFill>
                <a:latin typeface="Times New Roman"/>
                <a:ea typeface="Arial"/>
                <a:cs typeface="Arial"/>
              </a:rPr>
              <a:t> </a:t>
            </a:r>
            <a:r>
              <a:rPr lang="en-US" sz="1400">
                <a:solidFill>
                  <a:srgbClr val="000000"/>
                </a:solidFill>
                <a:latin typeface="Times New Roman"/>
                <a:ea typeface="Arial"/>
                <a:cs typeface="Arial"/>
              </a:rPr>
              <a:t>of inter-node</a:t>
            </a:r>
            <a:r>
              <a:rPr lang="en-US" sz="1400" b="0" i="0" u="none" strike="noStrike" baseline="0">
                <a:solidFill>
                  <a:srgbClr val="000000"/>
                </a:solidFill>
                <a:latin typeface="Times New Roman"/>
                <a:ea typeface="Arial"/>
                <a:cs typeface="Arial"/>
              </a:rPr>
              <a:t> routing.</a:t>
            </a:r>
            <a:r>
              <a:rPr lang="en-US" sz="1400" b="0" i="0">
                <a:solidFill>
                  <a:srgbClr val="000000"/>
                </a:solidFill>
                <a:latin typeface="Times New Roman"/>
                <a:ea typeface="Arial"/>
                <a:cs typeface="Arial"/>
              </a:rPr>
              <a:t>​</a:t>
            </a:r>
          </a:p>
        </p:txBody>
      </p:sp>
      <p:sp>
        <p:nvSpPr>
          <p:cNvPr id="11" name="TextBox 10">
            <a:extLst>
              <a:ext uri="{FF2B5EF4-FFF2-40B4-BE49-F238E27FC236}">
                <a16:creationId xmlns:a16="http://schemas.microsoft.com/office/drawing/2014/main" id="{573DC64F-5451-C90C-5D92-044060143166}"/>
              </a:ext>
            </a:extLst>
          </p:cNvPr>
          <p:cNvSpPr txBox="1"/>
          <p:nvPr/>
        </p:nvSpPr>
        <p:spPr>
          <a:xfrm>
            <a:off x="-87443" y="1505263"/>
            <a:ext cx="4022361"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US" sz="1400" b="1" i="0" u="none" strike="noStrike" baseline="0">
                <a:solidFill>
                  <a:schemeClr val="accent2">
                    <a:lumMod val="49000"/>
                  </a:schemeClr>
                </a:solidFill>
                <a:latin typeface="Times New Roman"/>
                <a:ea typeface="Segoe UI"/>
                <a:cs typeface="Segoe UI"/>
              </a:rPr>
              <a:t>Distributed Unified (Fast)</a:t>
            </a:r>
            <a:r>
              <a:rPr lang="en-US" sz="1400" b="1" i="0">
                <a:solidFill>
                  <a:schemeClr val="accent2">
                    <a:lumMod val="49000"/>
                  </a:schemeClr>
                </a:solidFill>
                <a:latin typeface="Times New Roman"/>
                <a:ea typeface="Segoe UI"/>
                <a:cs typeface="Segoe UI"/>
              </a:rPr>
              <a:t>​</a:t>
            </a:r>
            <a:endParaRPr lang="en-US" b="1">
              <a:solidFill>
                <a:schemeClr val="accent2">
                  <a:lumMod val="49000"/>
                </a:schemeClr>
              </a:solidFill>
            </a:endParaRPr>
          </a:p>
          <a:p>
            <a:pPr marL="285750" indent="-285750">
              <a:buFont typeface="Arial,Sans-Serif"/>
              <a:buChar char="•"/>
            </a:pPr>
            <a:r>
              <a:rPr lang="en-US" sz="1400" b="0" i="0" u="none" strike="noStrike" baseline="0" dirty="0">
                <a:solidFill>
                  <a:srgbClr val="000000"/>
                </a:solidFill>
                <a:latin typeface="Times New Roman"/>
                <a:ea typeface="Arial"/>
                <a:cs typeface="Arial"/>
              </a:rPr>
              <a:t>Exhibits only a small increase </a:t>
            </a:r>
            <a:r>
              <a:rPr lang="en-US" sz="1400">
                <a:solidFill>
                  <a:srgbClr val="000000"/>
                </a:solidFill>
                <a:latin typeface="Times New Roman"/>
                <a:ea typeface="Arial"/>
                <a:cs typeface="Arial"/>
              </a:rPr>
              <a:t>in depth</a:t>
            </a:r>
            <a:r>
              <a:rPr lang="en-US" sz="1400" b="0" i="0" u="none" strike="noStrike" baseline="0" dirty="0">
                <a:solidFill>
                  <a:srgbClr val="000000"/>
                </a:solidFill>
                <a:latin typeface="Times New Roman"/>
                <a:ea typeface="Arial"/>
                <a:cs typeface="Arial"/>
              </a:rPr>
              <a:t> despite increasing τₑ. </a:t>
            </a:r>
            <a:r>
              <a:rPr lang="en-US" sz="1400" b="0" i="0" dirty="0">
                <a:solidFill>
                  <a:srgbClr val="000000"/>
                </a:solidFill>
                <a:latin typeface="Times New Roman"/>
                <a:ea typeface="Arial"/>
                <a:cs typeface="Arial"/>
              </a:rPr>
              <a:t>​</a:t>
            </a:r>
          </a:p>
          <a:p>
            <a:pPr marL="285750" indent="-285750">
              <a:buFont typeface="Arial,Sans-Serif"/>
              <a:buChar char="•"/>
            </a:pPr>
            <a:r>
              <a:rPr lang="en-US" sz="1400" b="0" i="0" u="none" strike="noStrike" baseline="0" dirty="0" err="1">
                <a:solidFill>
                  <a:srgbClr val="000000"/>
                </a:solidFill>
                <a:latin typeface="Times New Roman"/>
                <a:ea typeface="Arial"/>
                <a:cs typeface="Arial"/>
              </a:rPr>
              <a:t>IonQ</a:t>
            </a:r>
            <a:r>
              <a:rPr lang="en-US" sz="1400" b="0" i="0" u="none" strike="noStrike" baseline="0" dirty="0">
                <a:solidFill>
                  <a:srgbClr val="000000"/>
                </a:solidFill>
                <a:latin typeface="Times New Roman"/>
                <a:ea typeface="Arial"/>
                <a:cs typeface="Arial"/>
              </a:rPr>
              <a:t> multiplexing, YOUTIAOFDM/TDM scheduling, </a:t>
            </a:r>
            <a:r>
              <a:rPr lang="en-US" sz="1400" dirty="0">
                <a:solidFill>
                  <a:srgbClr val="000000"/>
                </a:solidFill>
                <a:latin typeface="Times New Roman"/>
                <a:ea typeface="Arial"/>
                <a:cs typeface="Arial"/>
              </a:rPr>
              <a:t>and </a:t>
            </a:r>
            <a:r>
              <a:rPr lang="en-US" sz="1400" dirty="0" err="1">
                <a:solidFill>
                  <a:srgbClr val="000000"/>
                </a:solidFill>
                <a:latin typeface="Times New Roman"/>
                <a:ea typeface="Arial"/>
                <a:cs typeface="Arial"/>
              </a:rPr>
              <a:t>SwitchQNet</a:t>
            </a:r>
            <a:r>
              <a:rPr lang="en-US" sz="1400" b="0" i="0" u="none" strike="noStrike" baseline="0" dirty="0">
                <a:solidFill>
                  <a:srgbClr val="000000"/>
                </a:solidFill>
                <a:latin typeface="Times New Roman"/>
                <a:ea typeface="Arial"/>
                <a:cs typeface="Arial"/>
              </a:rPr>
              <a:t> routing effectively </a:t>
            </a:r>
            <a:r>
              <a:rPr lang="en-US" sz="1400" dirty="0">
                <a:solidFill>
                  <a:srgbClr val="000000"/>
                </a:solidFill>
                <a:latin typeface="Times New Roman"/>
                <a:ea typeface="Arial"/>
                <a:cs typeface="Arial"/>
              </a:rPr>
              <a:t>hide communication</a:t>
            </a:r>
            <a:r>
              <a:rPr lang="en-US" sz="1400" b="0" i="0" u="none" strike="noStrike" baseline="0" dirty="0">
                <a:solidFill>
                  <a:srgbClr val="000000"/>
                </a:solidFill>
                <a:latin typeface="Times New Roman"/>
                <a:ea typeface="Arial"/>
                <a:cs typeface="Arial"/>
              </a:rPr>
              <a:t> delays. </a:t>
            </a:r>
            <a:r>
              <a:rPr lang="en-US" sz="1400" b="0" i="0" dirty="0">
                <a:solidFill>
                  <a:srgbClr val="000000"/>
                </a:solidFill>
                <a:latin typeface="Times New Roman"/>
                <a:ea typeface="Arial"/>
                <a:cs typeface="Arial"/>
              </a:rPr>
              <a:t>​</a:t>
            </a:r>
          </a:p>
          <a:p>
            <a:pPr marL="285750" indent="-285750">
              <a:buFont typeface="Arial,Sans-Serif"/>
              <a:buChar char="•"/>
            </a:pPr>
            <a:r>
              <a:rPr lang="en-US" sz="1400" b="0" i="0" u="none" strike="noStrike" baseline="0" dirty="0">
                <a:solidFill>
                  <a:srgbClr val="000000"/>
                </a:solidFill>
                <a:latin typeface="Times New Roman"/>
                <a:ea typeface="Arial"/>
                <a:cs typeface="Arial"/>
              </a:rPr>
              <a:t>Maintains bounded </a:t>
            </a:r>
            <a:r>
              <a:rPr lang="en-US" sz="1400" dirty="0">
                <a:solidFill>
                  <a:srgbClr val="000000"/>
                </a:solidFill>
                <a:latin typeface="Times New Roman"/>
                <a:ea typeface="Arial"/>
                <a:cs typeface="Arial"/>
              </a:rPr>
              <a:t>communication overhead</a:t>
            </a:r>
            <a:r>
              <a:rPr lang="en-US" sz="1400" b="0" i="0" u="none" strike="noStrike" baseline="0" dirty="0">
                <a:solidFill>
                  <a:srgbClr val="000000"/>
                </a:solidFill>
                <a:latin typeface="Times New Roman"/>
                <a:ea typeface="Arial"/>
                <a:cs typeface="Arial"/>
              </a:rPr>
              <a:t> even as </a:t>
            </a:r>
            <a:r>
              <a:rPr lang="en-US" sz="1400">
                <a:solidFill>
                  <a:srgbClr val="000000"/>
                </a:solidFill>
                <a:latin typeface="Times New Roman"/>
                <a:ea typeface="Arial"/>
                <a:cs typeface="Arial"/>
              </a:rPr>
              <a:t>entanglement latency</a:t>
            </a:r>
            <a:r>
              <a:rPr lang="en-US" sz="1400" b="0" i="0" u="none" strike="noStrike" baseline="0">
                <a:solidFill>
                  <a:srgbClr val="000000"/>
                </a:solidFill>
                <a:latin typeface="Times New Roman"/>
                <a:ea typeface="Arial"/>
                <a:cs typeface="Arial"/>
              </a:rPr>
              <a:t> grows. </a:t>
            </a:r>
          </a:p>
        </p:txBody>
      </p:sp>
      <p:sp>
        <p:nvSpPr>
          <p:cNvPr id="13" name="TextBox 12">
            <a:extLst>
              <a:ext uri="{FF2B5EF4-FFF2-40B4-BE49-F238E27FC236}">
                <a16:creationId xmlns:a16="http://schemas.microsoft.com/office/drawing/2014/main" id="{6B2F7E91-B04B-B207-FA72-058A987EB180}"/>
              </a:ext>
            </a:extLst>
          </p:cNvPr>
          <p:cNvSpPr txBox="1"/>
          <p:nvPr/>
        </p:nvSpPr>
        <p:spPr>
          <a:xfrm>
            <a:off x="-87443" y="3428999"/>
            <a:ext cx="3672590"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US" sz="1400" b="1" i="0" u="none" strike="noStrike" baseline="0">
                <a:solidFill>
                  <a:srgbClr val="7030A0"/>
                </a:solidFill>
                <a:latin typeface="Times New Roman"/>
                <a:ea typeface="Segoe UI"/>
                <a:cs typeface="Segoe UI"/>
              </a:rPr>
              <a:t>Distributed Unified (Slow)</a:t>
            </a:r>
            <a:r>
              <a:rPr lang="en-US" sz="1400" b="0" i="0">
                <a:solidFill>
                  <a:srgbClr val="7030A0"/>
                </a:solidFill>
                <a:latin typeface="Times New Roman"/>
                <a:ea typeface="Segoe UI"/>
                <a:cs typeface="Segoe UI"/>
              </a:rPr>
              <a:t>​</a:t>
            </a:r>
            <a:endParaRPr lang="en-US">
              <a:solidFill>
                <a:srgbClr val="7030A0"/>
              </a:solidFill>
            </a:endParaRPr>
          </a:p>
          <a:p>
            <a:pPr marL="285750" indent="-285750">
              <a:buFont typeface="Arial,Sans-Serif"/>
              <a:buChar char="•"/>
            </a:pPr>
            <a:r>
              <a:rPr lang="en-US" sz="1400" b="0" i="0" u="none" strike="noStrike" baseline="0" dirty="0">
                <a:solidFill>
                  <a:srgbClr val="000000"/>
                </a:solidFill>
                <a:latin typeface="Times New Roman"/>
                <a:ea typeface="Arial"/>
                <a:cs typeface="Arial"/>
              </a:rPr>
              <a:t>Experiences the steepest depth </a:t>
            </a:r>
            <a:r>
              <a:rPr lang="en-US" sz="1400">
                <a:solidFill>
                  <a:srgbClr val="000000"/>
                </a:solidFill>
                <a:latin typeface="Times New Roman"/>
                <a:ea typeface="Arial"/>
                <a:cs typeface="Arial"/>
              </a:rPr>
              <a:t>growth among</a:t>
            </a:r>
            <a:r>
              <a:rPr lang="en-US" sz="1400" b="0" i="0" u="none" strike="noStrike" baseline="0" dirty="0">
                <a:solidFill>
                  <a:srgbClr val="000000"/>
                </a:solidFill>
                <a:latin typeface="Times New Roman"/>
                <a:ea typeface="Arial"/>
                <a:cs typeface="Arial"/>
              </a:rPr>
              <a:t> distributed configurations. </a:t>
            </a:r>
            <a:r>
              <a:rPr lang="en-US" sz="1400" b="0" i="0" dirty="0">
                <a:solidFill>
                  <a:srgbClr val="000000"/>
                </a:solidFill>
                <a:latin typeface="Times New Roman"/>
                <a:ea typeface="Arial"/>
                <a:cs typeface="Arial"/>
              </a:rPr>
              <a:t>​</a:t>
            </a:r>
          </a:p>
          <a:p>
            <a:pPr marL="285750" indent="-285750">
              <a:buFont typeface="Arial,Sans-Serif"/>
              <a:buChar char="•"/>
            </a:pPr>
            <a:r>
              <a:rPr lang="en-US" sz="1400" b="0" i="0" u="none" strike="noStrike" baseline="0" dirty="0">
                <a:solidFill>
                  <a:srgbClr val="000000"/>
                </a:solidFill>
                <a:latin typeface="Times New Roman"/>
                <a:ea typeface="Arial"/>
                <a:cs typeface="Arial"/>
              </a:rPr>
              <a:t>Queueing delays and slower </a:t>
            </a:r>
            <a:r>
              <a:rPr lang="en-US" sz="1400" dirty="0">
                <a:solidFill>
                  <a:srgbClr val="000000"/>
                </a:solidFill>
                <a:latin typeface="Times New Roman"/>
                <a:ea typeface="Arial"/>
                <a:cs typeface="Arial"/>
              </a:rPr>
              <a:t>Bell-</a:t>
            </a:r>
            <a:r>
              <a:rPr lang="en-US" sz="1400">
                <a:solidFill>
                  <a:srgbClr val="000000"/>
                </a:solidFill>
                <a:latin typeface="Times New Roman"/>
                <a:ea typeface="Arial"/>
                <a:cs typeface="Arial"/>
              </a:rPr>
              <a:t>pair generation</a:t>
            </a:r>
            <a:r>
              <a:rPr lang="en-US" sz="1400" b="0" i="0" u="none" strike="noStrike" baseline="0" dirty="0">
                <a:solidFill>
                  <a:srgbClr val="000000"/>
                </a:solidFill>
                <a:latin typeface="Times New Roman"/>
                <a:ea typeface="Arial"/>
                <a:cs typeface="Arial"/>
              </a:rPr>
              <a:t> dominate execution time. </a:t>
            </a:r>
            <a:r>
              <a:rPr lang="en-US" sz="1400" b="0" i="0" dirty="0">
                <a:solidFill>
                  <a:srgbClr val="000000"/>
                </a:solidFill>
                <a:latin typeface="Times New Roman"/>
                <a:ea typeface="Arial"/>
                <a:cs typeface="Arial"/>
              </a:rPr>
              <a:t>​</a:t>
            </a:r>
          </a:p>
          <a:p>
            <a:pPr marL="285750" indent="-285750">
              <a:buFont typeface="Arial,Sans-Serif"/>
              <a:buChar char="•"/>
            </a:pPr>
            <a:r>
              <a:rPr lang="en-US" sz="1400" b="0" i="0" u="none" strike="noStrike" baseline="0" dirty="0">
                <a:solidFill>
                  <a:srgbClr val="000000"/>
                </a:solidFill>
                <a:latin typeface="Times New Roman"/>
                <a:ea typeface="Arial"/>
                <a:cs typeface="Arial"/>
              </a:rPr>
              <a:t>Communication overhead </a:t>
            </a:r>
            <a:r>
              <a:rPr lang="en-US" sz="1400" dirty="0">
                <a:solidFill>
                  <a:srgbClr val="000000"/>
                </a:solidFill>
                <a:latin typeface="Times New Roman"/>
                <a:ea typeface="Arial"/>
                <a:cs typeface="Arial"/>
              </a:rPr>
              <a:t>becomes the</a:t>
            </a:r>
            <a:r>
              <a:rPr lang="en-US" sz="1400" b="0" i="0" u="none" strike="noStrike" baseline="0" dirty="0">
                <a:solidFill>
                  <a:srgbClr val="000000"/>
                </a:solidFill>
                <a:latin typeface="Times New Roman"/>
                <a:ea typeface="Arial"/>
                <a:cs typeface="Arial"/>
              </a:rPr>
              <a:t> primary contributor to </a:t>
            </a:r>
            <a:r>
              <a:rPr lang="en-US" sz="1400">
                <a:solidFill>
                  <a:srgbClr val="000000"/>
                </a:solidFill>
                <a:latin typeface="Times New Roman"/>
                <a:ea typeface="Arial"/>
                <a:cs typeface="Arial"/>
              </a:rPr>
              <a:t>circuit depth</a:t>
            </a:r>
            <a:r>
              <a:rPr lang="en-US" sz="1400" b="0" i="0" u="none" strike="noStrike" baseline="0">
                <a:solidFill>
                  <a:srgbClr val="000000"/>
                </a:solidFill>
                <a:latin typeface="Times New Roman"/>
                <a:ea typeface="Arial"/>
                <a:cs typeface="Arial"/>
              </a:rPr>
              <a:t>. </a:t>
            </a:r>
          </a:p>
        </p:txBody>
      </p:sp>
    </p:spTree>
    <p:extLst>
      <p:ext uri="{BB962C8B-B14F-4D97-AF65-F5344CB8AC3E}">
        <p14:creationId xmlns:p14="http://schemas.microsoft.com/office/powerpoint/2010/main" val="3118740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881F5-13FB-4B11-17DE-006AB3AC15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ED2A3F-471F-2E61-0A86-C8D7B9959ABA}"/>
              </a:ext>
            </a:extLst>
          </p:cNvPr>
          <p:cNvSpPr>
            <a:spLocks noGrp="1"/>
          </p:cNvSpPr>
          <p:nvPr>
            <p:ph type="title"/>
          </p:nvPr>
        </p:nvSpPr>
        <p:spPr>
          <a:xfrm>
            <a:off x="4176421" y="-70420"/>
            <a:ext cx="4160116" cy="832777"/>
          </a:xfrm>
        </p:spPr>
        <p:txBody>
          <a:bodyPr>
            <a:normAutofit fontScale="90000"/>
          </a:bodyPr>
          <a:lstStyle/>
          <a:p>
            <a:r>
              <a:rPr lang="en-US" sz="3200">
                <a:latin typeface="Times New Roman"/>
                <a:ea typeface="+mj-lt"/>
                <a:cs typeface="Times New Roman"/>
              </a:rPr>
              <a:t>Why are slopes different</a:t>
            </a:r>
            <a:endParaRPr lang="en-US"/>
          </a:p>
        </p:txBody>
      </p:sp>
      <p:sp>
        <p:nvSpPr>
          <p:cNvPr id="8" name="TextBox 7">
            <a:extLst>
              <a:ext uri="{FF2B5EF4-FFF2-40B4-BE49-F238E27FC236}">
                <a16:creationId xmlns:a16="http://schemas.microsoft.com/office/drawing/2014/main" id="{623BB603-AB2A-2A71-D8DF-32A52BF8BA5F}"/>
              </a:ext>
            </a:extLst>
          </p:cNvPr>
          <p:cNvSpPr txBox="1"/>
          <p:nvPr/>
        </p:nvSpPr>
        <p:spPr>
          <a:xfrm>
            <a:off x="10584" y="6337577"/>
            <a:ext cx="1219199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solidFill>
                  <a:srgbClr val="000000"/>
                </a:solidFill>
                <a:latin typeface="Times New Roman"/>
                <a:ea typeface="+mn-lt"/>
                <a:cs typeface="Times New Roman"/>
              </a:rPr>
              <a:t>The latency curve tells us how much delay remains, whereas the marginal improvement curve tells us how much additional benefit can still be obtained. </a:t>
            </a:r>
            <a:r>
              <a:rPr lang="en-US" sz="1400" i="1">
                <a:latin typeface="Times New Roman"/>
                <a:ea typeface="+mn-lt"/>
                <a:cs typeface="Times New Roman"/>
              </a:rPr>
              <a:t>Therefore, latency continues to decrease smoothly,</a:t>
            </a:r>
            <a:r>
              <a:rPr lang="en-US" sz="1400" i="1" dirty="0">
                <a:latin typeface="Times New Roman"/>
                <a:ea typeface="+mn-lt"/>
                <a:cs typeface="Times New Roman"/>
              </a:rPr>
              <a:t> and the benefit of additional bandwidth decreases rapidly.  This is why the slopes of the two curves are fundamentally different.</a:t>
            </a:r>
            <a:endParaRPr lang="en-US" i="1">
              <a:latin typeface="Times New Roman"/>
              <a:cs typeface="Times New Roman"/>
            </a:endParaRPr>
          </a:p>
        </p:txBody>
      </p:sp>
      <p:sp>
        <p:nvSpPr>
          <p:cNvPr id="11" name="TextBox 10">
            <a:extLst>
              <a:ext uri="{FF2B5EF4-FFF2-40B4-BE49-F238E27FC236}">
                <a16:creationId xmlns:a16="http://schemas.microsoft.com/office/drawing/2014/main" id="{4C430EE5-A53C-7718-48C1-B2460185ECF1}"/>
              </a:ext>
            </a:extLst>
          </p:cNvPr>
          <p:cNvSpPr txBox="1"/>
          <p:nvPr/>
        </p:nvSpPr>
        <p:spPr>
          <a:xfrm>
            <a:off x="4029473" y="669180"/>
            <a:ext cx="4022362" cy="28931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solidFill>
                  <a:schemeClr val="accent3"/>
                </a:solidFill>
                <a:latin typeface="Times New Roman"/>
                <a:cs typeface="Times New Roman"/>
              </a:rPr>
              <a:t>Effective Entanglement Latency</a:t>
            </a:r>
            <a:endParaRPr lang="en-US" b="1">
              <a:solidFill>
                <a:schemeClr val="accent3"/>
              </a:solidFill>
            </a:endParaRPr>
          </a:p>
          <a:p>
            <a:r>
              <a:rPr lang="en-US" sz="1400">
                <a:latin typeface="Times New Roman"/>
                <a:ea typeface="+mn-lt"/>
                <a:cs typeface="Times New Roman"/>
              </a:rPr>
              <a:t>The latency curve measures the </a:t>
            </a:r>
            <a:r>
              <a:rPr lang="en-US" sz="1400" b="1">
                <a:latin typeface="Times New Roman"/>
                <a:ea typeface="+mn-lt"/>
                <a:cs typeface="Times New Roman"/>
              </a:rPr>
              <a:t>actual communication delay</a:t>
            </a:r>
            <a:r>
              <a:rPr lang="en-US" sz="1400">
                <a:latin typeface="Times New Roman"/>
                <a:ea typeface="+mn-lt"/>
                <a:cs typeface="Times New Roman"/>
              </a:rPr>
              <a:t> experienced by the quantum network</a:t>
            </a:r>
            <a:r>
              <a:rPr lang="en-US" sz="1400" b="0" i="0" u="none" strike="noStrike" baseline="0">
                <a:latin typeface="Times New Roman"/>
                <a:ea typeface="+mn-lt"/>
                <a:cs typeface="Times New Roman"/>
              </a:rPr>
              <a:t>.</a:t>
            </a:r>
            <a:endParaRPr lang="en-US" sz="1400" dirty="0">
              <a:latin typeface="Times New Roman"/>
              <a:ea typeface="+mn-lt"/>
              <a:cs typeface="Times New Roman"/>
            </a:endParaRPr>
          </a:p>
          <a:p>
            <a:r>
              <a:rPr lang="en-US" sz="1400" dirty="0">
                <a:latin typeface="Times New Roman"/>
                <a:ea typeface="+mn-lt"/>
                <a:cs typeface="Times New Roman"/>
              </a:rPr>
              <a:t>The relationship between bandwidth and latency is </a:t>
            </a:r>
            <a:endParaRPr lang="en-US" sz="1400" dirty="0">
              <a:latin typeface="Times New Roman"/>
              <a:cs typeface="Times New Roman"/>
            </a:endParaRPr>
          </a:p>
          <a:p>
            <a:r>
              <a:rPr lang="en-US" sz="1400" b="1">
                <a:latin typeface="Times New Roman"/>
                <a:ea typeface="+mn-lt"/>
                <a:cs typeface="Times New Roman"/>
              </a:rPr>
              <a:t>Τeff∝1\BW.</a:t>
            </a:r>
            <a:endParaRPr lang="en-US" sz="1400">
              <a:latin typeface="Times New Roman"/>
              <a:ea typeface="+mn-lt"/>
              <a:cs typeface="Times New Roman"/>
            </a:endParaRPr>
          </a:p>
          <a:p>
            <a:r>
              <a:rPr lang="en-US" sz="1400" dirty="0">
                <a:latin typeface="Times New Roman"/>
                <a:ea typeface="+mn-lt"/>
                <a:cs typeface="Times New Roman"/>
              </a:rPr>
              <a:t>As bandwidth increases Bell-pair delivery becomes faster + Communication delay decreases + Routing </a:t>
            </a:r>
            <a:r>
              <a:rPr lang="en-US" sz="1400">
                <a:latin typeface="Times New Roman"/>
                <a:ea typeface="+mn-lt"/>
                <a:cs typeface="Times New Roman"/>
              </a:rPr>
              <a:t>overhead</a:t>
            </a:r>
            <a:r>
              <a:rPr lang="en-US" sz="1400" b="0" i="0" u="none" strike="noStrike" baseline="0">
                <a:latin typeface="Times New Roman"/>
                <a:ea typeface="+mn-lt"/>
                <a:cs typeface="Times New Roman"/>
              </a:rPr>
              <a:t> </a:t>
            </a:r>
            <a:r>
              <a:rPr lang="en-US" sz="1400">
                <a:latin typeface="Times New Roman"/>
                <a:ea typeface="+mn-lt"/>
                <a:cs typeface="Times New Roman"/>
              </a:rPr>
              <a:t>is reduced.</a:t>
            </a:r>
            <a:endParaRPr lang="en-US" sz="1400">
              <a:latin typeface="Times New Roman"/>
              <a:cs typeface="Times New Roman"/>
            </a:endParaRPr>
          </a:p>
          <a:p>
            <a:r>
              <a:rPr lang="en-US" sz="1400">
                <a:latin typeface="Times New Roman"/>
                <a:ea typeface="+mn-lt"/>
                <a:cs typeface="Times New Roman"/>
              </a:rPr>
              <a:t>This produces a </a:t>
            </a:r>
            <a:r>
              <a:rPr lang="en-US" sz="1400" b="1">
                <a:latin typeface="Times New Roman"/>
                <a:ea typeface="+mn-lt"/>
                <a:cs typeface="Times New Roman"/>
              </a:rPr>
              <a:t>smooth hyperbolic decay</a:t>
            </a:r>
            <a:r>
              <a:rPr lang="en-US" sz="1400">
                <a:latin typeface="Times New Roman"/>
                <a:ea typeface="+mn-lt"/>
                <a:cs typeface="Times New Roman"/>
              </a:rPr>
              <a:t>, where latency</a:t>
            </a:r>
            <a:r>
              <a:rPr lang="en-US" sz="1400" b="0" i="0" u="none" strike="noStrike" baseline="0">
                <a:latin typeface="Times New Roman"/>
                <a:ea typeface="+mn-lt"/>
                <a:cs typeface="Times New Roman"/>
              </a:rPr>
              <a:t> </a:t>
            </a:r>
            <a:r>
              <a:rPr lang="en-US" sz="1400">
                <a:latin typeface="Times New Roman"/>
                <a:ea typeface="+mn-lt"/>
                <a:cs typeface="Times New Roman"/>
              </a:rPr>
              <a:t>falls rapidly at first and then gradually approaches zero</a:t>
            </a:r>
            <a:r>
              <a:rPr lang="en-US" sz="1400" b="0" i="0" u="none" strike="noStrike" baseline="0">
                <a:latin typeface="Times New Roman"/>
                <a:ea typeface="+mn-lt"/>
                <a:cs typeface="Times New Roman"/>
              </a:rPr>
              <a:t>.</a:t>
            </a:r>
            <a:endParaRPr lang="en-US" sz="1400" dirty="0">
              <a:latin typeface="Times New Roman"/>
              <a:ea typeface="+mn-lt"/>
              <a:cs typeface="Times New Roman"/>
            </a:endParaRPr>
          </a:p>
          <a:p>
            <a:endParaRPr lang="en-US" sz="1400" b="1" i="0" u="none" strike="noStrike" baseline="0" dirty="0">
              <a:latin typeface="Times New Roman"/>
              <a:ea typeface="Arial"/>
              <a:cs typeface="Times New Roman"/>
            </a:endParaRPr>
          </a:p>
        </p:txBody>
      </p:sp>
      <p:pic>
        <p:nvPicPr>
          <p:cNvPr id="9" name="Picture 8">
            <a:extLst>
              <a:ext uri="{FF2B5EF4-FFF2-40B4-BE49-F238E27FC236}">
                <a16:creationId xmlns:a16="http://schemas.microsoft.com/office/drawing/2014/main" id="{BAC1105A-B1B5-4D6F-EFCB-23ADA00F1CC7}"/>
              </a:ext>
            </a:extLst>
          </p:cNvPr>
          <p:cNvPicPr>
            <a:picLocks noChangeAspect="1"/>
          </p:cNvPicPr>
          <p:nvPr/>
        </p:nvPicPr>
        <p:blipFill>
          <a:blip r:embed="rId3"/>
          <a:stretch>
            <a:fillRect/>
          </a:stretch>
        </p:blipFill>
        <p:spPr>
          <a:xfrm>
            <a:off x="3828" y="-74083"/>
            <a:ext cx="4014010" cy="5810250"/>
          </a:xfrm>
          <a:prstGeom prst="rect">
            <a:avLst/>
          </a:prstGeom>
        </p:spPr>
      </p:pic>
      <p:pic>
        <p:nvPicPr>
          <p:cNvPr id="16" name="Picture 15">
            <a:extLst>
              <a:ext uri="{FF2B5EF4-FFF2-40B4-BE49-F238E27FC236}">
                <a16:creationId xmlns:a16="http://schemas.microsoft.com/office/drawing/2014/main" id="{F86EDAB9-4AEF-C6CA-1CE7-6B2ADF54F39C}"/>
              </a:ext>
            </a:extLst>
          </p:cNvPr>
          <p:cNvPicPr>
            <a:picLocks noChangeAspect="1"/>
          </p:cNvPicPr>
          <p:nvPr/>
        </p:nvPicPr>
        <p:blipFill>
          <a:blip r:embed="rId4"/>
          <a:stretch>
            <a:fillRect/>
          </a:stretch>
        </p:blipFill>
        <p:spPr>
          <a:xfrm>
            <a:off x="8030411" y="-74083"/>
            <a:ext cx="4163929" cy="5958416"/>
          </a:xfrm>
          <a:prstGeom prst="rect">
            <a:avLst/>
          </a:prstGeom>
        </p:spPr>
      </p:pic>
      <p:sp>
        <p:nvSpPr>
          <p:cNvPr id="18" name="TextBox 17">
            <a:extLst>
              <a:ext uri="{FF2B5EF4-FFF2-40B4-BE49-F238E27FC236}">
                <a16:creationId xmlns:a16="http://schemas.microsoft.com/office/drawing/2014/main" id="{34820D80-B6A1-DC5D-837D-5B8EBB66D8D4}"/>
              </a:ext>
            </a:extLst>
          </p:cNvPr>
          <p:cNvSpPr txBox="1"/>
          <p:nvPr/>
        </p:nvSpPr>
        <p:spPr>
          <a:xfrm>
            <a:off x="4029473" y="3346763"/>
            <a:ext cx="415994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solidFill>
                  <a:srgbClr val="0070C0"/>
                </a:solidFill>
                <a:latin typeface="Times New Roman"/>
                <a:cs typeface="Times New Roman"/>
              </a:rPr>
              <a:t>Marginal Improvement</a:t>
            </a:r>
            <a:endParaRPr lang="en-US" b="1">
              <a:solidFill>
                <a:srgbClr val="0070C0"/>
              </a:solidFill>
            </a:endParaRPr>
          </a:p>
          <a:p>
            <a:r>
              <a:rPr lang="en-US" sz="1400" dirty="0">
                <a:latin typeface="Times New Roman"/>
                <a:ea typeface="+mn-lt"/>
                <a:cs typeface="Times New Roman"/>
              </a:rPr>
              <a:t>The marginal improvement curve measures </a:t>
            </a:r>
            <a:r>
              <a:rPr lang="en-US" sz="1400" i="1" dirty="0" err="1">
                <a:latin typeface="Times New Roman"/>
                <a:ea typeface="+mn-lt"/>
                <a:cs typeface="Times New Roman"/>
              </a:rPr>
              <a:t>Δτeff</a:t>
            </a:r>
            <a:r>
              <a:rPr lang="en-US" sz="1400" i="1" dirty="0">
                <a:latin typeface="Times New Roman"/>
                <a:ea typeface="+mn-lt"/>
                <a:cs typeface="Times New Roman"/>
              </a:rPr>
              <a:t>  </a:t>
            </a:r>
            <a:endParaRPr lang="en-US" sz="1400" i="1" dirty="0">
              <a:latin typeface="Times New Roman"/>
              <a:cs typeface="Times New Roman"/>
            </a:endParaRPr>
          </a:p>
          <a:p>
            <a:r>
              <a:rPr lang="en-US" sz="1400">
                <a:latin typeface="Times New Roman"/>
                <a:ea typeface="+mn-lt"/>
                <a:cs typeface="Times New Roman"/>
              </a:rPr>
              <a:t>the reduction in latency obtained from each additional increase in bandwidth</a:t>
            </a:r>
            <a:r>
              <a:rPr lang="en-US" sz="1400" b="0" i="0" u="none" strike="noStrike" baseline="0">
                <a:latin typeface="Times New Roman"/>
                <a:ea typeface="+mn-lt"/>
                <a:cs typeface="Times New Roman"/>
              </a:rPr>
              <a:t>.</a:t>
            </a:r>
            <a:endParaRPr lang="en-US" sz="1400" dirty="0">
              <a:latin typeface="Times New Roman"/>
              <a:ea typeface="+mn-lt"/>
              <a:cs typeface="Times New Roman"/>
            </a:endParaRPr>
          </a:p>
          <a:p>
            <a:r>
              <a:rPr lang="en-US" sz="1400">
                <a:latin typeface="Times New Roman"/>
                <a:ea typeface="+mn-lt"/>
                <a:cs typeface="Times New Roman"/>
              </a:rPr>
              <a:t>Instead of measuring latency itself, it measures the </a:t>
            </a:r>
            <a:r>
              <a:rPr lang="en-US" sz="1400" b="1">
                <a:latin typeface="Times New Roman"/>
                <a:ea typeface="+mn-lt"/>
                <a:cs typeface="Times New Roman"/>
              </a:rPr>
              <a:t>benefit gained from adding more bandwidth</a:t>
            </a:r>
            <a:r>
              <a:rPr lang="en-US" sz="1400">
                <a:latin typeface="Times New Roman"/>
                <a:ea typeface="+mn-lt"/>
                <a:cs typeface="Times New Roman"/>
              </a:rPr>
              <a:t>.</a:t>
            </a:r>
            <a:endParaRPr lang="en-US" sz="1400" dirty="0">
              <a:latin typeface="Times New Roman"/>
              <a:ea typeface="+mn-lt"/>
              <a:cs typeface="Times New Roman"/>
            </a:endParaRPr>
          </a:p>
          <a:p>
            <a:r>
              <a:rPr lang="en-US" sz="1400" dirty="0">
                <a:latin typeface="Times New Roman"/>
                <a:ea typeface="+mn-lt"/>
                <a:cs typeface="Times New Roman"/>
              </a:rPr>
              <a:t>As bandwidth increases communication bottleneck is progressively removed and each new bandwidth increment </a:t>
            </a:r>
            <a:r>
              <a:rPr lang="en-US" sz="1400">
                <a:latin typeface="Times New Roman"/>
                <a:ea typeface="+mn-lt"/>
                <a:cs typeface="Times New Roman"/>
              </a:rPr>
              <a:t>provides a smaller latency</a:t>
            </a:r>
            <a:r>
              <a:rPr lang="en-US" sz="1400" b="0" i="0" u="none" strike="noStrike" baseline="0">
                <a:latin typeface="Times New Roman"/>
                <a:ea typeface="+mn-lt"/>
                <a:cs typeface="Times New Roman"/>
              </a:rPr>
              <a:t> </a:t>
            </a:r>
            <a:r>
              <a:rPr lang="en-US" sz="1400">
                <a:latin typeface="Times New Roman"/>
                <a:ea typeface="+mn-lt"/>
                <a:cs typeface="Times New Roman"/>
              </a:rPr>
              <a:t>reduction.</a:t>
            </a:r>
          </a:p>
        </p:txBody>
      </p:sp>
    </p:spTree>
    <p:extLst>
      <p:ext uri="{BB962C8B-B14F-4D97-AF65-F5344CB8AC3E}">
        <p14:creationId xmlns:p14="http://schemas.microsoft.com/office/powerpoint/2010/main" val="2982830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D560A-AFE1-7126-8FA8-7D9EBD1579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C41230-626B-40E6-303D-BEEC0073E1F3}"/>
              </a:ext>
            </a:extLst>
          </p:cNvPr>
          <p:cNvSpPr>
            <a:spLocks noGrp="1"/>
          </p:cNvSpPr>
          <p:nvPr>
            <p:ph type="title"/>
          </p:nvPr>
        </p:nvSpPr>
        <p:spPr>
          <a:xfrm>
            <a:off x="4176421" y="-70420"/>
            <a:ext cx="4160116" cy="832777"/>
          </a:xfrm>
        </p:spPr>
        <p:txBody>
          <a:bodyPr>
            <a:normAutofit/>
          </a:bodyPr>
          <a:lstStyle/>
          <a:p>
            <a:r>
              <a:rPr lang="en-US" sz="3200">
                <a:latin typeface="Times New Roman"/>
                <a:ea typeface="+mj-lt"/>
                <a:cs typeface="Times New Roman"/>
              </a:rPr>
              <a:t>Gradient Analysis</a:t>
            </a:r>
            <a:endParaRPr lang="en-US"/>
          </a:p>
        </p:txBody>
      </p:sp>
      <p:sp>
        <p:nvSpPr>
          <p:cNvPr id="8" name="TextBox 7">
            <a:extLst>
              <a:ext uri="{FF2B5EF4-FFF2-40B4-BE49-F238E27FC236}">
                <a16:creationId xmlns:a16="http://schemas.microsoft.com/office/drawing/2014/main" id="{ABD90B95-A33E-1988-8F04-C92A7786E3C2}"/>
              </a:ext>
            </a:extLst>
          </p:cNvPr>
          <p:cNvSpPr txBox="1"/>
          <p:nvPr/>
        </p:nvSpPr>
        <p:spPr>
          <a:xfrm>
            <a:off x="1" y="6337577"/>
            <a:ext cx="1219199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latin typeface="Times New Roman"/>
                <a:ea typeface="+mn-lt"/>
                <a:cs typeface="Times New Roman"/>
              </a:rPr>
              <a:t>The near-zero gradient at BW=4×10^5 identifies the knee of the curve and represents the optimal trade-off between communication </a:t>
            </a:r>
            <a:r>
              <a:rPr lang="en-US" sz="1400" i="1" dirty="0">
                <a:latin typeface="Times New Roman"/>
                <a:ea typeface="+mn-lt"/>
                <a:cs typeface="Times New Roman"/>
              </a:rPr>
              <a:t>performance and resource utilization.</a:t>
            </a:r>
            <a:endParaRPr lang="en-US" i="1" dirty="0">
              <a:latin typeface="Times New Roman"/>
              <a:ea typeface="+mn-lt"/>
              <a:cs typeface="Times New Roman"/>
            </a:endParaRPr>
          </a:p>
        </p:txBody>
      </p:sp>
      <p:sp>
        <p:nvSpPr>
          <p:cNvPr id="11" name="TextBox 10">
            <a:extLst>
              <a:ext uri="{FF2B5EF4-FFF2-40B4-BE49-F238E27FC236}">
                <a16:creationId xmlns:a16="http://schemas.microsoft.com/office/drawing/2014/main" id="{C3CA7552-3394-7C79-31AD-7A65D004122A}"/>
              </a:ext>
            </a:extLst>
          </p:cNvPr>
          <p:cNvSpPr txBox="1"/>
          <p:nvPr/>
        </p:nvSpPr>
        <p:spPr>
          <a:xfrm>
            <a:off x="230056" y="1050180"/>
            <a:ext cx="4022362"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a:solidFill>
                  <a:schemeClr val="accent5">
                    <a:lumMod val="49000"/>
                  </a:schemeClr>
                </a:solidFill>
                <a:latin typeface="Times New Roman"/>
                <a:ea typeface="+mn-lt"/>
                <a:cs typeface="Times New Roman"/>
              </a:rPr>
              <a:t>At </a:t>
            </a:r>
            <a:r>
              <a:rPr lang="en-US" sz="1400" b="1">
                <a:solidFill>
                  <a:schemeClr val="accent5">
                    <a:lumMod val="49000"/>
                  </a:schemeClr>
                </a:solidFill>
                <a:latin typeface="Times New Roman"/>
                <a:ea typeface="+mn-lt"/>
                <a:cs typeface="Times New Roman"/>
              </a:rPr>
              <a:t>low</a:t>
            </a:r>
            <a:r>
              <a:rPr lang="en-US" sz="1400">
                <a:solidFill>
                  <a:schemeClr val="accent5">
                    <a:lumMod val="49000"/>
                  </a:schemeClr>
                </a:solidFill>
                <a:latin typeface="Times New Roman"/>
                <a:ea typeface="+mn-lt"/>
                <a:cs typeface="Times New Roman"/>
              </a:rPr>
              <a:t> bandwidth values, the gradient magnitude is large</a:t>
            </a:r>
            <a:r>
              <a:rPr lang="en-US" sz="1400" b="0" i="0" u="none" strike="noStrike" baseline="0">
                <a:solidFill>
                  <a:schemeClr val="accent5">
                    <a:lumMod val="49000"/>
                  </a:schemeClr>
                </a:solidFill>
                <a:latin typeface="Times New Roman"/>
                <a:ea typeface="+mn-lt"/>
                <a:cs typeface="Times New Roman"/>
              </a:rPr>
              <a:t>.</a:t>
            </a:r>
            <a:r>
              <a:rPr lang="en-US" sz="1400">
                <a:solidFill>
                  <a:schemeClr val="accent5">
                    <a:lumMod val="49000"/>
                  </a:schemeClr>
                </a:solidFill>
                <a:latin typeface="Times New Roman"/>
                <a:ea typeface="+mn-lt"/>
                <a:cs typeface="Times New Roman"/>
              </a:rPr>
              <a:t> </a:t>
            </a:r>
            <a:endParaRPr lang="en-US" sz="1400">
              <a:solidFill>
                <a:schemeClr val="accent5">
                  <a:lumMod val="49000"/>
                </a:schemeClr>
              </a:solidFill>
              <a:latin typeface="Times New Roman"/>
              <a:cs typeface="Times New Roman"/>
            </a:endParaRPr>
          </a:p>
          <a:p>
            <a:pPr marL="285750" indent="-285750">
              <a:buFont typeface="Arial"/>
              <a:buChar char="•"/>
            </a:pPr>
            <a:r>
              <a:rPr lang="en-US" sz="1400">
                <a:latin typeface="Times New Roman"/>
                <a:ea typeface="+mn-lt"/>
                <a:cs typeface="Times New Roman"/>
              </a:rPr>
              <a:t>Small increases in bandwidth produce substantial reductions in entanglement latency. </a:t>
            </a:r>
            <a:endParaRPr lang="en-US" sz="1400">
              <a:latin typeface="Times New Roman"/>
              <a:cs typeface="Times New Roman"/>
            </a:endParaRPr>
          </a:p>
          <a:p>
            <a:pPr marL="285750" indent="-285750">
              <a:buFont typeface="Arial"/>
              <a:buChar char="•"/>
            </a:pPr>
            <a:r>
              <a:rPr lang="en-US" sz="1400">
                <a:solidFill>
                  <a:schemeClr val="accent2">
                    <a:lumMod val="49000"/>
                  </a:schemeClr>
                </a:solidFill>
                <a:latin typeface="Times New Roman"/>
                <a:ea typeface="+mn-lt"/>
                <a:cs typeface="Times New Roman"/>
              </a:rPr>
              <a:t>As </a:t>
            </a:r>
            <a:r>
              <a:rPr lang="en-US" sz="1400" b="1">
                <a:solidFill>
                  <a:schemeClr val="accent2">
                    <a:lumMod val="49000"/>
                  </a:schemeClr>
                </a:solidFill>
                <a:latin typeface="Times New Roman"/>
                <a:ea typeface="+mn-lt"/>
                <a:cs typeface="Times New Roman"/>
              </a:rPr>
              <a:t>bandwidth increases</a:t>
            </a:r>
            <a:r>
              <a:rPr lang="en-US" sz="1400">
                <a:solidFill>
                  <a:schemeClr val="accent2">
                    <a:lumMod val="49000"/>
                  </a:schemeClr>
                </a:solidFill>
                <a:latin typeface="Times New Roman"/>
                <a:ea typeface="+mn-lt"/>
                <a:cs typeface="Times New Roman"/>
              </a:rPr>
              <a:t>, the gradient approaches</a:t>
            </a:r>
            <a:r>
              <a:rPr lang="en-US" sz="1400" b="1">
                <a:solidFill>
                  <a:schemeClr val="accent2">
                    <a:lumMod val="49000"/>
                  </a:schemeClr>
                </a:solidFill>
                <a:latin typeface="Times New Roman"/>
                <a:ea typeface="+mn-lt"/>
                <a:cs typeface="Times New Roman"/>
              </a:rPr>
              <a:t> zero.</a:t>
            </a:r>
            <a:r>
              <a:rPr lang="en-US" sz="1400">
                <a:solidFill>
                  <a:schemeClr val="accent2">
                    <a:lumMod val="49000"/>
                  </a:schemeClr>
                </a:solidFill>
                <a:latin typeface="Times New Roman"/>
                <a:ea typeface="+mn-lt"/>
                <a:cs typeface="Times New Roman"/>
              </a:rPr>
              <a:t> </a:t>
            </a:r>
            <a:endParaRPr lang="en-US" sz="1400">
              <a:solidFill>
                <a:schemeClr val="accent2">
                  <a:lumMod val="49000"/>
                </a:schemeClr>
              </a:solidFill>
              <a:latin typeface="Times New Roman"/>
              <a:cs typeface="Times New Roman"/>
            </a:endParaRPr>
          </a:p>
          <a:p>
            <a:pPr marL="285750" indent="-285750">
              <a:buFont typeface="Arial"/>
              <a:buChar char="•"/>
            </a:pPr>
            <a:r>
              <a:rPr lang="en-US" sz="1400">
                <a:latin typeface="Times New Roman"/>
                <a:ea typeface="+mn-lt"/>
                <a:cs typeface="Times New Roman"/>
              </a:rPr>
              <a:t>The latency curve becomes nearly horizontal</a:t>
            </a:r>
            <a:r>
              <a:rPr lang="en-US" sz="1400" b="0" i="0" u="none" strike="noStrike" baseline="0">
                <a:latin typeface="Times New Roman"/>
                <a:ea typeface="+mn-lt"/>
                <a:cs typeface="Times New Roman"/>
              </a:rPr>
              <a:t>.</a:t>
            </a:r>
            <a:endParaRPr lang="en-US" sz="1400">
              <a:latin typeface="Times New Roman"/>
              <a:ea typeface="+mn-lt"/>
              <a:cs typeface="Times New Roman"/>
            </a:endParaRPr>
          </a:p>
        </p:txBody>
      </p:sp>
      <p:sp>
        <p:nvSpPr>
          <p:cNvPr id="18" name="TextBox 17">
            <a:extLst>
              <a:ext uri="{FF2B5EF4-FFF2-40B4-BE49-F238E27FC236}">
                <a16:creationId xmlns:a16="http://schemas.microsoft.com/office/drawing/2014/main" id="{C992ABB9-2A56-757B-F540-652ED4F4F98D}"/>
              </a:ext>
            </a:extLst>
          </p:cNvPr>
          <p:cNvSpPr txBox="1"/>
          <p:nvPr/>
        </p:nvSpPr>
        <p:spPr>
          <a:xfrm>
            <a:off x="3870723" y="3431429"/>
            <a:ext cx="4159945"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Times New Roman"/>
                <a:ea typeface="+mn-lt"/>
                <a:cs typeface="Times New Roman"/>
              </a:rPr>
              <a:t>Around </a:t>
            </a:r>
            <a:r>
              <a:rPr lang="en-US" sz="1400" b="1">
                <a:solidFill>
                  <a:schemeClr val="accent2">
                    <a:lumMod val="49000"/>
                  </a:schemeClr>
                </a:solidFill>
                <a:latin typeface="Times New Roman"/>
                <a:ea typeface="+mn-lt"/>
                <a:cs typeface="Times New Roman"/>
              </a:rPr>
              <a:t>BW=4×10^5</a:t>
            </a:r>
            <a:r>
              <a:rPr lang="en-US" sz="1400">
                <a:latin typeface="Times New Roman"/>
                <a:ea typeface="+mn-lt"/>
                <a:cs typeface="Times New Roman"/>
              </a:rPr>
              <a:t>, the system enters a </a:t>
            </a:r>
            <a:r>
              <a:rPr lang="en-US" sz="1400" b="1">
                <a:latin typeface="Times New Roman"/>
                <a:ea typeface="+mn-lt"/>
                <a:cs typeface="Times New Roman"/>
              </a:rPr>
              <a:t>saturation regime</a:t>
            </a:r>
            <a:r>
              <a:rPr lang="en-US" sz="1400">
                <a:latin typeface="Times New Roman"/>
                <a:ea typeface="+mn-lt"/>
                <a:cs typeface="Times New Roman"/>
              </a:rPr>
              <a:t>, where further bandwidth increases produce only negligible reductions in effective entanglement latency</a:t>
            </a:r>
            <a:r>
              <a:rPr lang="en-US" sz="1400" b="0" i="0" u="none" strike="noStrike" baseline="0">
                <a:latin typeface="Times New Roman"/>
                <a:ea typeface="+mn-lt"/>
                <a:cs typeface="Times New Roman"/>
              </a:rPr>
              <a:t>.</a:t>
            </a:r>
            <a:endParaRPr lang="en-US" sz="1400">
              <a:latin typeface="Times New Roman"/>
              <a:ea typeface="+mn-lt"/>
              <a:cs typeface="Times New Roman"/>
            </a:endParaRPr>
          </a:p>
          <a:p>
            <a:r>
              <a:rPr lang="en-US" sz="1400">
                <a:latin typeface="Times New Roman"/>
                <a:ea typeface="+mn-lt"/>
                <a:cs typeface="Times New Roman"/>
              </a:rPr>
              <a:t>Therefore:</a:t>
            </a:r>
            <a:endParaRPr lang="en-US" sz="1400">
              <a:latin typeface="Times New Roman"/>
              <a:cs typeface="Times New Roman"/>
            </a:endParaRPr>
          </a:p>
          <a:p>
            <a:pPr marL="285750" indent="-285750">
              <a:buFont typeface="Arial"/>
              <a:buChar char="•"/>
            </a:pPr>
            <a:r>
              <a:rPr lang="en-US" sz="1400">
                <a:latin typeface="Times New Roman"/>
                <a:ea typeface="+mn-lt"/>
                <a:cs typeface="Times New Roman"/>
              </a:rPr>
              <a:t>Most communication bottlenecks have already been removed. </a:t>
            </a:r>
            <a:endParaRPr lang="en-US" sz="1400">
              <a:latin typeface="Times New Roman"/>
              <a:cs typeface="Times New Roman"/>
            </a:endParaRPr>
          </a:p>
          <a:p>
            <a:pPr marL="285750" indent="-285750">
              <a:buFont typeface="Arial"/>
              <a:buChar char="•"/>
            </a:pPr>
            <a:r>
              <a:rPr lang="en-US" sz="1400">
                <a:latin typeface="Times New Roman"/>
                <a:ea typeface="+mn-lt"/>
                <a:cs typeface="Times New Roman"/>
              </a:rPr>
              <a:t>Additional bandwidth provides minimal performance gain. </a:t>
            </a:r>
            <a:endParaRPr lang="en-US" sz="1400">
              <a:latin typeface="Times New Roman"/>
              <a:cs typeface="Times New Roman"/>
            </a:endParaRPr>
          </a:p>
          <a:p>
            <a:pPr marL="285750" indent="-285750">
              <a:buFont typeface="Arial"/>
              <a:buChar char="•"/>
            </a:pPr>
            <a:r>
              <a:rPr lang="en-US" sz="1400">
                <a:latin typeface="Times New Roman"/>
                <a:ea typeface="+mn-lt"/>
                <a:cs typeface="Times New Roman"/>
              </a:rPr>
              <a:t>Other factors (routing, scheduling, memory waiting, processing overhead) become dominant. </a:t>
            </a:r>
            <a:endParaRPr lang="en-US" sz="1400">
              <a:latin typeface="Times New Roman"/>
              <a:cs typeface="Times New Roman"/>
            </a:endParaRPr>
          </a:p>
          <a:p>
            <a:endParaRPr lang="en-US" sz="1400" b="1" dirty="0">
              <a:latin typeface="Times New Roman"/>
              <a:ea typeface="+mn-lt"/>
              <a:cs typeface="Times New Roman"/>
            </a:endParaRPr>
          </a:p>
        </p:txBody>
      </p:sp>
      <p:graphicFrame>
        <p:nvGraphicFramePr>
          <p:cNvPr id="4" name="Table 3">
            <a:extLst>
              <a:ext uri="{FF2B5EF4-FFF2-40B4-BE49-F238E27FC236}">
                <a16:creationId xmlns:a16="http://schemas.microsoft.com/office/drawing/2014/main" id="{1DEE46F8-3122-F623-3890-BABD89BA882F}"/>
              </a:ext>
            </a:extLst>
          </p:cNvPr>
          <p:cNvGraphicFramePr>
            <a:graphicFrameLocks noGrp="1"/>
          </p:cNvGraphicFramePr>
          <p:nvPr>
            <p:extLst>
              <p:ext uri="{D42A27DB-BD31-4B8C-83A1-F6EECF244321}">
                <p14:modId xmlns:p14="http://schemas.microsoft.com/office/powerpoint/2010/main" val="2944115924"/>
              </p:ext>
            </p:extLst>
          </p:nvPr>
        </p:nvGraphicFramePr>
        <p:xfrm>
          <a:off x="8180916" y="878417"/>
          <a:ext cx="3301828" cy="3566160"/>
        </p:xfrm>
        <a:graphic>
          <a:graphicData uri="http://schemas.openxmlformats.org/drawingml/2006/table">
            <a:tbl>
              <a:tblPr bandRow="1">
                <a:tableStyleId>{5940675A-B579-460E-94D1-54222C63F5DA}</a:tableStyleId>
              </a:tblPr>
              <a:tblGrid>
                <a:gridCol w="1650914">
                  <a:extLst>
                    <a:ext uri="{9D8B030D-6E8A-4147-A177-3AD203B41FA5}">
                      <a16:colId xmlns:a16="http://schemas.microsoft.com/office/drawing/2014/main" val="3225184958"/>
                    </a:ext>
                  </a:extLst>
                </a:gridCol>
                <a:gridCol w="1650914">
                  <a:extLst>
                    <a:ext uri="{9D8B030D-6E8A-4147-A177-3AD203B41FA5}">
                      <a16:colId xmlns:a16="http://schemas.microsoft.com/office/drawing/2014/main" val="1050828549"/>
                    </a:ext>
                  </a:extLst>
                </a:gridCol>
              </a:tblGrid>
              <a:tr h="247458">
                <a:tc>
                  <a:txBody>
                    <a:bodyPr/>
                    <a:lstStyle/>
                    <a:p>
                      <a:pPr algn="ctr">
                        <a:buNone/>
                      </a:pPr>
                      <a:r>
                        <a:rPr lang="en-US" sz="1400" b="1">
                          <a:latin typeface="Times New Roman"/>
                          <a:cs typeface="Times New Roman"/>
                        </a:rPr>
                        <a:t>Bandwidth Interval</a:t>
                      </a:r>
                    </a:p>
                  </a:txBody>
                  <a:tcPr anchor="ctr"/>
                </a:tc>
                <a:tc>
                  <a:txBody>
                    <a:bodyPr/>
                    <a:lstStyle/>
                    <a:p>
                      <a:pPr algn="ctr">
                        <a:buNone/>
                      </a:pPr>
                      <a:r>
                        <a:rPr lang="en-US" sz="1400" b="1">
                          <a:latin typeface="Times New Roman"/>
                          <a:cs typeface="Times New Roman"/>
                        </a:rPr>
                        <a:t>Gradient</a:t>
                      </a:r>
                    </a:p>
                  </a:txBody>
                  <a:tcPr anchor="ctr"/>
                </a:tc>
                <a:extLst>
                  <a:ext uri="{0D108BD9-81ED-4DB2-BD59-A6C34878D82A}">
                    <a16:rowId xmlns:a16="http://schemas.microsoft.com/office/drawing/2014/main" val="3401121200"/>
                  </a:ext>
                </a:extLst>
              </a:tr>
              <a:tr h="247458">
                <a:tc>
                  <a:txBody>
                    <a:bodyPr/>
                    <a:lstStyle/>
                    <a:p>
                      <a:pPr algn="ctr">
                        <a:buNone/>
                      </a:pPr>
                      <a:r>
                        <a:rPr lang="en-US" sz="1400" b="1">
                          <a:solidFill>
                            <a:schemeClr val="accent5">
                              <a:lumMod val="49000"/>
                            </a:schemeClr>
                          </a:solidFill>
                          <a:latin typeface="Times New Roman"/>
                          <a:cs typeface="Times New Roman"/>
                        </a:rPr>
                        <a:t>500 → 1000</a:t>
                      </a:r>
                    </a:p>
                  </a:txBody>
                  <a:tcPr anchor="ctr"/>
                </a:tc>
                <a:tc>
                  <a:txBody>
                    <a:bodyPr/>
                    <a:lstStyle/>
                    <a:p>
                      <a:pPr algn="ctr">
                        <a:buNone/>
                      </a:pPr>
                      <a:r>
                        <a:rPr lang="en-US" sz="1400" b="1">
                          <a:solidFill>
                            <a:schemeClr val="accent5">
                              <a:lumMod val="49000"/>
                            </a:schemeClr>
                          </a:solidFill>
                          <a:latin typeface="Times New Roman"/>
                          <a:cs typeface="Times New Roman"/>
                        </a:rPr>
                        <a:t>−2.0 × 10⁻²</a:t>
                      </a:r>
                    </a:p>
                  </a:txBody>
                  <a:tcPr anchor="ctr"/>
                </a:tc>
                <a:extLst>
                  <a:ext uri="{0D108BD9-81ED-4DB2-BD59-A6C34878D82A}">
                    <a16:rowId xmlns:a16="http://schemas.microsoft.com/office/drawing/2014/main" val="505979630"/>
                  </a:ext>
                </a:extLst>
              </a:tr>
              <a:tr h="247458">
                <a:tc>
                  <a:txBody>
                    <a:bodyPr/>
                    <a:lstStyle/>
                    <a:p>
                      <a:pPr algn="ctr">
                        <a:buNone/>
                      </a:pPr>
                      <a:r>
                        <a:rPr lang="en-US" sz="1400" b="1">
                          <a:solidFill>
                            <a:schemeClr val="accent5">
                              <a:lumMod val="49000"/>
                            </a:schemeClr>
                          </a:solidFill>
                          <a:latin typeface="Times New Roman"/>
                          <a:cs typeface="Times New Roman"/>
                        </a:rPr>
                        <a:t>1000 → 5000</a:t>
                      </a:r>
                    </a:p>
                  </a:txBody>
                  <a:tcPr anchor="ctr"/>
                </a:tc>
                <a:tc>
                  <a:txBody>
                    <a:bodyPr/>
                    <a:lstStyle/>
                    <a:p>
                      <a:pPr algn="ctr">
                        <a:buNone/>
                      </a:pPr>
                      <a:r>
                        <a:rPr lang="en-US" sz="1400" b="1">
                          <a:solidFill>
                            <a:schemeClr val="accent5">
                              <a:lumMod val="49000"/>
                            </a:schemeClr>
                          </a:solidFill>
                          <a:latin typeface="Times New Roman"/>
                          <a:cs typeface="Times New Roman"/>
                        </a:rPr>
                        <a:t>−2.0 × 10⁻³</a:t>
                      </a:r>
                    </a:p>
                  </a:txBody>
                  <a:tcPr anchor="ctr"/>
                </a:tc>
                <a:extLst>
                  <a:ext uri="{0D108BD9-81ED-4DB2-BD59-A6C34878D82A}">
                    <a16:rowId xmlns:a16="http://schemas.microsoft.com/office/drawing/2014/main" val="3506042381"/>
                  </a:ext>
                </a:extLst>
              </a:tr>
              <a:tr h="247458">
                <a:tc>
                  <a:txBody>
                    <a:bodyPr/>
                    <a:lstStyle/>
                    <a:p>
                      <a:pPr algn="ctr">
                        <a:buNone/>
                      </a:pPr>
                      <a:r>
                        <a:rPr lang="en-US" sz="1400" b="1">
                          <a:solidFill>
                            <a:schemeClr val="accent5">
                              <a:lumMod val="49000"/>
                            </a:schemeClr>
                          </a:solidFill>
                          <a:latin typeface="Times New Roman"/>
                          <a:cs typeface="Times New Roman"/>
                        </a:rPr>
                        <a:t>5000 → 10000</a:t>
                      </a:r>
                    </a:p>
                  </a:txBody>
                  <a:tcPr anchor="ctr"/>
                </a:tc>
                <a:tc>
                  <a:txBody>
                    <a:bodyPr/>
                    <a:lstStyle/>
                    <a:p>
                      <a:pPr algn="ctr">
                        <a:buNone/>
                      </a:pPr>
                      <a:r>
                        <a:rPr lang="en-US" sz="1400" b="1">
                          <a:solidFill>
                            <a:schemeClr val="accent5">
                              <a:lumMod val="49000"/>
                            </a:schemeClr>
                          </a:solidFill>
                          <a:latin typeface="Times New Roman"/>
                          <a:cs typeface="Times New Roman"/>
                        </a:rPr>
                        <a:t>−2.0 × 10⁻⁴</a:t>
                      </a:r>
                    </a:p>
                  </a:txBody>
                  <a:tcPr anchor="ctr"/>
                </a:tc>
                <a:extLst>
                  <a:ext uri="{0D108BD9-81ED-4DB2-BD59-A6C34878D82A}">
                    <a16:rowId xmlns:a16="http://schemas.microsoft.com/office/drawing/2014/main" val="3627339140"/>
                  </a:ext>
                </a:extLst>
              </a:tr>
              <a:tr h="247458">
                <a:tc>
                  <a:txBody>
                    <a:bodyPr/>
                    <a:lstStyle/>
                    <a:p>
                      <a:pPr algn="ctr">
                        <a:buNone/>
                      </a:pPr>
                      <a:r>
                        <a:rPr lang="en-US" sz="1400" b="1">
                          <a:solidFill>
                            <a:schemeClr val="accent2">
                              <a:lumMod val="49000"/>
                            </a:schemeClr>
                          </a:solidFill>
                          <a:latin typeface="Times New Roman"/>
                          <a:cs typeface="Times New Roman"/>
                        </a:rPr>
                        <a:t>10000 → 50000</a:t>
                      </a:r>
                    </a:p>
                  </a:txBody>
                  <a:tcPr anchor="ctr"/>
                </a:tc>
                <a:tc>
                  <a:txBody>
                    <a:bodyPr/>
                    <a:lstStyle/>
                    <a:p>
                      <a:pPr algn="ctr">
                        <a:buNone/>
                      </a:pPr>
                      <a:r>
                        <a:rPr lang="en-US" sz="1400" b="1">
                          <a:solidFill>
                            <a:schemeClr val="accent2">
                              <a:lumMod val="49000"/>
                            </a:schemeClr>
                          </a:solidFill>
                          <a:latin typeface="Times New Roman"/>
                          <a:cs typeface="Times New Roman"/>
                        </a:rPr>
                        <a:t>−2.0 × 10⁻⁵</a:t>
                      </a:r>
                    </a:p>
                  </a:txBody>
                  <a:tcPr anchor="ctr"/>
                </a:tc>
                <a:extLst>
                  <a:ext uri="{0D108BD9-81ED-4DB2-BD59-A6C34878D82A}">
                    <a16:rowId xmlns:a16="http://schemas.microsoft.com/office/drawing/2014/main" val="698895419"/>
                  </a:ext>
                </a:extLst>
              </a:tr>
              <a:tr h="247458">
                <a:tc>
                  <a:txBody>
                    <a:bodyPr/>
                    <a:lstStyle/>
                    <a:p>
                      <a:pPr algn="ctr">
                        <a:buNone/>
                      </a:pPr>
                      <a:r>
                        <a:rPr lang="en-US" sz="1400" b="1">
                          <a:solidFill>
                            <a:schemeClr val="accent2">
                              <a:lumMod val="49000"/>
                            </a:schemeClr>
                          </a:solidFill>
                          <a:latin typeface="Times New Roman"/>
                          <a:cs typeface="Times New Roman"/>
                        </a:rPr>
                        <a:t>50000 → 100000</a:t>
                      </a:r>
                    </a:p>
                  </a:txBody>
                  <a:tcPr anchor="ctr"/>
                </a:tc>
                <a:tc>
                  <a:txBody>
                    <a:bodyPr/>
                    <a:lstStyle/>
                    <a:p>
                      <a:pPr algn="ctr">
                        <a:buNone/>
                      </a:pPr>
                      <a:r>
                        <a:rPr lang="en-US" sz="1400" b="1">
                          <a:solidFill>
                            <a:schemeClr val="accent2">
                              <a:lumMod val="49000"/>
                            </a:schemeClr>
                          </a:solidFill>
                          <a:latin typeface="Times New Roman"/>
                          <a:cs typeface="Times New Roman"/>
                        </a:rPr>
                        <a:t>−2.0 × 10⁻⁶</a:t>
                      </a:r>
                    </a:p>
                  </a:txBody>
                  <a:tcPr anchor="ctr"/>
                </a:tc>
                <a:extLst>
                  <a:ext uri="{0D108BD9-81ED-4DB2-BD59-A6C34878D82A}">
                    <a16:rowId xmlns:a16="http://schemas.microsoft.com/office/drawing/2014/main" val="3268617121"/>
                  </a:ext>
                </a:extLst>
              </a:tr>
              <a:tr h="247458">
                <a:tc>
                  <a:txBody>
                    <a:bodyPr/>
                    <a:lstStyle/>
                    <a:p>
                      <a:pPr algn="ctr">
                        <a:buNone/>
                      </a:pPr>
                      <a:r>
                        <a:rPr lang="en-US" sz="1400" b="1">
                          <a:solidFill>
                            <a:schemeClr val="accent2">
                              <a:lumMod val="49000"/>
                            </a:schemeClr>
                          </a:solidFill>
                          <a:latin typeface="Times New Roman"/>
                          <a:cs typeface="Times New Roman"/>
                        </a:rPr>
                        <a:t>100000 → 200000</a:t>
                      </a:r>
                    </a:p>
                  </a:txBody>
                  <a:tcPr anchor="ctr"/>
                </a:tc>
                <a:tc>
                  <a:txBody>
                    <a:bodyPr/>
                    <a:lstStyle/>
                    <a:p>
                      <a:pPr algn="ctr">
                        <a:buNone/>
                      </a:pPr>
                      <a:r>
                        <a:rPr lang="en-US" sz="1400" b="1">
                          <a:solidFill>
                            <a:schemeClr val="accent2">
                              <a:lumMod val="49000"/>
                            </a:schemeClr>
                          </a:solidFill>
                          <a:latin typeface="Times New Roman"/>
                          <a:cs typeface="Times New Roman"/>
                        </a:rPr>
                        <a:t>−5.0 × 10⁻⁷</a:t>
                      </a:r>
                    </a:p>
                  </a:txBody>
                  <a:tcPr anchor="ctr"/>
                </a:tc>
                <a:extLst>
                  <a:ext uri="{0D108BD9-81ED-4DB2-BD59-A6C34878D82A}">
                    <a16:rowId xmlns:a16="http://schemas.microsoft.com/office/drawing/2014/main" val="3492077831"/>
                  </a:ext>
                </a:extLst>
              </a:tr>
              <a:tr h="247458">
                <a:tc>
                  <a:txBody>
                    <a:bodyPr/>
                    <a:lstStyle/>
                    <a:p>
                      <a:pPr algn="ctr">
                        <a:buNone/>
                      </a:pPr>
                      <a:r>
                        <a:rPr lang="en-US" sz="1400" b="1">
                          <a:solidFill>
                            <a:schemeClr val="accent2">
                              <a:lumMod val="49000"/>
                            </a:schemeClr>
                          </a:solidFill>
                          <a:latin typeface="Times New Roman"/>
                          <a:cs typeface="Times New Roman"/>
                        </a:rPr>
                        <a:t>200000 → 400000</a:t>
                      </a:r>
                    </a:p>
                  </a:txBody>
                  <a:tcPr anchor="ctr"/>
                </a:tc>
                <a:tc>
                  <a:txBody>
                    <a:bodyPr/>
                    <a:lstStyle/>
                    <a:p>
                      <a:pPr algn="ctr">
                        <a:buNone/>
                      </a:pPr>
                      <a:r>
                        <a:rPr lang="en-US" sz="1400" b="1">
                          <a:solidFill>
                            <a:schemeClr val="accent2">
                              <a:lumMod val="49000"/>
                            </a:schemeClr>
                          </a:solidFill>
                          <a:latin typeface="Times New Roman"/>
                          <a:cs typeface="Times New Roman"/>
                        </a:rPr>
                        <a:t>−1.25 × 10⁻⁷</a:t>
                      </a:r>
                    </a:p>
                  </a:txBody>
                  <a:tcPr anchor="ctr"/>
                </a:tc>
                <a:extLst>
                  <a:ext uri="{0D108BD9-81ED-4DB2-BD59-A6C34878D82A}">
                    <a16:rowId xmlns:a16="http://schemas.microsoft.com/office/drawing/2014/main" val="2464529949"/>
                  </a:ext>
                </a:extLst>
              </a:tr>
              <a:tr h="247458">
                <a:tc>
                  <a:txBody>
                    <a:bodyPr/>
                    <a:lstStyle/>
                    <a:p>
                      <a:pPr algn="ctr">
                        <a:buNone/>
                      </a:pPr>
                      <a:r>
                        <a:rPr lang="en-US" sz="1400" b="1">
                          <a:solidFill>
                            <a:schemeClr val="accent3">
                              <a:lumMod val="49000"/>
                            </a:schemeClr>
                          </a:solidFill>
                          <a:latin typeface="Times New Roman"/>
                          <a:cs typeface="Times New Roman"/>
                        </a:rPr>
                        <a:t>400000 → 600000</a:t>
                      </a:r>
                    </a:p>
                  </a:txBody>
                  <a:tcPr anchor="ctr"/>
                </a:tc>
                <a:tc>
                  <a:txBody>
                    <a:bodyPr/>
                    <a:lstStyle/>
                    <a:p>
                      <a:pPr algn="ctr">
                        <a:buNone/>
                      </a:pPr>
                      <a:r>
                        <a:rPr lang="en-US" sz="1400" b="1">
                          <a:solidFill>
                            <a:schemeClr val="accent3">
                              <a:lumMod val="49000"/>
                            </a:schemeClr>
                          </a:solidFill>
                          <a:latin typeface="Times New Roman"/>
                          <a:cs typeface="Times New Roman"/>
                        </a:rPr>
                        <a:t>−4.5 × 10⁻⁸</a:t>
                      </a:r>
                    </a:p>
                  </a:txBody>
                  <a:tcPr anchor="ctr"/>
                </a:tc>
                <a:extLst>
                  <a:ext uri="{0D108BD9-81ED-4DB2-BD59-A6C34878D82A}">
                    <a16:rowId xmlns:a16="http://schemas.microsoft.com/office/drawing/2014/main" val="1695354140"/>
                  </a:ext>
                </a:extLst>
              </a:tr>
              <a:tr h="247458">
                <a:tc>
                  <a:txBody>
                    <a:bodyPr/>
                    <a:lstStyle/>
                    <a:p>
                      <a:pPr algn="ctr">
                        <a:buNone/>
                      </a:pPr>
                      <a:r>
                        <a:rPr lang="en-US" sz="1400" b="1">
                          <a:solidFill>
                            <a:schemeClr val="accent3">
                              <a:lumMod val="49000"/>
                            </a:schemeClr>
                          </a:solidFill>
                          <a:latin typeface="Times New Roman"/>
                          <a:cs typeface="Times New Roman"/>
                        </a:rPr>
                        <a:t>600000 → 800000</a:t>
                      </a:r>
                    </a:p>
                  </a:txBody>
                  <a:tcPr anchor="ctr"/>
                </a:tc>
                <a:tc>
                  <a:txBody>
                    <a:bodyPr/>
                    <a:lstStyle/>
                    <a:p>
                      <a:pPr algn="ctr">
                        <a:buNone/>
                      </a:pPr>
                      <a:r>
                        <a:rPr lang="en-US" sz="1400" b="1">
                          <a:solidFill>
                            <a:schemeClr val="accent3">
                              <a:lumMod val="49000"/>
                            </a:schemeClr>
                          </a:solidFill>
                          <a:latin typeface="Times New Roman"/>
                          <a:cs typeface="Times New Roman"/>
                        </a:rPr>
                        <a:t>−2.0 × 10⁻⁸</a:t>
                      </a:r>
                    </a:p>
                  </a:txBody>
                  <a:tcPr anchor="ctr"/>
                </a:tc>
                <a:extLst>
                  <a:ext uri="{0D108BD9-81ED-4DB2-BD59-A6C34878D82A}">
                    <a16:rowId xmlns:a16="http://schemas.microsoft.com/office/drawing/2014/main" val="500626801"/>
                  </a:ext>
                </a:extLst>
              </a:tr>
              <a:tr h="247458">
                <a:tc>
                  <a:txBody>
                    <a:bodyPr/>
                    <a:lstStyle/>
                    <a:p>
                      <a:pPr algn="ctr">
                        <a:buNone/>
                      </a:pPr>
                      <a:r>
                        <a:rPr lang="en-US" sz="1400" b="1">
                          <a:solidFill>
                            <a:schemeClr val="accent3">
                              <a:lumMod val="49000"/>
                            </a:schemeClr>
                          </a:solidFill>
                          <a:latin typeface="Times New Roman"/>
                          <a:cs typeface="Times New Roman"/>
                        </a:rPr>
                        <a:t>800000 → 1000000</a:t>
                      </a:r>
                    </a:p>
                  </a:txBody>
                  <a:tcPr anchor="ctr"/>
                </a:tc>
                <a:tc>
                  <a:txBody>
                    <a:bodyPr/>
                    <a:lstStyle/>
                    <a:p>
                      <a:pPr algn="ctr">
                        <a:buNone/>
                      </a:pPr>
                      <a:r>
                        <a:rPr lang="en-US" sz="1400" b="1">
                          <a:solidFill>
                            <a:schemeClr val="accent3">
                              <a:lumMod val="49000"/>
                            </a:schemeClr>
                          </a:solidFill>
                          <a:latin typeface="Times New Roman"/>
                          <a:cs typeface="Times New Roman"/>
                        </a:rPr>
                        <a:t>−1.0 × 10⁻⁸</a:t>
                      </a:r>
                    </a:p>
                  </a:txBody>
                  <a:tcPr anchor="ctr"/>
                </a:tc>
                <a:extLst>
                  <a:ext uri="{0D108BD9-81ED-4DB2-BD59-A6C34878D82A}">
                    <a16:rowId xmlns:a16="http://schemas.microsoft.com/office/drawing/2014/main" val="1862448836"/>
                  </a:ext>
                </a:extLst>
              </a:tr>
            </a:tbl>
          </a:graphicData>
        </a:graphic>
      </p:graphicFrame>
    </p:spTree>
    <p:extLst>
      <p:ext uri="{BB962C8B-B14F-4D97-AF65-F5344CB8AC3E}">
        <p14:creationId xmlns:p14="http://schemas.microsoft.com/office/powerpoint/2010/main" val="4229183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D2B09-C3FD-C6E9-367A-28728C5E67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D2D23-2258-6682-7909-EBA62C686070}"/>
              </a:ext>
            </a:extLst>
          </p:cNvPr>
          <p:cNvSpPr>
            <a:spLocks noGrp="1"/>
          </p:cNvSpPr>
          <p:nvPr>
            <p:ph type="title"/>
          </p:nvPr>
        </p:nvSpPr>
        <p:spPr>
          <a:xfrm>
            <a:off x="4176421" y="-70420"/>
            <a:ext cx="4160116" cy="832777"/>
          </a:xfrm>
        </p:spPr>
        <p:txBody>
          <a:bodyPr>
            <a:normAutofit fontScale="90000"/>
          </a:bodyPr>
          <a:lstStyle/>
          <a:p>
            <a:r>
              <a:rPr lang="en-US" sz="3200">
                <a:latin typeface="Times New Roman"/>
                <a:ea typeface="+mj-lt"/>
                <a:cs typeface="Times New Roman"/>
              </a:rPr>
              <a:t>Why Choose BW=4×10^5</a:t>
            </a:r>
            <a:endParaRPr lang="en-US">
              <a:latin typeface="Times New Roman"/>
              <a:cs typeface="Times New Roman"/>
            </a:endParaRPr>
          </a:p>
        </p:txBody>
      </p:sp>
      <p:sp>
        <p:nvSpPr>
          <p:cNvPr id="8" name="TextBox 7">
            <a:extLst>
              <a:ext uri="{FF2B5EF4-FFF2-40B4-BE49-F238E27FC236}">
                <a16:creationId xmlns:a16="http://schemas.microsoft.com/office/drawing/2014/main" id="{FB5E1C90-F120-E64C-18A6-1AB4DFB05099}"/>
              </a:ext>
            </a:extLst>
          </p:cNvPr>
          <p:cNvSpPr txBox="1"/>
          <p:nvPr/>
        </p:nvSpPr>
        <p:spPr>
          <a:xfrm>
            <a:off x="1" y="6337577"/>
            <a:ext cx="1219199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dirty="0">
                <a:latin typeface="Times New Roman"/>
                <a:ea typeface="+mn-lt"/>
                <a:cs typeface="Times New Roman"/>
              </a:rPr>
              <a:t>BW=4×10^5  was selected because it lies at the </a:t>
            </a:r>
            <a:r>
              <a:rPr lang="en-US" sz="1400" b="1" i="1" dirty="0">
                <a:latin typeface="Times New Roman"/>
                <a:ea typeface="+mn-lt"/>
                <a:cs typeface="Times New Roman"/>
              </a:rPr>
              <a:t>knee of the latency curve</a:t>
            </a:r>
            <a:r>
              <a:rPr lang="en-US" sz="1400" i="1" dirty="0">
                <a:latin typeface="Times New Roman"/>
                <a:ea typeface="+mn-lt"/>
                <a:cs typeface="Times New Roman"/>
              </a:rPr>
              <a:t>, where communication latency is already near its minimum,  marginal </a:t>
            </a:r>
            <a:r>
              <a:rPr lang="en-US" sz="1400" i="1">
                <a:latin typeface="Times New Roman"/>
                <a:ea typeface="+mn-lt"/>
                <a:cs typeface="Times New Roman"/>
              </a:rPr>
              <a:t>improvement is negligible, the gradient approaches zero and the bandwidth allocation increases resource cost without meaningful performance gains</a:t>
            </a:r>
            <a:endParaRPr lang="en-US" i="1">
              <a:latin typeface="Times New Roman"/>
              <a:cs typeface="Times New Roman"/>
            </a:endParaRPr>
          </a:p>
        </p:txBody>
      </p:sp>
      <p:sp>
        <p:nvSpPr>
          <p:cNvPr id="11" name="TextBox 10">
            <a:extLst>
              <a:ext uri="{FF2B5EF4-FFF2-40B4-BE49-F238E27FC236}">
                <a16:creationId xmlns:a16="http://schemas.microsoft.com/office/drawing/2014/main" id="{F57806DE-BEBB-A81F-CC2D-8AA708BDA6FF}"/>
              </a:ext>
            </a:extLst>
          </p:cNvPr>
          <p:cNvSpPr txBox="1"/>
          <p:nvPr/>
        </p:nvSpPr>
        <p:spPr>
          <a:xfrm>
            <a:off x="230056" y="1050180"/>
            <a:ext cx="4022362"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latin typeface="Times New Roman"/>
                <a:cs typeface="Times New Roman"/>
              </a:rPr>
              <a:t>Effective Entanglement Latency Saturates</a:t>
            </a:r>
            <a:endParaRPr lang="en-US" sz="1400" b="1">
              <a:solidFill>
                <a:schemeClr val="accent5">
                  <a:lumMod val="49000"/>
                </a:schemeClr>
              </a:solidFill>
              <a:latin typeface="Times New Roman"/>
              <a:ea typeface="+mn-lt"/>
              <a:cs typeface="Times New Roman"/>
            </a:endParaRPr>
          </a:p>
          <a:p>
            <a:pPr algn="ctr"/>
            <a:endParaRPr lang="en-US" sz="1400" b="1" dirty="0">
              <a:latin typeface="Times New Roman"/>
              <a:ea typeface="+mn-lt"/>
              <a:cs typeface="Times New Roman"/>
            </a:endParaRPr>
          </a:p>
          <a:p>
            <a:pPr>
              <a:buFont typeface="Arial"/>
              <a:buChar char="•"/>
            </a:pPr>
            <a:r>
              <a:rPr lang="en-US" sz="1400">
                <a:latin typeface="Times New Roman"/>
                <a:ea typeface="+mn-lt"/>
                <a:cs typeface="Times New Roman"/>
              </a:rPr>
              <a:t>The effective entanglement latency decreases rapidly at low bandwidth values but approaches a near-constant minimum beyond BW=4×10^5</a:t>
            </a:r>
          </a:p>
          <a:p>
            <a:pPr>
              <a:buFont typeface="Arial"/>
              <a:buChar char="•"/>
            </a:pPr>
            <a:r>
              <a:rPr lang="en-US" sz="1400">
                <a:latin typeface="Times New Roman"/>
                <a:ea typeface="+mn-lt"/>
                <a:cs typeface="Times New Roman"/>
              </a:rPr>
              <a:t>Below 4×10^5  =  significant latency reduction </a:t>
            </a:r>
            <a:endParaRPr lang="en-US" sz="1400">
              <a:latin typeface="Times New Roman"/>
              <a:cs typeface="Times New Roman"/>
            </a:endParaRPr>
          </a:p>
          <a:p>
            <a:pPr>
              <a:buFont typeface="Arial"/>
              <a:buChar char="•"/>
            </a:pPr>
            <a:r>
              <a:rPr lang="en-US" sz="1400">
                <a:latin typeface="Times New Roman"/>
                <a:ea typeface="+mn-lt"/>
                <a:cs typeface="Times New Roman"/>
              </a:rPr>
              <a:t>Above 4×10^5 =  negligible additional improvement</a:t>
            </a:r>
            <a:endParaRPr lang="en-US">
              <a:latin typeface="Times New Roman"/>
              <a:cs typeface="Times New Roman"/>
            </a:endParaRPr>
          </a:p>
        </p:txBody>
      </p:sp>
      <p:sp>
        <p:nvSpPr>
          <p:cNvPr id="18" name="TextBox 17">
            <a:extLst>
              <a:ext uri="{FF2B5EF4-FFF2-40B4-BE49-F238E27FC236}">
                <a16:creationId xmlns:a16="http://schemas.microsoft.com/office/drawing/2014/main" id="{0F95435D-739E-D0C6-8B04-2AB3CC0B6586}"/>
              </a:ext>
            </a:extLst>
          </p:cNvPr>
          <p:cNvSpPr txBox="1"/>
          <p:nvPr/>
        </p:nvSpPr>
        <p:spPr>
          <a:xfrm>
            <a:off x="8093473" y="4870763"/>
            <a:ext cx="3831862"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latin typeface="Times New Roman"/>
                <a:ea typeface="+mn-lt"/>
                <a:cs typeface="Times New Roman"/>
              </a:rPr>
              <a:t>Gradient Analysis Indicates Saturation</a:t>
            </a:r>
          </a:p>
          <a:p>
            <a:pPr algn="ctr"/>
            <a:endParaRPr lang="en-US" sz="1400" b="1" dirty="0">
              <a:latin typeface="Times New Roman"/>
              <a:ea typeface="+mn-lt"/>
              <a:cs typeface="Times New Roman"/>
            </a:endParaRPr>
          </a:p>
          <a:p>
            <a:r>
              <a:rPr lang="en-US" sz="1400" dirty="0">
                <a:latin typeface="Times New Roman"/>
                <a:ea typeface="+mn-lt"/>
                <a:cs typeface="Times New Roman"/>
              </a:rPr>
              <a:t>The gradient becomes nearly zero around </a:t>
            </a:r>
            <a:r>
              <a:rPr lang="en-US" sz="1400">
                <a:latin typeface="Times New Roman"/>
                <a:ea typeface="+mn-lt"/>
                <a:cs typeface="Times New Roman"/>
              </a:rPr>
              <a:t>4×10^5 indicating that the latency curve has </a:t>
            </a:r>
            <a:r>
              <a:rPr lang="en-US" sz="1400" dirty="0">
                <a:latin typeface="Times New Roman"/>
                <a:ea typeface="+mn-lt"/>
                <a:cs typeface="Times New Roman"/>
              </a:rPr>
              <a:t>entered the saturation region.</a:t>
            </a:r>
            <a:endParaRPr lang="en-US" dirty="0">
              <a:latin typeface="Times New Roman"/>
              <a:ea typeface="+mn-lt"/>
              <a:cs typeface="Times New Roman"/>
            </a:endParaRPr>
          </a:p>
        </p:txBody>
      </p:sp>
      <p:sp>
        <p:nvSpPr>
          <p:cNvPr id="3" name="TextBox 2">
            <a:extLst>
              <a:ext uri="{FF2B5EF4-FFF2-40B4-BE49-F238E27FC236}">
                <a16:creationId xmlns:a16="http://schemas.microsoft.com/office/drawing/2014/main" id="{AD31C788-EC7D-1324-E1E0-DDC19AF4B6B7}"/>
              </a:ext>
            </a:extLst>
          </p:cNvPr>
          <p:cNvSpPr txBox="1"/>
          <p:nvPr/>
        </p:nvSpPr>
        <p:spPr>
          <a:xfrm>
            <a:off x="4336389" y="2828178"/>
            <a:ext cx="4159945"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latin typeface="Times New Roman"/>
                <a:cs typeface="Times New Roman"/>
              </a:rPr>
              <a:t>Marginal Improvement Approaches Zero</a:t>
            </a:r>
            <a:endParaRPr lang="en-US"/>
          </a:p>
          <a:p>
            <a:endParaRPr lang="en-US" sz="1400" b="1" dirty="0">
              <a:latin typeface="Times New Roman"/>
              <a:ea typeface="+mn-lt"/>
              <a:cs typeface="Times New Roman"/>
            </a:endParaRPr>
          </a:p>
          <a:p>
            <a:r>
              <a:rPr lang="en-US" sz="1400">
                <a:latin typeface="Times New Roman"/>
                <a:ea typeface="+mn-lt"/>
                <a:cs typeface="Times New Roman"/>
              </a:rPr>
              <a:t>The marginal improvement curve shows that the performance gain obtained from additional bandwidth decreases sharply after the knee point</a:t>
            </a:r>
            <a:r>
              <a:rPr lang="en-US" sz="1400" b="0" i="0" u="none" strike="noStrike" baseline="0">
                <a:latin typeface="Times New Roman"/>
                <a:ea typeface="+mn-lt"/>
                <a:cs typeface="Times New Roman"/>
              </a:rPr>
              <a:t>.</a:t>
            </a:r>
            <a:endParaRPr lang="en-US" sz="1400">
              <a:latin typeface="Times New Roman"/>
              <a:ea typeface="+mn-lt"/>
              <a:cs typeface="Times New Roman"/>
            </a:endParaRPr>
          </a:p>
          <a:p>
            <a:r>
              <a:rPr lang="en-US" sz="1400">
                <a:latin typeface="Times New Roman"/>
                <a:ea typeface="+mn-lt"/>
                <a:cs typeface="Times New Roman"/>
              </a:rPr>
              <a:t>At </a:t>
            </a:r>
            <a:r>
              <a:rPr lang="en-US" sz="1400" i="1">
                <a:latin typeface="Times New Roman"/>
                <a:ea typeface="+mn-lt"/>
                <a:cs typeface="Times New Roman"/>
              </a:rPr>
              <a:t>BW≈4×10^5 </a:t>
            </a:r>
            <a:r>
              <a:rPr lang="en-US" sz="1400">
                <a:latin typeface="Times New Roman"/>
                <a:ea typeface="+mn-lt"/>
                <a:cs typeface="Times New Roman"/>
              </a:rPr>
              <a:t>the improvement per additional bandwidth increment becomes extremely small.</a:t>
            </a:r>
            <a:endParaRPr lang="en-US" sz="1400" i="1">
              <a:latin typeface="Times New Roman"/>
              <a:ea typeface="+mn-lt"/>
              <a:cs typeface="Times New Roman"/>
            </a:endParaRPr>
          </a:p>
        </p:txBody>
      </p:sp>
    </p:spTree>
    <p:extLst>
      <p:ext uri="{BB962C8B-B14F-4D97-AF65-F5344CB8AC3E}">
        <p14:creationId xmlns:p14="http://schemas.microsoft.com/office/powerpoint/2010/main" val="2396664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6D7E5-7628-955E-7BFD-237250EFD3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A4195-0C32-D764-8F51-5833823E22D3}"/>
              </a:ext>
            </a:extLst>
          </p:cNvPr>
          <p:cNvSpPr>
            <a:spLocks noGrp="1"/>
          </p:cNvSpPr>
          <p:nvPr>
            <p:ph type="title"/>
          </p:nvPr>
        </p:nvSpPr>
        <p:spPr>
          <a:xfrm>
            <a:off x="4906671" y="3663"/>
            <a:ext cx="2382116" cy="758694"/>
          </a:xfrm>
        </p:spPr>
        <p:txBody>
          <a:bodyPr>
            <a:normAutofit fontScale="90000"/>
          </a:bodyPr>
          <a:lstStyle/>
          <a:p>
            <a:r>
              <a:rPr lang="en-US" sz="3200">
                <a:latin typeface="Times New Roman"/>
                <a:ea typeface="+mj-lt"/>
                <a:cs typeface="Times New Roman"/>
              </a:rPr>
              <a:t>Key Findings</a:t>
            </a:r>
            <a:endParaRPr lang="en-US"/>
          </a:p>
        </p:txBody>
      </p:sp>
      <p:sp>
        <p:nvSpPr>
          <p:cNvPr id="8" name="TextBox 7">
            <a:extLst>
              <a:ext uri="{FF2B5EF4-FFF2-40B4-BE49-F238E27FC236}">
                <a16:creationId xmlns:a16="http://schemas.microsoft.com/office/drawing/2014/main" id="{0624FACD-F5A6-53F6-EB0C-627773CF0A17}"/>
              </a:ext>
            </a:extLst>
          </p:cNvPr>
          <p:cNvSpPr txBox="1"/>
          <p:nvPr/>
        </p:nvSpPr>
        <p:spPr>
          <a:xfrm>
            <a:off x="1" y="6337577"/>
            <a:ext cx="1219199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latin typeface="Times New Roman"/>
                <a:ea typeface="+mn-lt"/>
                <a:cs typeface="Times New Roman"/>
              </a:rPr>
              <a:t>Scalability in distributed quantum computing is achieved not by increasing computational resources alone, but by jointly optimizing communication speed, routing intelligence, and resource management across multiple architectural layers.</a:t>
            </a:r>
            <a:endParaRPr lang="en-US" i="1">
              <a:latin typeface="Times New Roman"/>
              <a:cs typeface="Times New Roman"/>
            </a:endParaRPr>
          </a:p>
        </p:txBody>
      </p:sp>
      <p:sp>
        <p:nvSpPr>
          <p:cNvPr id="11" name="TextBox 10">
            <a:extLst>
              <a:ext uri="{FF2B5EF4-FFF2-40B4-BE49-F238E27FC236}">
                <a16:creationId xmlns:a16="http://schemas.microsoft.com/office/drawing/2014/main" id="{887551EC-7B0A-4FB2-A52B-EC7AF82703A5}"/>
              </a:ext>
            </a:extLst>
          </p:cNvPr>
          <p:cNvSpPr txBox="1"/>
          <p:nvPr/>
        </p:nvSpPr>
        <p:spPr>
          <a:xfrm>
            <a:off x="240639" y="849097"/>
            <a:ext cx="4022362"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latin typeface="Times New Roman"/>
                <a:cs typeface="Times New Roman"/>
              </a:rPr>
              <a:t>Communication Emerges as the Primary Scalability Bottleneck</a:t>
            </a:r>
          </a:p>
          <a:p>
            <a:r>
              <a:rPr lang="en-US" sz="1400" dirty="0">
                <a:latin typeface="Times New Roman"/>
                <a:ea typeface="+mn-lt"/>
                <a:cs typeface="Times New Roman"/>
              </a:rPr>
              <a:t>As quantum operations become faster, the relative contribution of communication—including Bell-pair generation, routing, synchronization, and queueing—surpasses computation, making communication the dominant factor governing distributed quantum </a:t>
            </a:r>
            <a:r>
              <a:rPr lang="en-US" sz="1400">
                <a:latin typeface="Times New Roman"/>
                <a:ea typeface="+mn-lt"/>
                <a:cs typeface="Times New Roman"/>
              </a:rPr>
              <a:t>system performance.</a:t>
            </a:r>
            <a:endParaRPr lang="en-US" sz="1400">
              <a:latin typeface="Times New Roman"/>
              <a:cs typeface="Times New Roman"/>
            </a:endParaRPr>
          </a:p>
        </p:txBody>
      </p:sp>
      <p:sp>
        <p:nvSpPr>
          <p:cNvPr id="18" name="TextBox 17">
            <a:extLst>
              <a:ext uri="{FF2B5EF4-FFF2-40B4-BE49-F238E27FC236}">
                <a16:creationId xmlns:a16="http://schemas.microsoft.com/office/drawing/2014/main" id="{E7A025AD-8F37-33F0-D9AA-EF5EBBF0C899}"/>
              </a:ext>
            </a:extLst>
          </p:cNvPr>
          <p:cNvSpPr txBox="1"/>
          <p:nvPr/>
        </p:nvSpPr>
        <p:spPr>
          <a:xfrm>
            <a:off x="7553723" y="4087597"/>
            <a:ext cx="4371612"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latin typeface="Times New Roman"/>
                <a:cs typeface="Times New Roman"/>
              </a:rPr>
              <a:t>Bandwidth Exhibits a Diminishing-Returns Regime</a:t>
            </a:r>
          </a:p>
          <a:p>
            <a:r>
              <a:rPr lang="en-US" sz="1400" dirty="0">
                <a:latin typeface="Times New Roman"/>
                <a:ea typeface="+mn-lt"/>
                <a:cs typeface="Times New Roman"/>
              </a:rPr>
              <a:t>Increasing bandwidth initially provides substantial reductions in effective entanglement latency and routing delay. However, beyond a critical operating region, communication is no longer the dominant bottleneck and further bandwidth increases yield progressively smaller performance gains.</a:t>
            </a:r>
          </a:p>
        </p:txBody>
      </p:sp>
      <p:sp>
        <p:nvSpPr>
          <p:cNvPr id="3" name="TextBox 2">
            <a:extLst>
              <a:ext uri="{FF2B5EF4-FFF2-40B4-BE49-F238E27FC236}">
                <a16:creationId xmlns:a16="http://schemas.microsoft.com/office/drawing/2014/main" id="{459A6E04-65FF-27BC-6DD1-703AE1B87AB3}"/>
              </a:ext>
            </a:extLst>
          </p:cNvPr>
          <p:cNvSpPr txBox="1"/>
          <p:nvPr/>
        </p:nvSpPr>
        <p:spPr>
          <a:xfrm>
            <a:off x="4018889" y="2489512"/>
            <a:ext cx="4159945"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latin typeface="Times New Roman"/>
                <a:ea typeface="+mn-lt"/>
                <a:cs typeface="Times New Roman"/>
              </a:rPr>
              <a:t>Fast Communication Infrastructure Suppresses Entanglement-Latency Sensitivity</a:t>
            </a:r>
          </a:p>
          <a:p>
            <a:r>
              <a:rPr lang="en-US" sz="1400" dirty="0">
                <a:latin typeface="Times New Roman"/>
                <a:ea typeface="+mn-lt"/>
                <a:cs typeface="Times New Roman"/>
              </a:rPr>
              <a:t>High-rate Bell-pair generation and efficient communication pathways reduce the dependence of logical error and circuit depth on entanglement latency </a:t>
            </a:r>
            <a:r>
              <a:rPr lang="en-US" sz="1400" dirty="0" err="1">
                <a:latin typeface="Times New Roman"/>
                <a:ea typeface="+mn-lt"/>
                <a:cs typeface="Times New Roman"/>
              </a:rPr>
              <a:t>τe</a:t>
            </a:r>
            <a:r>
              <a:rPr lang="en-US" sz="1400" dirty="0">
                <a:latin typeface="Times New Roman"/>
                <a:ea typeface="+mn-lt"/>
                <a:cs typeface="Times New Roman"/>
              </a:rPr>
              <a:t>, resulting in more stable and predictable system behavior</a:t>
            </a:r>
            <a:r>
              <a:rPr lang="en-US" sz="1400" b="0" i="0" u="none" strike="noStrike" baseline="0" dirty="0">
                <a:latin typeface="Times New Roman"/>
                <a:ea typeface="+mn-lt"/>
                <a:cs typeface="Times New Roman"/>
              </a:rPr>
              <a:t>.</a:t>
            </a:r>
            <a:endParaRPr lang="en-US" sz="1400" dirty="0">
              <a:latin typeface="Times New Roman"/>
              <a:ea typeface="+mn-lt"/>
              <a:cs typeface="Times New Roman"/>
            </a:endParaRPr>
          </a:p>
        </p:txBody>
      </p:sp>
      <p:sp>
        <p:nvSpPr>
          <p:cNvPr id="4" name="TextBox 3">
            <a:extLst>
              <a:ext uri="{FF2B5EF4-FFF2-40B4-BE49-F238E27FC236}">
                <a16:creationId xmlns:a16="http://schemas.microsoft.com/office/drawing/2014/main" id="{B0B3E8B6-E5CF-5587-9294-2ED87DD7ECBA}"/>
              </a:ext>
            </a:extLst>
          </p:cNvPr>
          <p:cNvSpPr txBox="1"/>
          <p:nvPr/>
        </p:nvSpPr>
        <p:spPr>
          <a:xfrm>
            <a:off x="103055" y="4087594"/>
            <a:ext cx="4159945"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latin typeface="Times New Roman"/>
                <a:cs typeface="Times New Roman"/>
              </a:rPr>
              <a:t>BW=4×10^5 Represents an Efficient Operating Point</a:t>
            </a:r>
          </a:p>
          <a:p>
            <a:r>
              <a:rPr lang="en-US" sz="1400">
                <a:latin typeface="Times New Roman"/>
                <a:ea typeface="+mn-lt"/>
                <a:cs typeface="Times New Roman"/>
              </a:rPr>
              <a:t>Gradient analysis, marginal-improvement analysis, and latency saturation behavior consistently indicate that</a:t>
            </a:r>
            <a:endParaRPr lang="en-US" sz="1400">
              <a:latin typeface="Times New Roman"/>
              <a:cs typeface="Times New Roman"/>
            </a:endParaRPr>
          </a:p>
          <a:p>
            <a:r>
              <a:rPr lang="en-US" sz="1400">
                <a:latin typeface="Times New Roman"/>
                <a:ea typeface="+mn-lt"/>
                <a:cs typeface="Times New Roman"/>
              </a:rPr>
              <a:t>BW=4×10^5 lies near the knee of the bandwidth–latency curve, where most communication benefits have already been realized while avoiding unnecessary resource allocation.</a:t>
            </a:r>
          </a:p>
        </p:txBody>
      </p:sp>
      <p:sp>
        <p:nvSpPr>
          <p:cNvPr id="5" name="TextBox 4">
            <a:extLst>
              <a:ext uri="{FF2B5EF4-FFF2-40B4-BE49-F238E27FC236}">
                <a16:creationId xmlns:a16="http://schemas.microsoft.com/office/drawing/2014/main" id="{479F4452-AC4F-DFDA-EBE3-3FD4BBDB281C}"/>
              </a:ext>
            </a:extLst>
          </p:cNvPr>
          <p:cNvSpPr txBox="1"/>
          <p:nvPr/>
        </p:nvSpPr>
        <p:spPr>
          <a:xfrm>
            <a:off x="7553722" y="849095"/>
            <a:ext cx="4371611"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latin typeface="Times New Roman"/>
                <a:cs typeface="Times New Roman"/>
              </a:rPr>
              <a:t>Multi-Layer Co-Design Significantly Improves Distributed Execution</a:t>
            </a:r>
          </a:p>
          <a:p>
            <a:r>
              <a:rPr lang="en-US" sz="1400" dirty="0">
                <a:latin typeface="Times New Roman"/>
                <a:ea typeface="+mn-lt"/>
                <a:cs typeface="Times New Roman"/>
              </a:rPr>
              <a:t>The integration of </a:t>
            </a:r>
            <a:r>
              <a:rPr lang="en-US" sz="1400" dirty="0" err="1">
                <a:latin typeface="Times New Roman"/>
                <a:ea typeface="+mn-lt"/>
                <a:cs typeface="Times New Roman"/>
              </a:rPr>
              <a:t>IonQ</a:t>
            </a:r>
            <a:r>
              <a:rPr lang="en-US" sz="1400" dirty="0">
                <a:latin typeface="Times New Roman"/>
                <a:ea typeface="+mn-lt"/>
                <a:cs typeface="Times New Roman"/>
              </a:rPr>
              <a:t>-inspired multiplexing, YOUTIAO scheduling, and </a:t>
            </a:r>
            <a:r>
              <a:rPr lang="en-US" sz="1400" dirty="0" err="1">
                <a:latin typeface="Times New Roman"/>
                <a:ea typeface="+mn-lt"/>
                <a:cs typeface="Times New Roman"/>
              </a:rPr>
              <a:t>SwitchQNet</a:t>
            </a:r>
            <a:r>
              <a:rPr lang="en-US" sz="1400" dirty="0">
                <a:latin typeface="Times New Roman"/>
                <a:ea typeface="+mn-lt"/>
                <a:cs typeface="Times New Roman"/>
              </a:rPr>
              <a:t> routing substantially reduces logical error growth and execution depth compared to conventional distributed and monolithic architectures</a:t>
            </a:r>
            <a:r>
              <a:rPr lang="en-US" sz="1400" b="0" i="0" u="none" strike="noStrike" baseline="0" dirty="0">
                <a:latin typeface="Times New Roman"/>
                <a:ea typeface="+mn-lt"/>
                <a:cs typeface="Times New Roman"/>
              </a:rPr>
              <a:t>.</a:t>
            </a:r>
            <a:endParaRPr lang="en-US" sz="1400" dirty="0">
              <a:latin typeface="Times New Roman"/>
              <a:ea typeface="+mn-lt"/>
              <a:cs typeface="Times New Roman"/>
            </a:endParaRPr>
          </a:p>
        </p:txBody>
      </p:sp>
    </p:spTree>
    <p:extLst>
      <p:ext uri="{BB962C8B-B14F-4D97-AF65-F5344CB8AC3E}">
        <p14:creationId xmlns:p14="http://schemas.microsoft.com/office/powerpoint/2010/main" val="25765764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Questions this week</vt:lpstr>
      <vt:lpstr>Unified Distributed Quantum Architecture</vt:lpstr>
      <vt:lpstr>Logical Error Vs n</vt:lpstr>
      <vt:lpstr>Depth Vs n</vt:lpstr>
      <vt:lpstr>Logical Error Vs Entanglement Latency</vt:lpstr>
      <vt:lpstr>Depth Vs Entanglement Latency</vt:lpstr>
      <vt:lpstr>Why are slopes different</vt:lpstr>
      <vt:lpstr>Gradient Analysis</vt:lpstr>
      <vt:lpstr>Why Choose BW=4×10^5</vt:lpstr>
      <vt:lpstr>Key Findings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590</cp:revision>
  <dcterms:created xsi:type="dcterms:W3CDTF">2026-06-18T10:27:17Z</dcterms:created>
  <dcterms:modified xsi:type="dcterms:W3CDTF">2026-06-21T09:14:19Z</dcterms:modified>
</cp:coreProperties>
</file>