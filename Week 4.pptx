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
  </p:notesMasterIdLst>
  <p:sldIdLst>
    <p:sldId id="257" r:id="rId2"/>
    <p:sldId id="264" r:id="rId3"/>
    <p:sldId id="265" r:id="rId4"/>
    <p:sldId id="261" r:id="rId5"/>
    <p:sldId id="258" r:id="rId6"/>
    <p:sldId id="260" r:id="rId7"/>
    <p:sldId id="266" r:id="rId8"/>
    <p:sldId id="267" r:id="rId9"/>
    <p:sldId id="26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4CD9AC-6179-9A81-45DF-32893B762B1D}" v="1840" dt="2026-06-12T11:13:31.541"/>
    <p1510:client id="{430A9DDF-A546-E40C-4742-02B69CA1C786}" v="10" dt="2026-06-14T09:38:15.625"/>
    <p1510:client id="{4D8AD074-40B1-5DED-13DC-57D47EFBEB49}" v="1" dt="2026-06-14T10:02:20.7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FDF32E-A18E-44A7-BC9E-18D820CEE7E1}" type="datetimeFigureOut">
              <a:t>6/14/2026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3E5A0D-5212-4055-BD5D-C482C66D7326}" type="slidenum">
              <a:t>‹#›</a:t>
            </a:fld>
            <a:endParaRPr lang="en-US"/>
          </a:p>
        </p:txBody>
      </p:sp>
    </p:spTree>
    <p:extLst>
      <p:ext uri="{BB962C8B-B14F-4D97-AF65-F5344CB8AC3E}">
        <p14:creationId xmlns:p14="http://schemas.microsoft.com/office/powerpoint/2010/main" val="3570672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week we focused on four key questions. First, understanding why direct architectures consistently achieve the lowest logical error and depth. Second, studying how bandwidth influences communication latency and routing delay. Third, identifying an optimal operating point for fast quantum interconnects through bandwidth sweep analysis. Finally, evaluating how communication-aware frameworks such as YOUTIAO and </a:t>
            </a:r>
            <a:r>
              <a:rPr lang="en-US" dirty="0" err="1"/>
              <a:t>SwitchQNet</a:t>
            </a:r>
            <a:r>
              <a:rPr lang="en-US" dirty="0"/>
              <a:t> improve distributed quantum execution. Together, these questions help us understand the role of communication in achieving scalable distributed quantum computing."</a:t>
            </a:r>
          </a:p>
        </p:txBody>
      </p:sp>
      <p:sp>
        <p:nvSpPr>
          <p:cNvPr id="4" name="Slide Number Placeholder 3"/>
          <p:cNvSpPr>
            <a:spLocks noGrp="1"/>
          </p:cNvSpPr>
          <p:nvPr>
            <p:ph type="sldNum" sz="quarter" idx="5"/>
          </p:nvPr>
        </p:nvSpPr>
        <p:spPr/>
        <p:txBody>
          <a:bodyPr/>
          <a:lstStyle/>
          <a:p>
            <a:fld id="{523E5A0D-5212-4055-BD5D-C482C66D7326}" type="slidenum">
              <a:t>1</a:t>
            </a:fld>
            <a:endParaRPr lang="en-US"/>
          </a:p>
        </p:txBody>
      </p:sp>
    </p:spTree>
    <p:extLst>
      <p:ext uri="{BB962C8B-B14F-4D97-AF65-F5344CB8AC3E}">
        <p14:creationId xmlns:p14="http://schemas.microsoft.com/office/powerpoint/2010/main" val="401552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5EFD5-F81D-426D-7CF9-57534AC429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916836-B990-C7F4-53EE-40709E0A35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92DA2-F126-4879-39BA-5DC2E1F9B9DD}"/>
              </a:ext>
            </a:extLst>
          </p:cNvPr>
          <p:cNvSpPr>
            <a:spLocks noGrp="1"/>
          </p:cNvSpPr>
          <p:nvPr>
            <p:ph type="body" idx="1"/>
          </p:nvPr>
        </p:nvSpPr>
        <p:spPr/>
        <p:txBody>
          <a:bodyPr/>
          <a:lstStyle/>
          <a:p>
            <a:r>
              <a:rPr lang="en-US" i="1"/>
              <a:t>"The Direct Fast architecture remains the lowest because all operations are executed locally. Unlike distributed systems, it does not need Bell-pair generation, teleportation, or classical synchronization. As τₑ increases, distributed systems accumulate additional waiting time, whereas Direct Fast remains largely unaffected. This is why the depth curves remain consistently below all distributed alternatives."</a:t>
            </a:r>
            <a:endParaRPr lang="en-US"/>
          </a:p>
          <a:p>
            <a:endParaRPr lang="en-US" dirty="0">
              <a:ea typeface="Calibri"/>
              <a:cs typeface="Calibri"/>
            </a:endParaRPr>
          </a:p>
        </p:txBody>
      </p:sp>
      <p:sp>
        <p:nvSpPr>
          <p:cNvPr id="4" name="Slide Number Placeholder 3">
            <a:extLst>
              <a:ext uri="{FF2B5EF4-FFF2-40B4-BE49-F238E27FC236}">
                <a16:creationId xmlns:a16="http://schemas.microsoft.com/office/drawing/2014/main" id="{73A17FDB-4509-45F1-3BBD-C61C240F73F0}"/>
              </a:ext>
            </a:extLst>
          </p:cNvPr>
          <p:cNvSpPr>
            <a:spLocks noGrp="1"/>
          </p:cNvSpPr>
          <p:nvPr>
            <p:ph type="sldNum" sz="quarter" idx="5"/>
          </p:nvPr>
        </p:nvSpPr>
        <p:spPr/>
        <p:txBody>
          <a:bodyPr/>
          <a:lstStyle/>
          <a:p>
            <a:fld id="{523E5A0D-5212-4055-BD5D-C482C66D7326}" type="slidenum">
              <a:t>2</a:t>
            </a:fld>
            <a:endParaRPr lang="en-US"/>
          </a:p>
        </p:txBody>
      </p:sp>
    </p:spTree>
    <p:extLst>
      <p:ext uri="{BB962C8B-B14F-4D97-AF65-F5344CB8AC3E}">
        <p14:creationId xmlns:p14="http://schemas.microsoft.com/office/powerpoint/2010/main" val="39379472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4764E-4F10-BA95-1AEC-64641CB876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E95A5-F610-5153-B4CB-0480BED8A2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ECE8F-2856-269F-0526-FC3A7B3715FA}"/>
              </a:ext>
            </a:extLst>
          </p:cNvPr>
          <p:cNvSpPr>
            <a:spLocks noGrp="1"/>
          </p:cNvSpPr>
          <p:nvPr>
            <p:ph type="body" idx="1"/>
          </p:nvPr>
        </p:nvSpPr>
        <p:spPr/>
        <p:txBody>
          <a:bodyPr/>
          <a:lstStyle/>
          <a:p>
            <a:r>
              <a:rPr lang="en-US"/>
              <a:t>"The Direct architecture represents the communication-free baseline. Since all gates are executed locally, it avoids Bell-pair generation, teleportation, and classical synchronization. Distributed systems must pay these communication costs for every remote operation. Therefore, as entanglement latency increases, distributed depth grows significantly while Direct remains comparatively unaffected, which explains why Direct appears lowest in both the depth and logical-error plots."</a:t>
            </a:r>
          </a:p>
          <a:p>
            <a:endParaRPr lang="en-US" dirty="0">
              <a:ea typeface="Calibri"/>
              <a:cs typeface="Calibri"/>
            </a:endParaRPr>
          </a:p>
        </p:txBody>
      </p:sp>
      <p:sp>
        <p:nvSpPr>
          <p:cNvPr id="4" name="Slide Number Placeholder 3">
            <a:extLst>
              <a:ext uri="{FF2B5EF4-FFF2-40B4-BE49-F238E27FC236}">
                <a16:creationId xmlns:a16="http://schemas.microsoft.com/office/drawing/2014/main" id="{7ECAB070-F937-4528-0DE5-10150FEFCA90}"/>
              </a:ext>
            </a:extLst>
          </p:cNvPr>
          <p:cNvSpPr>
            <a:spLocks noGrp="1"/>
          </p:cNvSpPr>
          <p:nvPr>
            <p:ph type="sldNum" sz="quarter" idx="5"/>
          </p:nvPr>
        </p:nvSpPr>
        <p:spPr/>
        <p:txBody>
          <a:bodyPr/>
          <a:lstStyle/>
          <a:p>
            <a:fld id="{523E5A0D-5212-4055-BD5D-C482C66D7326}" type="slidenum">
              <a:t>3</a:t>
            </a:fld>
            <a:endParaRPr lang="en-US"/>
          </a:p>
        </p:txBody>
      </p:sp>
    </p:spTree>
    <p:extLst>
      <p:ext uri="{BB962C8B-B14F-4D97-AF65-F5344CB8AC3E}">
        <p14:creationId xmlns:p14="http://schemas.microsoft.com/office/powerpoint/2010/main" val="2907449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8A185-2DE6-5637-FDEC-A1E4C433C1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C8441-C72E-DAD8-9865-4D5805168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D46DEA-AD9E-A149-4866-C7B84BC1A267}"/>
              </a:ext>
            </a:extLst>
          </p:cNvPr>
          <p:cNvSpPr>
            <a:spLocks noGrp="1"/>
          </p:cNvSpPr>
          <p:nvPr>
            <p:ph type="body" idx="1"/>
          </p:nvPr>
        </p:nvSpPr>
        <p:spPr/>
        <p:txBody>
          <a:bodyPr/>
          <a:lstStyle/>
          <a:p>
            <a:r>
              <a:rPr lang="en-US" dirty="0"/>
              <a:t>The paper demonstrates Bell-pair generation rates approaching 10510^5105 Bell pairs per second with high fidelity, showing that high-speed modular communication is becoming experimentally feasible.</a:t>
            </a:r>
          </a:p>
          <a:p>
            <a:r>
              <a:rPr lang="en-US"/>
              <a:t>"Using the bandwidth sweep presented earlier, we observed that increasing bandwidth initially provides significant improvements in latency and routing delay. However, beyond a certain point the gains become increasingly marginal."</a:t>
            </a:r>
          </a:p>
          <a:p>
            <a:r>
              <a:rPr lang="en-US"/>
              <a:t>"Our sweep identified a bandwidth of approximately 4×1054\times10^54×105 as a practical operating point."</a:t>
            </a:r>
          </a:p>
          <a:p>
            <a:r>
              <a:rPr lang="en-US" dirty="0"/>
              <a:t>"At this value, communication bottlenecks are largely removed and routing delay becomes very small. Further increases in bandwidth continue to improve performance, but the improvements are relatively minor compared to the additional communication resources required."</a:t>
            </a:r>
            <a:endParaRPr lang="en-US" dirty="0">
              <a:ea typeface="Calibri"/>
              <a:cs typeface="Calibri"/>
            </a:endParaRPr>
          </a:p>
          <a:p>
            <a:r>
              <a:rPr lang="en-US"/>
              <a:t>"Therefore, 4×1054\times10^54×105 represents the beginning of the diminishing-returns regime and serves as a realistic fast-interconnect configuration for our study."</a:t>
            </a:r>
          </a:p>
          <a:p>
            <a:endParaRPr lang="en-US" dirty="0">
              <a:ea typeface="Calibri"/>
              <a:cs typeface="Calibri"/>
            </a:endParaRPr>
          </a:p>
        </p:txBody>
      </p:sp>
      <p:sp>
        <p:nvSpPr>
          <p:cNvPr id="4" name="Slide Number Placeholder 3">
            <a:extLst>
              <a:ext uri="{FF2B5EF4-FFF2-40B4-BE49-F238E27FC236}">
                <a16:creationId xmlns:a16="http://schemas.microsoft.com/office/drawing/2014/main" id="{43BF90D0-A572-8632-7A3D-ACA8B57B1571}"/>
              </a:ext>
            </a:extLst>
          </p:cNvPr>
          <p:cNvSpPr>
            <a:spLocks noGrp="1"/>
          </p:cNvSpPr>
          <p:nvPr>
            <p:ph type="sldNum" sz="quarter" idx="5"/>
          </p:nvPr>
        </p:nvSpPr>
        <p:spPr/>
        <p:txBody>
          <a:bodyPr/>
          <a:lstStyle/>
          <a:p>
            <a:fld id="{523E5A0D-5212-4055-BD5D-C482C66D7326}" type="slidenum">
              <a:t>4</a:t>
            </a:fld>
            <a:endParaRPr lang="en-US"/>
          </a:p>
        </p:txBody>
      </p:sp>
    </p:spTree>
    <p:extLst>
      <p:ext uri="{BB962C8B-B14F-4D97-AF65-F5344CB8AC3E}">
        <p14:creationId xmlns:p14="http://schemas.microsoft.com/office/powerpoint/2010/main" val="30374976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62D4D-C1D3-723F-3FCE-12FBCCC101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405ECE-1AD3-0403-2104-2845DFA1CA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3EE7B5-6B2F-DE5C-91CF-0BC1F7688644}"/>
              </a:ext>
            </a:extLst>
          </p:cNvPr>
          <p:cNvSpPr>
            <a:spLocks noGrp="1"/>
          </p:cNvSpPr>
          <p:nvPr>
            <p:ph type="body" idx="1"/>
          </p:nvPr>
        </p:nvSpPr>
        <p:spPr/>
        <p:txBody>
          <a:bodyPr/>
          <a:lstStyle/>
          <a:p>
            <a:r>
              <a:rPr lang="en-US"/>
              <a:t>"The first graph shows the effective entanglement latency as a function of bandwidth."</a:t>
            </a:r>
          </a:p>
          <a:p>
            <a:r>
              <a:rPr lang="en-US"/>
              <a:t>"As bandwidth increases, the communication system can generate and distribute Bell pairs more quickly. Consequently, the effective entanglement latency decreases significantly."</a:t>
            </a:r>
          </a:p>
          <a:p>
            <a:r>
              <a:rPr lang="en-US"/>
              <a:t>"Notice that the reduction is very steep at lower bandwidth values. For example, increasing bandwidth from approximately 5×1025\times10^25×102 to 10410^4104 produces a dramatic reduction in latency."</a:t>
            </a:r>
          </a:p>
          <a:p>
            <a:r>
              <a:rPr lang="en-US"/>
              <a:t>"However, after a certain point the curve begins to flatten. This indicates that communication is becoming less of a bottleneck."</a:t>
            </a:r>
          </a:p>
          <a:p>
            <a:r>
              <a:rPr lang="en-US"/>
              <a:t>Literature Connection</a:t>
            </a:r>
          </a:p>
          <a:p>
            <a:r>
              <a:rPr lang="en-US" dirty="0"/>
              <a:t>"This </a:t>
            </a:r>
            <a:r>
              <a:rPr lang="en-US" dirty="0" err="1"/>
              <a:t>behaviour</a:t>
            </a:r>
            <a:r>
              <a:rPr lang="en-US" dirty="0"/>
              <a:t> is consistent with Monroe et al., where the entanglement generation time is inversely proportional to the communication attempt rate."</a:t>
            </a:r>
            <a:endParaRPr lang="en-US" dirty="0">
              <a:ea typeface="Calibri"/>
              <a:cs typeface="Calibri"/>
            </a:endParaRPr>
          </a:p>
          <a:p>
            <a:r>
              <a:rPr lang="en-US" dirty="0" err="1"/>
              <a:t>τE</a:t>
            </a:r>
            <a:r>
              <a:rPr lang="en-US" dirty="0"/>
              <a:t>=1Rp\</a:t>
            </a:r>
            <a:r>
              <a:rPr lang="en-US" dirty="0" err="1"/>
              <a:t>tau_E</a:t>
            </a:r>
            <a:r>
              <a:rPr lang="en-US" dirty="0"/>
              <a:t> = \frac{1}{Rp}</a:t>
            </a:r>
            <a:r>
              <a:rPr lang="en-US" dirty="0" err="1"/>
              <a:t>τE</a:t>
            </a:r>
            <a:r>
              <a:rPr lang="en-US" dirty="0"/>
              <a:t> =Rp1  </a:t>
            </a:r>
            <a:endParaRPr lang="en-US" dirty="0">
              <a:ea typeface="Calibri"/>
              <a:cs typeface="Calibri"/>
            </a:endParaRPr>
          </a:p>
          <a:p>
            <a:r>
              <a:rPr lang="en-US"/>
              <a:t>"Increasing bandwidth effectively increases the communication rate, reducing entanglement latency."</a:t>
            </a:r>
          </a:p>
          <a:p>
            <a:endParaRPr lang="en-US" dirty="0">
              <a:ea typeface="Calibri"/>
              <a:cs typeface="Calibri"/>
            </a:endParaRPr>
          </a:p>
          <a:p>
            <a:endParaRPr lang="en-US" dirty="0">
              <a:ea typeface="Calibri"/>
              <a:cs typeface="Calibri"/>
            </a:endParaRPr>
          </a:p>
          <a:p>
            <a:r>
              <a:rPr lang="en-US"/>
              <a:t>"The third graph is perhaps the most important one."</a:t>
            </a:r>
          </a:p>
          <a:p>
            <a:r>
              <a:rPr lang="en-US"/>
              <a:t>"Here we measure the marginal performance improvement obtained by increasing bandwidth."</a:t>
            </a:r>
          </a:p>
          <a:p>
            <a:r>
              <a:rPr lang="en-US"/>
              <a:t>"Initially, every increase in bandwidth produces substantial gains."</a:t>
            </a:r>
          </a:p>
          <a:p>
            <a:r>
              <a:rPr lang="en-US"/>
              <a:t>"However, beyond a threshold the gains rapidly diminish."</a:t>
            </a:r>
          </a:p>
          <a:p>
            <a:r>
              <a:rPr lang="en-US"/>
              <a:t>"The improvement curve approaches zero even though bandwidth continues increasing."</a:t>
            </a:r>
          </a:p>
          <a:p>
            <a:endParaRPr lang="en-US" dirty="0">
              <a:ea typeface="Calibri"/>
              <a:cs typeface="Calibri"/>
            </a:endParaRPr>
          </a:p>
          <a:p>
            <a:endParaRPr lang="en-US" dirty="0">
              <a:ea typeface="Calibri"/>
              <a:cs typeface="Calibri"/>
            </a:endParaRPr>
          </a:p>
          <a:p>
            <a:r>
              <a:rPr lang="en-US"/>
              <a:t>"Once Bell-pair generation becomes sufficiently fast, other factors begin to dominate execution time."</a:t>
            </a:r>
          </a:p>
          <a:p>
            <a:endParaRPr lang="en-US" dirty="0">
              <a:ea typeface="Calibri"/>
              <a:cs typeface="Calibri"/>
            </a:endParaRPr>
          </a:p>
          <a:p>
            <a:r>
              <a:rPr lang="en-US"/>
              <a:t>"The red dashed line indicates our chosen operating point."</a:t>
            </a:r>
          </a:p>
          <a:p>
            <a:r>
              <a:rPr lang="en-US"/>
              <a:t>"At BW=4×105BW = 4\times10^5BW=4×105, communication latency has already been reduced dramatically."</a:t>
            </a:r>
          </a:p>
          <a:p>
            <a:r>
              <a:rPr lang="en-US"/>
              <a:t>"Routing delay is very small."</a:t>
            </a:r>
          </a:p>
          <a:p>
            <a:r>
              <a:rPr lang="en-US"/>
              <a:t>"Most of the communication bottleneck has been eliminated."</a:t>
            </a:r>
          </a:p>
          <a:p>
            <a:r>
              <a:rPr lang="en-US"/>
              <a:t>"Beyond this point, additional bandwidth produces only marginal improvement while requiring substantially more communication resources."</a:t>
            </a:r>
          </a:p>
          <a:p>
            <a:r>
              <a:rPr lang="en-US"/>
              <a:t>Literature Justification</a:t>
            </a:r>
          </a:p>
          <a:p>
            <a:r>
              <a:rPr lang="en-US"/>
              <a:t>"This choice is further supported by recent work on high-rate modular interconnects between neutral-atom quantum processors, where Bell-pair generation rates approaching 10510^5105 per second have already been demonstrated."</a:t>
            </a:r>
          </a:p>
          <a:p>
            <a:endParaRPr lang="en-US" dirty="0">
              <a:ea typeface="Calibri"/>
              <a:cs typeface="Calibri"/>
            </a:endParaRPr>
          </a:p>
        </p:txBody>
      </p:sp>
      <p:sp>
        <p:nvSpPr>
          <p:cNvPr id="4" name="Slide Number Placeholder 3">
            <a:extLst>
              <a:ext uri="{FF2B5EF4-FFF2-40B4-BE49-F238E27FC236}">
                <a16:creationId xmlns:a16="http://schemas.microsoft.com/office/drawing/2014/main" id="{9CE9BDEC-9D76-B946-5949-FD32AC06BE1D}"/>
              </a:ext>
            </a:extLst>
          </p:cNvPr>
          <p:cNvSpPr>
            <a:spLocks noGrp="1"/>
          </p:cNvSpPr>
          <p:nvPr>
            <p:ph type="sldNum" sz="quarter" idx="5"/>
          </p:nvPr>
        </p:nvSpPr>
        <p:spPr/>
        <p:txBody>
          <a:bodyPr/>
          <a:lstStyle/>
          <a:p>
            <a:fld id="{523E5A0D-5212-4055-BD5D-C482C66D7326}" type="slidenum">
              <a:t>5</a:t>
            </a:fld>
            <a:endParaRPr lang="en-US"/>
          </a:p>
        </p:txBody>
      </p:sp>
    </p:spTree>
    <p:extLst>
      <p:ext uri="{BB962C8B-B14F-4D97-AF65-F5344CB8AC3E}">
        <p14:creationId xmlns:p14="http://schemas.microsoft.com/office/powerpoint/2010/main" val="968046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63E51A-73FD-F4FF-D192-C985ACD86F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DB3F3-4D25-ADA5-E643-96FD8B123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817138-D43C-7853-B28B-7CAC3E7EA8D4}"/>
              </a:ext>
            </a:extLst>
          </p:cNvPr>
          <p:cNvSpPr>
            <a:spLocks noGrp="1"/>
          </p:cNvSpPr>
          <p:nvPr>
            <p:ph type="body" idx="1"/>
          </p:nvPr>
        </p:nvSpPr>
        <p:spPr/>
        <p:txBody>
          <a:bodyPr/>
          <a:lstStyle/>
          <a:p>
            <a:r>
              <a:rPr lang="en-US" dirty="0"/>
              <a:t>"On the left, we observe the relationship between bandwidth and effective entanglement latency, </a:t>
            </a:r>
            <a:r>
              <a:rPr lang="en-US" dirty="0" err="1"/>
              <a:t>τeff</a:t>
            </a:r>
            <a:r>
              <a:rPr lang="en-US" dirty="0"/>
              <a:t>.</a:t>
            </a:r>
          </a:p>
          <a:p>
            <a:r>
              <a:rPr lang="en-US"/>
              <a:t>As bandwidth increases from 500 to 1,000,000, the effective latency decreases from 20 units to 0.01 units.</a:t>
            </a:r>
          </a:p>
          <a:p>
            <a:r>
              <a:rPr lang="en-US"/>
              <a:t>This follows the inverse relationship:</a:t>
            </a:r>
          </a:p>
          <a:p>
            <a:r>
              <a:rPr lang="en-US" dirty="0"/>
              <a:t>τeff∝1BW\tau_{eff} \</a:t>
            </a:r>
            <a:r>
              <a:rPr lang="en-US" dirty="0" err="1"/>
              <a:t>propto</a:t>
            </a:r>
            <a:r>
              <a:rPr lang="en-US" dirty="0"/>
              <a:t> \frac{1}{BW}</a:t>
            </a:r>
            <a:r>
              <a:rPr lang="en-US" dirty="0" err="1"/>
              <a:t>τeff</a:t>
            </a:r>
            <a:r>
              <a:rPr lang="en-US" dirty="0"/>
              <a:t> ∝BW1  </a:t>
            </a:r>
            <a:endParaRPr lang="en-US" dirty="0">
              <a:ea typeface="Calibri"/>
              <a:cs typeface="Calibri"/>
            </a:endParaRPr>
          </a:p>
          <a:p>
            <a:r>
              <a:rPr lang="en-US"/>
              <a:t>meaning that faster communication links reduce the waiting time required for entanglement generation."</a:t>
            </a:r>
          </a:p>
          <a:p>
            <a:endParaRPr lang="en-US" dirty="0">
              <a:ea typeface="Calibri"/>
              <a:cs typeface="Calibri"/>
            </a:endParaRPr>
          </a:p>
          <a:p>
            <a:r>
              <a:rPr lang="en-US"/>
              <a:t>"This observation is consistent with the literature.</a:t>
            </a:r>
          </a:p>
          <a:p>
            <a:r>
              <a:rPr lang="en-US"/>
              <a:t>Monroe et al. (2014) show that scaling resources does not always produce proportional performance improvements.</a:t>
            </a:r>
          </a:p>
          <a:p>
            <a:r>
              <a:rPr lang="en-US" dirty="0"/>
              <a:t>Similarly, recent distributed quantum computing experiments demonstrate that once Bell-pair generation becomes sufficiently fast, the dominant bottlenecks shift to local gate operations and error-correction processes.</a:t>
            </a:r>
            <a:endParaRPr lang="en-US" dirty="0">
              <a:ea typeface="Calibri"/>
              <a:cs typeface="Calibri"/>
            </a:endParaRPr>
          </a:p>
          <a:p>
            <a:r>
              <a:rPr lang="en-US"/>
              <a:t>Therefore, communication optimization eventually reaches a saturation point."</a:t>
            </a:r>
          </a:p>
          <a:p>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3A8A5F13-C7D2-A0AB-20DB-EFC8217DF9EF}"/>
              </a:ext>
            </a:extLst>
          </p:cNvPr>
          <p:cNvSpPr>
            <a:spLocks noGrp="1"/>
          </p:cNvSpPr>
          <p:nvPr>
            <p:ph type="sldNum" sz="quarter" idx="5"/>
          </p:nvPr>
        </p:nvSpPr>
        <p:spPr/>
        <p:txBody>
          <a:bodyPr/>
          <a:lstStyle/>
          <a:p>
            <a:fld id="{523E5A0D-5212-4055-BD5D-C482C66D7326}" type="slidenum">
              <a:t>6</a:t>
            </a:fld>
            <a:endParaRPr lang="en-US"/>
          </a:p>
        </p:txBody>
      </p:sp>
    </p:spTree>
    <p:extLst>
      <p:ext uri="{BB962C8B-B14F-4D97-AF65-F5344CB8AC3E}">
        <p14:creationId xmlns:p14="http://schemas.microsoft.com/office/powerpoint/2010/main" val="25147841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36738-E1CF-55CB-B1A0-CDEFF5BEAB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3AE90E-2012-29C5-F49C-4F5B4B761C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3E5B15-16A8-C3DC-3FE5-6273FBD86A84}"/>
              </a:ext>
            </a:extLst>
          </p:cNvPr>
          <p:cNvSpPr>
            <a:spLocks noGrp="1"/>
          </p:cNvSpPr>
          <p:nvPr>
            <p:ph type="body" idx="1"/>
          </p:nvPr>
        </p:nvSpPr>
        <p:spPr/>
        <p:txBody>
          <a:bodyPr/>
          <a:lstStyle/>
          <a:p>
            <a:r>
              <a:rPr lang="en-US"/>
              <a:t>"The important observation here is that YOUTIAO is not improving the algorithm itself. The improvement comes from communication-aware control. By using FDM and TDM, more communication events can occur simultaneously, reducing waiting and synchronization delays. This decreases circuit depth, and since qubits spend less time idle, logical errors are also reduced. The effect becomes increasingly visible as system size and entanglement latency increase."</a:t>
            </a:r>
          </a:p>
        </p:txBody>
      </p:sp>
      <p:sp>
        <p:nvSpPr>
          <p:cNvPr id="4" name="Slide Number Placeholder 3">
            <a:extLst>
              <a:ext uri="{FF2B5EF4-FFF2-40B4-BE49-F238E27FC236}">
                <a16:creationId xmlns:a16="http://schemas.microsoft.com/office/drawing/2014/main" id="{AAB3749B-4162-BAE4-8EB3-23AB5BECFACD}"/>
              </a:ext>
            </a:extLst>
          </p:cNvPr>
          <p:cNvSpPr>
            <a:spLocks noGrp="1"/>
          </p:cNvSpPr>
          <p:nvPr>
            <p:ph type="sldNum" sz="quarter" idx="5"/>
          </p:nvPr>
        </p:nvSpPr>
        <p:spPr/>
        <p:txBody>
          <a:bodyPr/>
          <a:lstStyle/>
          <a:p>
            <a:fld id="{523E5A0D-5212-4055-BD5D-C482C66D7326}" type="slidenum">
              <a:t>7</a:t>
            </a:fld>
            <a:endParaRPr lang="en-US"/>
          </a:p>
        </p:txBody>
      </p:sp>
    </p:spTree>
    <p:extLst>
      <p:ext uri="{BB962C8B-B14F-4D97-AF65-F5344CB8AC3E}">
        <p14:creationId xmlns:p14="http://schemas.microsoft.com/office/powerpoint/2010/main" val="3227711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2CB3D-843C-0E7F-20D7-5765F08F94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3F3397-B827-0FAF-393A-59764CBFB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2ACD0F-F71E-BE79-C7BF-99500E056AC7}"/>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42F4040B-BF13-139B-27D5-46762CBD47EC}"/>
              </a:ext>
            </a:extLst>
          </p:cNvPr>
          <p:cNvSpPr>
            <a:spLocks noGrp="1"/>
          </p:cNvSpPr>
          <p:nvPr>
            <p:ph type="sldNum" sz="quarter" idx="5"/>
          </p:nvPr>
        </p:nvSpPr>
        <p:spPr/>
        <p:txBody>
          <a:bodyPr/>
          <a:lstStyle/>
          <a:p>
            <a:fld id="{523E5A0D-5212-4055-BD5D-C482C66D7326}" type="slidenum">
              <a:t>8</a:t>
            </a:fld>
            <a:endParaRPr lang="en-US"/>
          </a:p>
        </p:txBody>
      </p:sp>
    </p:spTree>
    <p:extLst>
      <p:ext uri="{BB962C8B-B14F-4D97-AF65-F5344CB8AC3E}">
        <p14:creationId xmlns:p14="http://schemas.microsoft.com/office/powerpoint/2010/main" val="39689922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212F2-E258-195F-F415-24BFE874B7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E71E7D-2104-4999-95A9-D3D88E0251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92BACF-BA03-CB2C-3FC7-0E9038180FE5}"/>
              </a:ext>
            </a:extLst>
          </p:cNvPr>
          <p:cNvSpPr>
            <a:spLocks noGrp="1"/>
          </p:cNvSpPr>
          <p:nvPr>
            <p:ph type="body" idx="1"/>
          </p:nvPr>
        </p:nvSpPr>
        <p:spPr/>
        <p:txBody>
          <a:bodyPr/>
          <a:lstStyle/>
          <a:p>
            <a:endParaRPr lang="en-US" dirty="0">
              <a:ea typeface="Calibri"/>
              <a:cs typeface="Calibri"/>
            </a:endParaRPr>
          </a:p>
        </p:txBody>
      </p:sp>
      <p:sp>
        <p:nvSpPr>
          <p:cNvPr id="4" name="Slide Number Placeholder 3">
            <a:extLst>
              <a:ext uri="{FF2B5EF4-FFF2-40B4-BE49-F238E27FC236}">
                <a16:creationId xmlns:a16="http://schemas.microsoft.com/office/drawing/2014/main" id="{2A735471-C00A-C91A-2419-9B53123FBF44}"/>
              </a:ext>
            </a:extLst>
          </p:cNvPr>
          <p:cNvSpPr>
            <a:spLocks noGrp="1"/>
          </p:cNvSpPr>
          <p:nvPr>
            <p:ph type="sldNum" sz="quarter" idx="5"/>
          </p:nvPr>
        </p:nvSpPr>
        <p:spPr/>
        <p:txBody>
          <a:bodyPr/>
          <a:lstStyle/>
          <a:p>
            <a:fld id="{523E5A0D-5212-4055-BD5D-C482C66D7326}" type="slidenum">
              <a:t>9</a:t>
            </a:fld>
            <a:endParaRPr lang="en-US"/>
          </a:p>
        </p:txBody>
      </p:sp>
    </p:spTree>
    <p:extLst>
      <p:ext uri="{BB962C8B-B14F-4D97-AF65-F5344CB8AC3E}">
        <p14:creationId xmlns:p14="http://schemas.microsoft.com/office/powerpoint/2010/main" val="2905860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ieeexplore.ieee.org/author/37089609065"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s://ieeexplore.ieee.org/author/553858041407029" TargetMode="Externa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658EE24-2DCE-2E8A-A26E-CEBAB44BE1BD}"/>
              </a:ext>
            </a:extLst>
          </p:cNvPr>
          <p:cNvSpPr txBox="1">
            <a:spLocks/>
          </p:cNvSpPr>
          <p:nvPr/>
        </p:nvSpPr>
        <p:spPr>
          <a:xfrm>
            <a:off x="185615" y="856884"/>
            <a:ext cx="3810000" cy="230053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latin typeface="Times New Roman"/>
                <a:cs typeface="Times New Roman"/>
              </a:rPr>
              <a:t> </a:t>
            </a:r>
            <a:r>
              <a:rPr lang="en-US" sz="1800" b="1">
                <a:latin typeface="Times New Roman"/>
                <a:cs typeface="Times New Roman"/>
              </a:rPr>
              <a:t>Why does the Direct Architecture produce the lowest circuit depth?</a:t>
            </a:r>
            <a:endParaRPr lang="en-US" sz="1800">
              <a:latin typeface="Times New Roman"/>
              <a:cs typeface="Times New Roman"/>
            </a:endParaRPr>
          </a:p>
          <a:p>
            <a:pPr marL="285750" indent="-285750">
              <a:buFont typeface="Arial"/>
              <a:buChar char="•"/>
            </a:pPr>
            <a:r>
              <a:rPr lang="en-US" sz="1600">
                <a:latin typeface="Times New Roman"/>
                <a:ea typeface="+mn-lt"/>
                <a:cs typeface="Times New Roman"/>
              </a:rPr>
              <a:t>Investigate the role of remote gate execution </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Analyze communication and synchronization overheads </a:t>
            </a:r>
            <a:endParaRPr lang="en-US" sz="1600">
              <a:latin typeface="Times New Roman"/>
              <a:cs typeface="Times New Roman"/>
            </a:endParaRPr>
          </a:p>
          <a:p>
            <a:pPr marL="285750" indent="-285750">
              <a:buFont typeface="Arial"/>
              <a:buChar char="•"/>
            </a:pPr>
            <a:r>
              <a:rPr lang="en-US" sz="1600">
                <a:latin typeface="Times New Roman"/>
                <a:ea typeface="+mn-lt"/>
                <a:cs typeface="Times New Roman"/>
              </a:rPr>
              <a:t>Compare local execution against distributed execution</a:t>
            </a:r>
            <a:endParaRPr lang="en-US" sz="1600">
              <a:latin typeface="Times New Roman"/>
              <a:cs typeface="Times New Roman"/>
            </a:endParaRPr>
          </a:p>
          <a:p>
            <a:endParaRPr lang="en-US" dirty="0"/>
          </a:p>
        </p:txBody>
      </p:sp>
      <p:sp>
        <p:nvSpPr>
          <p:cNvPr id="9" name="Subtitle 2">
            <a:extLst>
              <a:ext uri="{FF2B5EF4-FFF2-40B4-BE49-F238E27FC236}">
                <a16:creationId xmlns:a16="http://schemas.microsoft.com/office/drawing/2014/main" id="{00C76580-FFCD-C55F-38C3-CD200AF2B2D9}"/>
              </a:ext>
            </a:extLst>
          </p:cNvPr>
          <p:cNvSpPr txBox="1">
            <a:spLocks/>
          </p:cNvSpPr>
          <p:nvPr/>
        </p:nvSpPr>
        <p:spPr>
          <a:xfrm>
            <a:off x="3624385" y="3152653"/>
            <a:ext cx="4103076" cy="2310300"/>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600" b="1" dirty="0">
                <a:latin typeface="Times New Roman"/>
                <a:cs typeface="Times New Roman"/>
              </a:rPr>
              <a:t> </a:t>
            </a:r>
            <a:r>
              <a:rPr lang="en-US" sz="1800" b="1" dirty="0">
                <a:latin typeface="Times New Roman"/>
                <a:cs typeface="Times New Roman"/>
              </a:rPr>
              <a:t>What is the optimal operating point for a fast quantum interconnect?</a:t>
            </a:r>
            <a:endParaRPr lang="en-US" sz="1600">
              <a:latin typeface="Times New Roman"/>
              <a:cs typeface="Times New Roman"/>
            </a:endParaRPr>
          </a:p>
          <a:p>
            <a:pPr marL="285750" indent="-285750"/>
            <a:r>
              <a:rPr lang="en-US" sz="1600">
                <a:latin typeface="Times New Roman"/>
                <a:ea typeface="+mn-lt"/>
                <a:cs typeface="Times New Roman"/>
              </a:rPr>
              <a:t>Perform bandwidth sweep analysis </a:t>
            </a:r>
            <a:endParaRPr lang="en-US" sz="1600">
              <a:latin typeface="Times New Roman"/>
              <a:cs typeface="Times New Roman"/>
            </a:endParaRPr>
          </a:p>
          <a:p>
            <a:pPr marL="285750" indent="-285750"/>
            <a:r>
              <a:rPr lang="en-US" sz="1600">
                <a:latin typeface="Times New Roman"/>
                <a:ea typeface="+mn-lt"/>
                <a:cs typeface="Times New Roman"/>
              </a:rPr>
              <a:t>Quantify latency improvements </a:t>
            </a:r>
            <a:endParaRPr lang="en-US" sz="1600">
              <a:latin typeface="Times New Roman"/>
              <a:cs typeface="Times New Roman"/>
            </a:endParaRPr>
          </a:p>
          <a:p>
            <a:pPr marL="285750" indent="-285750"/>
            <a:r>
              <a:rPr lang="en-US" sz="1600" dirty="0">
                <a:latin typeface="Times New Roman"/>
                <a:ea typeface="+mn-lt"/>
                <a:cs typeface="Times New Roman"/>
              </a:rPr>
              <a:t>Determine the onset of diminishing returns </a:t>
            </a:r>
            <a:endParaRPr lang="en-US" sz="1600">
              <a:latin typeface="Times New Roman"/>
              <a:cs typeface="Times New Roman"/>
            </a:endParaRPr>
          </a:p>
          <a:p>
            <a:pPr marL="285750" indent="-285750"/>
            <a:r>
              <a:rPr lang="en-US" sz="1600" dirty="0">
                <a:latin typeface="Times New Roman"/>
                <a:ea typeface="+mn-lt"/>
                <a:cs typeface="Times New Roman"/>
              </a:rPr>
              <a:t>Justify the selection of BW=4×10^5</a:t>
            </a:r>
            <a:endParaRPr lang="en-US" sz="1600" dirty="0">
              <a:latin typeface="Times New Roman"/>
              <a:cs typeface="Times New Roman"/>
            </a:endParaRPr>
          </a:p>
          <a:p>
            <a:endParaRPr lang="en-US" b="1" dirty="0"/>
          </a:p>
          <a:p>
            <a:endParaRPr lang="en-US" dirty="0"/>
          </a:p>
        </p:txBody>
      </p:sp>
      <p:sp>
        <p:nvSpPr>
          <p:cNvPr id="10" name="Title 1">
            <a:extLst>
              <a:ext uri="{FF2B5EF4-FFF2-40B4-BE49-F238E27FC236}">
                <a16:creationId xmlns:a16="http://schemas.microsoft.com/office/drawing/2014/main" id="{C7BAB381-8F65-5769-C04A-91F613D69AA9}"/>
              </a:ext>
            </a:extLst>
          </p:cNvPr>
          <p:cNvSpPr>
            <a:spLocks noGrp="1"/>
          </p:cNvSpPr>
          <p:nvPr/>
        </p:nvSpPr>
        <p:spPr>
          <a:xfrm>
            <a:off x="3212123" y="169740"/>
            <a:ext cx="6119447" cy="426794"/>
          </a:xfrm>
          <a:prstGeom prst="rect">
            <a:avLst/>
          </a:prstGeom>
        </p:spPr>
        <p:txBody>
          <a:bodyPr vert="horz" lIns="91440" tIns="45720" rIns="91440" bIns="45720" rtlCol="0" anchor="ctr">
            <a:normAutofit fontScale="9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Times New Roman"/>
                <a:ea typeface="+mj-lt"/>
                <a:cs typeface="Times New Roman"/>
              </a:rPr>
              <a:t>Questions Addressed This Week</a:t>
            </a:r>
            <a:endParaRPr lang="en-US" sz="3600">
              <a:latin typeface="Times New Roman"/>
              <a:cs typeface="Times New Roman"/>
            </a:endParaRPr>
          </a:p>
        </p:txBody>
      </p:sp>
      <p:sp>
        <p:nvSpPr>
          <p:cNvPr id="12" name="Subtitle 2">
            <a:extLst>
              <a:ext uri="{FF2B5EF4-FFF2-40B4-BE49-F238E27FC236}">
                <a16:creationId xmlns:a16="http://schemas.microsoft.com/office/drawing/2014/main" id="{A50378F8-33EC-058D-EBE0-4D8A112A2D39}"/>
              </a:ext>
            </a:extLst>
          </p:cNvPr>
          <p:cNvSpPr txBox="1">
            <a:spLocks/>
          </p:cNvSpPr>
          <p:nvPr/>
        </p:nvSpPr>
        <p:spPr>
          <a:xfrm>
            <a:off x="7932616" y="4188192"/>
            <a:ext cx="3966310" cy="1655762"/>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1900" b="1" dirty="0">
                <a:latin typeface="Times New Roman"/>
                <a:cs typeface="Times New Roman"/>
              </a:rPr>
              <a:t>How do YOUTIAO and </a:t>
            </a:r>
            <a:r>
              <a:rPr lang="en-US" sz="1900" b="1" dirty="0" err="1">
                <a:latin typeface="Times New Roman"/>
                <a:cs typeface="Times New Roman"/>
              </a:rPr>
              <a:t>SwitchQNet</a:t>
            </a:r>
            <a:r>
              <a:rPr lang="en-US" sz="1900" b="1" dirty="0">
                <a:latin typeface="Times New Roman"/>
                <a:cs typeface="Times New Roman"/>
              </a:rPr>
              <a:t> improve distributed execution?</a:t>
            </a:r>
            <a:endParaRPr lang="en-US" sz="1900">
              <a:latin typeface="Times New Roman"/>
              <a:cs typeface="Times New Roman"/>
            </a:endParaRPr>
          </a:p>
          <a:p>
            <a:pPr marL="285750" indent="-285750"/>
            <a:r>
              <a:rPr lang="en-US" sz="1700">
                <a:latin typeface="Times New Roman"/>
                <a:ea typeface="+mn-lt"/>
                <a:cs typeface="Times New Roman"/>
              </a:rPr>
              <a:t>Evaluate communication-aware control mechanisms </a:t>
            </a:r>
            <a:endParaRPr lang="en-US" sz="1700">
              <a:latin typeface="Times New Roman"/>
              <a:cs typeface="Times New Roman"/>
            </a:endParaRPr>
          </a:p>
          <a:p>
            <a:pPr marL="285750" indent="-285750"/>
            <a:r>
              <a:rPr lang="en-US" sz="1700">
                <a:latin typeface="Times New Roman"/>
                <a:ea typeface="+mn-lt"/>
                <a:cs typeface="Times New Roman"/>
              </a:rPr>
              <a:t>Assess routing and scheduling optimizations </a:t>
            </a:r>
            <a:endParaRPr lang="en-US" sz="1700">
              <a:latin typeface="Times New Roman"/>
              <a:cs typeface="Times New Roman"/>
            </a:endParaRPr>
          </a:p>
          <a:p>
            <a:pPr marL="285750" indent="-285750"/>
            <a:r>
              <a:rPr lang="en-US" sz="1700">
                <a:latin typeface="Times New Roman"/>
                <a:ea typeface="+mn-lt"/>
                <a:cs typeface="Times New Roman"/>
              </a:rPr>
              <a:t>Measure improvements in logical error and circuit depth</a:t>
            </a:r>
            <a:endParaRPr lang="en-US" sz="1700">
              <a:latin typeface="Times New Roman"/>
              <a:cs typeface="Times New Roman"/>
            </a:endParaRPr>
          </a:p>
          <a:p>
            <a:endParaRPr lang="en-US" b="1" dirty="0"/>
          </a:p>
          <a:p>
            <a:endParaRPr lang="en-US" b="1" dirty="0"/>
          </a:p>
          <a:p>
            <a:endParaRPr lang="en-US" b="1" dirty="0"/>
          </a:p>
          <a:p>
            <a:endParaRPr lang="en-US" dirty="0"/>
          </a:p>
        </p:txBody>
      </p:sp>
    </p:spTree>
    <p:extLst>
      <p:ext uri="{BB962C8B-B14F-4D97-AF65-F5344CB8AC3E}">
        <p14:creationId xmlns:p14="http://schemas.microsoft.com/office/powerpoint/2010/main" val="40506276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C536E-C9DB-8C45-E17D-27BCD9CED62D}"/>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3F96A86A-F1E3-277B-1113-E1169BEF6172}"/>
              </a:ext>
            </a:extLst>
          </p:cNvPr>
          <p:cNvSpPr>
            <a:spLocks noGrp="1"/>
          </p:cNvSpPr>
          <p:nvPr/>
        </p:nvSpPr>
        <p:spPr>
          <a:xfrm>
            <a:off x="1611598" y="81817"/>
            <a:ext cx="9179657" cy="4267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a:ea typeface="+mj-lt"/>
                <a:cs typeface="Times New Roman"/>
              </a:rPr>
              <a:t>Why Does Direct Fast Have the Lowest </a:t>
            </a:r>
            <a:r>
              <a:rPr lang="en-US" sz="3600">
                <a:latin typeface="Times New Roman"/>
                <a:ea typeface="+mj-lt"/>
                <a:cs typeface="Times New Roman"/>
              </a:rPr>
              <a:t>Depth?</a:t>
            </a:r>
          </a:p>
        </p:txBody>
      </p:sp>
      <p:sp>
        <p:nvSpPr>
          <p:cNvPr id="7" name="TextBox 6">
            <a:extLst>
              <a:ext uri="{FF2B5EF4-FFF2-40B4-BE49-F238E27FC236}">
                <a16:creationId xmlns:a16="http://schemas.microsoft.com/office/drawing/2014/main" id="{04BA74DF-09C4-7785-F1A5-A1FD8CA16C45}"/>
              </a:ext>
            </a:extLst>
          </p:cNvPr>
          <p:cNvSpPr txBox="1"/>
          <p:nvPr/>
        </p:nvSpPr>
        <p:spPr>
          <a:xfrm>
            <a:off x="97692" y="6467232"/>
            <a:ext cx="11996615"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i="1">
                <a:latin typeface="Times New Roman"/>
                <a:ea typeface="+mn-lt"/>
                <a:cs typeface="Times New Roman"/>
              </a:rPr>
              <a:t>Direct Fast achieves the lowest circuit depth because it eliminates the communication and synchronization costs that dominate distributed execution.</a:t>
            </a:r>
          </a:p>
        </p:txBody>
      </p:sp>
      <p:sp>
        <p:nvSpPr>
          <p:cNvPr id="12" name="TextBox 11">
            <a:extLst>
              <a:ext uri="{FF2B5EF4-FFF2-40B4-BE49-F238E27FC236}">
                <a16:creationId xmlns:a16="http://schemas.microsoft.com/office/drawing/2014/main" id="{77DE59AC-F13C-309D-253A-FD26C4B52945}"/>
              </a:ext>
            </a:extLst>
          </p:cNvPr>
          <p:cNvSpPr txBox="1"/>
          <p:nvPr/>
        </p:nvSpPr>
        <p:spPr>
          <a:xfrm>
            <a:off x="97693" y="1034724"/>
            <a:ext cx="512640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i="1">
                <a:solidFill>
                  <a:srgbClr val="000000"/>
                </a:solidFill>
                <a:latin typeface="Times New Roman"/>
                <a:ea typeface="+mn-lt"/>
                <a:cs typeface="Times New Roman"/>
              </a:rPr>
              <a:t>“Distributed quantum computations require entanglements (to execute remote gates) which can incur significant generation latency and thus lead to decoherence of qubits.”</a:t>
            </a:r>
            <a:endParaRPr lang="en-US" i="1">
              <a:latin typeface="Times New Roman"/>
              <a:cs typeface="Times New Roman"/>
            </a:endParaRPr>
          </a:p>
        </p:txBody>
      </p:sp>
      <p:sp>
        <p:nvSpPr>
          <p:cNvPr id="14" name="TextBox 13">
            <a:extLst>
              <a:ext uri="{FF2B5EF4-FFF2-40B4-BE49-F238E27FC236}">
                <a16:creationId xmlns:a16="http://schemas.microsoft.com/office/drawing/2014/main" id="{3A449451-DF81-E627-B266-47BEF5655DC4}"/>
              </a:ext>
            </a:extLst>
          </p:cNvPr>
          <p:cNvSpPr txBox="1"/>
          <p:nvPr/>
        </p:nvSpPr>
        <p:spPr>
          <a:xfrm>
            <a:off x="8513072" y="1861852"/>
            <a:ext cx="3341890"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000000"/>
                </a:solidFill>
                <a:latin typeface="Times New Roman"/>
                <a:ea typeface="+mn-lt"/>
                <a:cs typeface="Times New Roman"/>
              </a:rPr>
              <a:t>Every remote gate introduces:</a:t>
            </a:r>
            <a:endParaRPr lang="en-US" sz="1600">
              <a:latin typeface="Times New Roman"/>
              <a:ea typeface="+mn-lt"/>
              <a:cs typeface="Times New Roman"/>
            </a:endParaRPr>
          </a:p>
          <a:p>
            <a:pPr marL="285750" indent="-285750">
              <a:buFont typeface="Arial"/>
              <a:buChar char="•"/>
            </a:pPr>
            <a:r>
              <a:rPr lang="en-US" sz="1600">
                <a:solidFill>
                  <a:srgbClr val="000000"/>
                </a:solidFill>
                <a:latin typeface="Times New Roman"/>
                <a:ea typeface="+mn-lt"/>
                <a:cs typeface="Times New Roman"/>
              </a:rPr>
              <a:t>Bell-pair generation </a:t>
            </a:r>
            <a:endParaRPr lang="en-US" sz="1600">
              <a:latin typeface="Times New Roman"/>
              <a:ea typeface="+mn-lt"/>
              <a:cs typeface="Times New Roman"/>
            </a:endParaRPr>
          </a:p>
          <a:p>
            <a:pPr marL="285750" indent="-285750">
              <a:buFont typeface="Arial"/>
              <a:buChar char="•"/>
            </a:pPr>
            <a:r>
              <a:rPr lang="en-US" sz="1600">
                <a:solidFill>
                  <a:srgbClr val="000000"/>
                </a:solidFill>
                <a:latin typeface="Times New Roman"/>
                <a:ea typeface="+mn-lt"/>
                <a:cs typeface="Times New Roman"/>
              </a:rPr>
              <a:t>Communication delay </a:t>
            </a:r>
            <a:endParaRPr lang="en-US" sz="1600">
              <a:latin typeface="Times New Roman"/>
              <a:cs typeface="Times New Roman"/>
            </a:endParaRPr>
          </a:p>
          <a:p>
            <a:pPr marL="285750" indent="-285750">
              <a:buFont typeface="Arial"/>
              <a:buChar char="•"/>
            </a:pPr>
            <a:r>
              <a:rPr lang="en-US" sz="1600">
                <a:solidFill>
                  <a:srgbClr val="000000"/>
                </a:solidFill>
                <a:latin typeface="Times New Roman"/>
                <a:ea typeface="+mn-lt"/>
                <a:cs typeface="Times New Roman"/>
              </a:rPr>
              <a:t>Synchronization overhead </a:t>
            </a:r>
            <a:endParaRPr lang="en-US" sz="1600">
              <a:latin typeface="Times New Roman"/>
              <a:cs typeface="Times New Roman"/>
            </a:endParaRPr>
          </a:p>
          <a:p>
            <a:r>
              <a:rPr lang="en-US" sz="1600">
                <a:solidFill>
                  <a:srgbClr val="000000"/>
                </a:solidFill>
                <a:latin typeface="Times New Roman"/>
                <a:ea typeface="+mn-lt"/>
                <a:cs typeface="Times New Roman"/>
              </a:rPr>
              <a:t>which increases total execution depth.</a:t>
            </a:r>
            <a:endParaRPr lang="en-US" sz="1600">
              <a:latin typeface="Times New Roman"/>
              <a:ea typeface="+mn-lt"/>
              <a:cs typeface="Times New Roman"/>
            </a:endParaRPr>
          </a:p>
        </p:txBody>
      </p:sp>
      <p:sp>
        <p:nvSpPr>
          <p:cNvPr id="5" name="TextBox 4">
            <a:extLst>
              <a:ext uri="{FF2B5EF4-FFF2-40B4-BE49-F238E27FC236}">
                <a16:creationId xmlns:a16="http://schemas.microsoft.com/office/drawing/2014/main" id="{8C11FBA9-2B04-E34B-3DBB-35A7D4F11737}"/>
              </a:ext>
            </a:extLst>
          </p:cNvPr>
          <p:cNvSpPr txBox="1"/>
          <p:nvPr/>
        </p:nvSpPr>
        <p:spPr>
          <a:xfrm>
            <a:off x="175847" y="3183955"/>
            <a:ext cx="7891097"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000000"/>
                </a:solidFill>
                <a:latin typeface="Times New Roman"/>
                <a:ea typeface="+mn-lt"/>
                <a:cs typeface="Times New Roman"/>
              </a:rPr>
              <a:t>The Direct architecture executes all operations locally and therefore avoids:</a:t>
            </a:r>
            <a:endParaRPr lang="en-US" sz="1600">
              <a:latin typeface="Times New Roman"/>
              <a:ea typeface="+mn-lt"/>
              <a:cs typeface="Times New Roman"/>
            </a:endParaRPr>
          </a:p>
          <a:p>
            <a:pPr marL="285750" indent="-285750">
              <a:buFont typeface="Arial"/>
              <a:buChar char="•"/>
            </a:pPr>
            <a:r>
              <a:rPr lang="en-US" sz="1600">
                <a:solidFill>
                  <a:srgbClr val="000000"/>
                </a:solidFill>
                <a:latin typeface="Times New Roman"/>
                <a:ea typeface="+mn-lt"/>
                <a:cs typeface="Times New Roman"/>
              </a:rPr>
              <a:t>Entangled-pair generation </a:t>
            </a:r>
            <a:endParaRPr lang="en-US" sz="1600">
              <a:latin typeface="Times New Roman"/>
              <a:ea typeface="+mn-lt"/>
              <a:cs typeface="Times New Roman"/>
            </a:endParaRPr>
          </a:p>
          <a:p>
            <a:pPr marL="285750" indent="-285750">
              <a:buFont typeface="Arial"/>
              <a:buChar char="•"/>
            </a:pPr>
            <a:r>
              <a:rPr lang="en-US" sz="1600">
                <a:solidFill>
                  <a:srgbClr val="000000"/>
                </a:solidFill>
                <a:latin typeface="Times New Roman"/>
                <a:ea typeface="+mn-lt"/>
                <a:cs typeface="Times New Roman"/>
              </a:rPr>
              <a:t>Quantum teleportation </a:t>
            </a:r>
            <a:endParaRPr lang="en-US" sz="1600">
              <a:latin typeface="Times New Roman"/>
              <a:ea typeface="+mn-lt"/>
              <a:cs typeface="Times New Roman"/>
            </a:endParaRPr>
          </a:p>
          <a:p>
            <a:pPr marL="285750" indent="-285750">
              <a:buFont typeface="Arial"/>
              <a:buChar char="•"/>
            </a:pPr>
            <a:r>
              <a:rPr lang="en-US" sz="1600">
                <a:solidFill>
                  <a:srgbClr val="000000"/>
                </a:solidFill>
                <a:latin typeface="Times New Roman"/>
                <a:ea typeface="+mn-lt"/>
                <a:cs typeface="Times New Roman"/>
              </a:rPr>
              <a:t>Classical synchronization </a:t>
            </a:r>
            <a:endParaRPr lang="en-US" sz="1600">
              <a:latin typeface="Times New Roman"/>
              <a:ea typeface="+mn-lt"/>
              <a:cs typeface="Times New Roman"/>
            </a:endParaRPr>
          </a:p>
          <a:p>
            <a:pPr marL="285750" indent="-285750">
              <a:buFont typeface="Arial"/>
              <a:buChar char="•"/>
            </a:pPr>
            <a:r>
              <a:rPr lang="en-US" sz="1600">
                <a:solidFill>
                  <a:srgbClr val="000000"/>
                </a:solidFill>
                <a:latin typeface="Times New Roman"/>
                <a:ea typeface="+mn-lt"/>
                <a:cs typeface="Times New Roman"/>
              </a:rPr>
              <a:t>Inter-module routing </a:t>
            </a:r>
            <a:endParaRPr lang="en-US" sz="1600">
              <a:latin typeface="Times New Roman"/>
              <a:ea typeface="+mn-lt"/>
              <a:cs typeface="Times New Roman"/>
            </a:endParaRPr>
          </a:p>
          <a:p>
            <a:r>
              <a:rPr lang="en-US" sz="1600" dirty="0">
                <a:solidFill>
                  <a:srgbClr val="000000"/>
                </a:solidFill>
                <a:latin typeface="Times New Roman"/>
                <a:ea typeface="+mn-lt"/>
                <a:cs typeface="Times New Roman"/>
              </a:rPr>
              <a:t>Hence, </a:t>
            </a:r>
            <a:r>
              <a:rPr lang="en-US" sz="1600" b="1" dirty="0" err="1">
                <a:solidFill>
                  <a:srgbClr val="000000"/>
                </a:solidFill>
                <a:latin typeface="Times New Roman"/>
                <a:ea typeface="+mn-lt"/>
                <a:cs typeface="Times New Roman"/>
              </a:rPr>
              <a:t>DDirect≈DLocal</a:t>
            </a:r>
            <a:r>
              <a:rPr lang="en-US" sz="1600" b="1" dirty="0">
                <a:solidFill>
                  <a:srgbClr val="000000"/>
                </a:solidFill>
                <a:latin typeface="Times New Roman"/>
                <a:ea typeface="+mn-lt"/>
                <a:cs typeface="Times New Roman"/>
              </a:rPr>
              <a:t> Gates</a:t>
            </a:r>
            <a:r>
              <a:rPr lang="en-US" sz="1600" dirty="0">
                <a:solidFill>
                  <a:srgbClr val="000000"/>
                </a:solidFill>
                <a:latin typeface="Times New Roman"/>
                <a:ea typeface="+mn-lt"/>
                <a:cs typeface="Times New Roman"/>
              </a:rPr>
              <a:t> </a:t>
            </a:r>
            <a:endParaRPr lang="en-US" sz="1600">
              <a:solidFill>
                <a:srgbClr val="000000"/>
              </a:solidFill>
              <a:latin typeface="Times New Roman"/>
              <a:ea typeface="+mn-lt"/>
              <a:cs typeface="Times New Roman"/>
            </a:endParaRPr>
          </a:p>
          <a:p>
            <a:r>
              <a:rPr lang="en-US" sz="1600" dirty="0">
                <a:solidFill>
                  <a:srgbClr val="000000"/>
                </a:solidFill>
                <a:latin typeface="Times New Roman"/>
                <a:ea typeface="+mn-lt"/>
                <a:cs typeface="Times New Roman"/>
              </a:rPr>
              <a:t>whereas distributed architectures require</a:t>
            </a:r>
            <a:endParaRPr lang="en-US" sz="1600">
              <a:latin typeface="Times New Roman"/>
              <a:ea typeface="+mn-lt"/>
              <a:cs typeface="Times New Roman"/>
            </a:endParaRPr>
          </a:p>
          <a:p>
            <a:r>
              <a:rPr lang="en-US" sz="1600" b="1" dirty="0" err="1">
                <a:solidFill>
                  <a:srgbClr val="000000"/>
                </a:solidFill>
                <a:latin typeface="Times New Roman"/>
                <a:ea typeface="+mn-lt"/>
                <a:cs typeface="Times New Roman"/>
              </a:rPr>
              <a:t>DDistributed</a:t>
            </a:r>
            <a:r>
              <a:rPr lang="en-US" sz="1600" b="1" dirty="0">
                <a:solidFill>
                  <a:srgbClr val="000000"/>
                </a:solidFill>
                <a:latin typeface="Times New Roman"/>
                <a:ea typeface="+mn-lt"/>
                <a:cs typeface="Times New Roman"/>
              </a:rPr>
              <a:t>=</a:t>
            </a:r>
            <a:r>
              <a:rPr lang="en-US" sz="1600" b="1" dirty="0" err="1">
                <a:solidFill>
                  <a:srgbClr val="000000"/>
                </a:solidFill>
                <a:latin typeface="Times New Roman"/>
                <a:ea typeface="+mn-lt"/>
                <a:cs typeface="Times New Roman"/>
              </a:rPr>
              <a:t>DLocal+DEntanglement+DCommunication+DSynchronization</a:t>
            </a:r>
            <a:endParaRPr lang="en-US" sz="1600" b="1" dirty="0" err="1">
              <a:latin typeface="Times New Roman"/>
              <a:ea typeface="+mn-lt"/>
              <a:cs typeface="Times New Roman"/>
            </a:endParaRPr>
          </a:p>
        </p:txBody>
      </p:sp>
      <p:sp>
        <p:nvSpPr>
          <p:cNvPr id="11" name="TextBox 10">
            <a:extLst>
              <a:ext uri="{FF2B5EF4-FFF2-40B4-BE49-F238E27FC236}">
                <a16:creationId xmlns:a16="http://schemas.microsoft.com/office/drawing/2014/main" id="{2F9E0A36-F10C-857E-592D-C886B92A85CC}"/>
              </a:ext>
            </a:extLst>
          </p:cNvPr>
          <p:cNvSpPr txBox="1"/>
          <p:nvPr/>
        </p:nvSpPr>
        <p:spPr>
          <a:xfrm>
            <a:off x="566616" y="576384"/>
            <a:ext cx="1104899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u="none" strike="noStrike" baseline="0" dirty="0">
                <a:solidFill>
                  <a:srgbClr val="000000"/>
                </a:solidFill>
                <a:latin typeface="Times New Roman"/>
                <a:ea typeface="Segoe UI"/>
                <a:cs typeface="Times New Roman"/>
              </a:rPr>
              <a:t>Distributing Quantum Circuits with Minimum Circuit Execution </a:t>
            </a:r>
            <a:r>
              <a:rPr lang="en-US" sz="1600" b="1" i="1" dirty="0">
                <a:solidFill>
                  <a:srgbClr val="000000"/>
                </a:solidFill>
                <a:latin typeface="Times New Roman"/>
                <a:ea typeface="Segoe UI"/>
                <a:cs typeface="Times New Roman"/>
              </a:rPr>
              <a:t>Time over</a:t>
            </a:r>
            <a:r>
              <a:rPr lang="en-US" sz="1600" b="1" i="1" u="none" strike="noStrike" baseline="0" dirty="0">
                <a:solidFill>
                  <a:srgbClr val="000000"/>
                </a:solidFill>
                <a:latin typeface="Times New Roman"/>
                <a:ea typeface="Segoe UI"/>
                <a:cs typeface="Times New Roman"/>
              </a:rPr>
              <a:t> Quantum Networks</a:t>
            </a:r>
            <a:r>
              <a:rPr lang="en-US" sz="1600" b="1" i="1" dirty="0">
                <a:solidFill>
                  <a:srgbClr val="000000"/>
                </a:solidFill>
                <a:latin typeface="Times New Roman"/>
                <a:ea typeface="Segoe UI"/>
                <a:cs typeface="Times New Roman"/>
              </a:rPr>
              <a:t> - </a:t>
            </a:r>
            <a:r>
              <a:rPr lang="en-US" sz="1600" b="1" i="1" u="sng" dirty="0">
                <a:solidFill>
                  <a:srgbClr val="006699"/>
                </a:solidFill>
                <a:highlight>
                  <a:srgbClr val="FFFFFF"/>
                </a:highlight>
                <a:latin typeface="Times New Roman"/>
                <a:ea typeface="+mn-lt"/>
                <a:cs typeface="Times New Roman"/>
                <a:hlinkClick r:id="rId3"/>
              </a:rPr>
              <a:t>Sundaram</a:t>
            </a:r>
            <a:r>
              <a:rPr lang="en-US" sz="1600" b="1" i="1" dirty="0">
                <a:solidFill>
                  <a:srgbClr val="000000"/>
                </a:solidFill>
                <a:latin typeface="Times New Roman"/>
                <a:ea typeface="+mn-lt"/>
                <a:cs typeface="Times New Roman"/>
              </a:rPr>
              <a:t> </a:t>
            </a:r>
            <a:r>
              <a:rPr lang="en-US" sz="1600" b="1" i="1" dirty="0" err="1">
                <a:solidFill>
                  <a:srgbClr val="000000"/>
                </a:solidFill>
                <a:latin typeface="Times New Roman"/>
                <a:ea typeface="+mn-lt"/>
                <a:cs typeface="Times New Roman"/>
              </a:rPr>
              <a:t>etal</a:t>
            </a:r>
            <a:r>
              <a:rPr lang="en-US" sz="1600" b="1" i="1" dirty="0">
                <a:solidFill>
                  <a:srgbClr val="000000"/>
                </a:solidFill>
                <a:latin typeface="Times New Roman"/>
                <a:ea typeface="+mn-lt"/>
                <a:cs typeface="Times New Roman"/>
              </a:rPr>
              <a:t> (2024) IEEE</a:t>
            </a:r>
            <a:endParaRPr lang="en-US" sz="1600" dirty="0">
              <a:latin typeface="Times New Roman"/>
              <a:cs typeface="Times New Roman"/>
            </a:endParaRPr>
          </a:p>
        </p:txBody>
      </p:sp>
    </p:spTree>
    <p:extLst>
      <p:ext uri="{BB962C8B-B14F-4D97-AF65-F5344CB8AC3E}">
        <p14:creationId xmlns:p14="http://schemas.microsoft.com/office/powerpoint/2010/main" val="20319482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8DA74-3C3A-6AF9-0FEC-2A45386F93C6}"/>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AB70E2A9-DFAA-EFCE-A20F-EF522CB18E3C}"/>
              </a:ext>
            </a:extLst>
          </p:cNvPr>
          <p:cNvSpPr>
            <a:spLocks noGrp="1"/>
          </p:cNvSpPr>
          <p:nvPr/>
        </p:nvSpPr>
        <p:spPr>
          <a:xfrm>
            <a:off x="1611598" y="81817"/>
            <a:ext cx="9179657" cy="4267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a:ea typeface="+mj-lt"/>
                <a:cs typeface="Times New Roman"/>
              </a:rPr>
              <a:t>Why Does Direct Fast Have the Lowest </a:t>
            </a:r>
            <a:r>
              <a:rPr lang="en-US" sz="3600">
                <a:latin typeface="Times New Roman"/>
                <a:ea typeface="+mj-lt"/>
                <a:cs typeface="Times New Roman"/>
              </a:rPr>
              <a:t>Depth?</a:t>
            </a:r>
          </a:p>
        </p:txBody>
      </p:sp>
      <p:sp>
        <p:nvSpPr>
          <p:cNvPr id="12" name="TextBox 11">
            <a:extLst>
              <a:ext uri="{FF2B5EF4-FFF2-40B4-BE49-F238E27FC236}">
                <a16:creationId xmlns:a16="http://schemas.microsoft.com/office/drawing/2014/main" id="{93B803E2-BDE5-891C-9CB7-7A2E68D475CC}"/>
              </a:ext>
            </a:extLst>
          </p:cNvPr>
          <p:cNvSpPr txBox="1"/>
          <p:nvPr/>
        </p:nvSpPr>
        <p:spPr>
          <a:xfrm>
            <a:off x="97693" y="1034724"/>
            <a:ext cx="512640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i="1">
                <a:solidFill>
                  <a:srgbClr val="000000"/>
                </a:solidFill>
                <a:latin typeface="Times New Roman"/>
                <a:ea typeface="+mn-lt"/>
                <a:cs typeface="Times New Roman"/>
              </a:rPr>
              <a:t>"Non-local communications between different quantum processors might significantly impact overall system performance."</a:t>
            </a:r>
            <a:endParaRPr lang="en-US" sz="1600" i="1">
              <a:latin typeface="Times New Roman"/>
              <a:cs typeface="Times New Roman"/>
            </a:endParaRPr>
          </a:p>
        </p:txBody>
      </p:sp>
      <p:sp>
        <p:nvSpPr>
          <p:cNvPr id="14" name="TextBox 13">
            <a:extLst>
              <a:ext uri="{FF2B5EF4-FFF2-40B4-BE49-F238E27FC236}">
                <a16:creationId xmlns:a16="http://schemas.microsoft.com/office/drawing/2014/main" id="{2597A1B2-F1B8-3DAB-0F5F-CC293F49F43B}"/>
              </a:ext>
            </a:extLst>
          </p:cNvPr>
          <p:cNvSpPr txBox="1"/>
          <p:nvPr/>
        </p:nvSpPr>
        <p:spPr>
          <a:xfrm>
            <a:off x="7941572" y="1036352"/>
            <a:ext cx="3807556"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000000"/>
                </a:solidFill>
                <a:latin typeface="Times New Roman"/>
                <a:ea typeface="+mn-lt"/>
                <a:cs typeface="Times New Roman"/>
              </a:rPr>
              <a:t>Distributed systems must perform:</a:t>
            </a:r>
            <a:endParaRPr lang="en-US" sz="1600">
              <a:latin typeface="Times New Roman"/>
              <a:ea typeface="+mn-lt"/>
              <a:cs typeface="Times New Roman"/>
            </a:endParaRPr>
          </a:p>
          <a:p>
            <a:pPr marL="285750" indent="-285750">
              <a:buFont typeface="Arial"/>
              <a:buChar char="•"/>
            </a:pPr>
            <a:r>
              <a:rPr lang="en-US" sz="1600">
                <a:solidFill>
                  <a:srgbClr val="000000"/>
                </a:solidFill>
                <a:latin typeface="Times New Roman"/>
                <a:ea typeface="+mn-lt"/>
                <a:cs typeface="Times New Roman"/>
              </a:rPr>
              <a:t>EPR pair generation </a:t>
            </a:r>
            <a:endParaRPr lang="en-US" sz="1600">
              <a:latin typeface="Times New Roman"/>
              <a:ea typeface="+mn-lt"/>
              <a:cs typeface="Times New Roman"/>
            </a:endParaRPr>
          </a:p>
          <a:p>
            <a:pPr marL="285750" indent="-285750">
              <a:buFont typeface="Arial"/>
              <a:buChar char="•"/>
            </a:pPr>
            <a:r>
              <a:rPr lang="en-US" sz="1600">
                <a:solidFill>
                  <a:srgbClr val="000000"/>
                </a:solidFill>
                <a:latin typeface="Times New Roman"/>
                <a:ea typeface="+mn-lt"/>
                <a:cs typeface="Times New Roman"/>
              </a:rPr>
              <a:t>Quantum teleportation </a:t>
            </a:r>
            <a:endParaRPr lang="en-US" sz="1600">
              <a:latin typeface="Times New Roman"/>
              <a:cs typeface="Times New Roman"/>
            </a:endParaRPr>
          </a:p>
          <a:p>
            <a:pPr marL="285750" indent="-285750">
              <a:buFont typeface="Arial"/>
              <a:buChar char="•"/>
            </a:pPr>
            <a:r>
              <a:rPr lang="en-US" sz="1600">
                <a:solidFill>
                  <a:srgbClr val="000000"/>
                </a:solidFill>
                <a:latin typeface="Times New Roman"/>
                <a:ea typeface="+mn-lt"/>
                <a:cs typeface="Times New Roman"/>
              </a:rPr>
              <a:t>Classical message transmission </a:t>
            </a:r>
            <a:endParaRPr lang="en-US" sz="1600">
              <a:latin typeface="Times New Roman"/>
              <a:cs typeface="Times New Roman"/>
            </a:endParaRPr>
          </a:p>
          <a:p>
            <a:pPr marL="285750" indent="-285750">
              <a:buFont typeface="Arial"/>
              <a:buChar char="•"/>
            </a:pPr>
            <a:r>
              <a:rPr lang="en-US" sz="1600">
                <a:solidFill>
                  <a:srgbClr val="000000"/>
                </a:solidFill>
                <a:latin typeface="Times New Roman"/>
                <a:ea typeface="+mn-lt"/>
                <a:cs typeface="Times New Roman"/>
              </a:rPr>
              <a:t>Synchronization and correction </a:t>
            </a:r>
            <a:endParaRPr lang="en-US" sz="1600">
              <a:latin typeface="Times New Roman"/>
              <a:cs typeface="Times New Roman"/>
            </a:endParaRPr>
          </a:p>
          <a:p>
            <a:r>
              <a:rPr lang="en-US" sz="1600" dirty="0">
                <a:solidFill>
                  <a:srgbClr val="000000"/>
                </a:solidFill>
                <a:latin typeface="Times New Roman"/>
                <a:ea typeface="+mn-lt"/>
                <a:cs typeface="Times New Roman"/>
              </a:rPr>
              <a:t>Each step contributes additional latency.</a:t>
            </a:r>
            <a:endParaRPr lang="en-US" sz="1600" dirty="0">
              <a:latin typeface="Times New Roman"/>
              <a:ea typeface="+mn-lt"/>
              <a:cs typeface="Times New Roman"/>
            </a:endParaRPr>
          </a:p>
        </p:txBody>
      </p:sp>
      <p:sp>
        <p:nvSpPr>
          <p:cNvPr id="11" name="TextBox 10">
            <a:extLst>
              <a:ext uri="{FF2B5EF4-FFF2-40B4-BE49-F238E27FC236}">
                <a16:creationId xmlns:a16="http://schemas.microsoft.com/office/drawing/2014/main" id="{67E5E1EF-4CB1-18C2-EA48-4A13F3F6253F}"/>
              </a:ext>
            </a:extLst>
          </p:cNvPr>
          <p:cNvSpPr txBox="1"/>
          <p:nvPr/>
        </p:nvSpPr>
        <p:spPr>
          <a:xfrm>
            <a:off x="566616" y="576384"/>
            <a:ext cx="11048998"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dirty="0">
                <a:solidFill>
                  <a:srgbClr val="000000"/>
                </a:solidFill>
                <a:latin typeface="Times New Roman"/>
                <a:ea typeface="+mn-lt"/>
                <a:cs typeface="Times New Roman"/>
              </a:rPr>
              <a:t>Impact of Classical and </a:t>
            </a:r>
            <a:r>
              <a:rPr lang="en-US" sz="1600" b="1" i="1" u="none" strike="noStrike" baseline="0" dirty="0">
                <a:solidFill>
                  <a:srgbClr val="000000"/>
                </a:solidFill>
                <a:latin typeface="Times New Roman"/>
                <a:ea typeface="+mn-lt"/>
                <a:cs typeface="Times New Roman"/>
              </a:rPr>
              <a:t>Quantum </a:t>
            </a:r>
            <a:r>
              <a:rPr lang="en-US" sz="1600" b="1" i="1" dirty="0">
                <a:solidFill>
                  <a:srgbClr val="000000"/>
                </a:solidFill>
                <a:latin typeface="Times New Roman"/>
                <a:ea typeface="+mn-lt"/>
                <a:cs typeface="Times New Roman"/>
              </a:rPr>
              <a:t>Communication </a:t>
            </a:r>
            <a:r>
              <a:rPr lang="en-US" sz="1600" b="1" i="1" u="none" strike="noStrike" baseline="0" dirty="0">
                <a:solidFill>
                  <a:srgbClr val="000000"/>
                </a:solidFill>
                <a:latin typeface="Times New Roman"/>
                <a:ea typeface="+mn-lt"/>
                <a:cs typeface="Times New Roman"/>
              </a:rPr>
              <a:t>Networks</a:t>
            </a:r>
            <a:r>
              <a:rPr lang="en-US" sz="1600" b="1" i="1" dirty="0">
                <a:solidFill>
                  <a:srgbClr val="000000"/>
                </a:solidFill>
                <a:latin typeface="Times New Roman"/>
                <a:ea typeface="+mn-lt"/>
                <a:cs typeface="Times New Roman"/>
              </a:rPr>
              <a:t> on Modular Quantum Computing</a:t>
            </a:r>
            <a:r>
              <a:rPr lang="en-US" sz="1600" b="1" i="1" dirty="0">
                <a:solidFill>
                  <a:srgbClr val="000000"/>
                </a:solidFill>
                <a:latin typeface="Times New Roman"/>
                <a:ea typeface="Segoe UI"/>
                <a:cs typeface="Times New Roman"/>
              </a:rPr>
              <a:t> - </a:t>
            </a:r>
            <a:r>
              <a:rPr lang="en-US" sz="1600" b="1" i="1" u="sng" dirty="0">
                <a:solidFill>
                  <a:srgbClr val="006699"/>
                </a:solidFill>
                <a:highlight>
                  <a:srgbClr val="FFFFFF"/>
                </a:highlight>
                <a:latin typeface="Times New Roman"/>
                <a:ea typeface="+mn-lt"/>
                <a:cs typeface="Times New Roman"/>
                <a:hlinkClick r:id="rId3"/>
              </a:rPr>
              <a:t>Escofet</a:t>
            </a:r>
            <a:r>
              <a:rPr lang="en-US" sz="1600" b="1" i="1" dirty="0">
                <a:solidFill>
                  <a:srgbClr val="000000"/>
                </a:solidFill>
                <a:latin typeface="Times New Roman"/>
                <a:ea typeface="+mn-lt"/>
                <a:cs typeface="Times New Roman"/>
              </a:rPr>
              <a:t> </a:t>
            </a:r>
            <a:r>
              <a:rPr lang="en-US" sz="1600" b="1" i="1" dirty="0" err="1">
                <a:solidFill>
                  <a:srgbClr val="000000"/>
                </a:solidFill>
                <a:latin typeface="Times New Roman"/>
                <a:ea typeface="+mn-lt"/>
                <a:cs typeface="Times New Roman"/>
              </a:rPr>
              <a:t>etal</a:t>
            </a:r>
            <a:r>
              <a:rPr lang="en-US" sz="1600" b="1" i="1" dirty="0">
                <a:solidFill>
                  <a:srgbClr val="000000"/>
                </a:solidFill>
                <a:latin typeface="Times New Roman"/>
                <a:ea typeface="+mn-lt"/>
                <a:cs typeface="Times New Roman"/>
              </a:rPr>
              <a:t> (2025) IEEE</a:t>
            </a:r>
            <a:endParaRPr lang="en-US" sz="1600" dirty="0">
              <a:latin typeface="Times New Roman"/>
              <a:cs typeface="Times New Roman"/>
            </a:endParaRPr>
          </a:p>
        </p:txBody>
      </p:sp>
      <p:sp>
        <p:nvSpPr>
          <p:cNvPr id="2" name="TextBox 1">
            <a:extLst>
              <a:ext uri="{FF2B5EF4-FFF2-40B4-BE49-F238E27FC236}">
                <a16:creationId xmlns:a16="http://schemas.microsoft.com/office/drawing/2014/main" id="{E8CEF755-BDAA-A81C-C571-444C179E1641}"/>
              </a:ext>
            </a:extLst>
          </p:cNvPr>
          <p:cNvSpPr txBox="1"/>
          <p:nvPr/>
        </p:nvSpPr>
        <p:spPr>
          <a:xfrm>
            <a:off x="203526" y="2791557"/>
            <a:ext cx="512640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i="1">
                <a:solidFill>
                  <a:srgbClr val="000000"/>
                </a:solidFill>
                <a:latin typeface="Times New Roman"/>
                <a:ea typeface="+mn-lt"/>
                <a:cs typeface="Times New Roman"/>
              </a:rPr>
              <a:t>"When transferring quantum states using quantum teleportation, classical communication is needed to transmit measurement outcomes."</a:t>
            </a:r>
            <a:endParaRPr lang="en-US" sz="1600" i="1">
              <a:latin typeface="Times New Roman"/>
              <a:ea typeface="+mn-lt"/>
              <a:cs typeface="Times New Roman"/>
            </a:endParaRPr>
          </a:p>
        </p:txBody>
      </p:sp>
      <p:sp>
        <p:nvSpPr>
          <p:cNvPr id="6" name="TextBox 5">
            <a:extLst>
              <a:ext uri="{FF2B5EF4-FFF2-40B4-BE49-F238E27FC236}">
                <a16:creationId xmlns:a16="http://schemas.microsoft.com/office/drawing/2014/main" id="{6518473D-DE86-D2CB-A668-38ABBB182C6F}"/>
              </a:ext>
            </a:extLst>
          </p:cNvPr>
          <p:cNvSpPr txBox="1"/>
          <p:nvPr/>
        </p:nvSpPr>
        <p:spPr>
          <a:xfrm>
            <a:off x="6096000" y="2794000"/>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600" b="0" i="0" u="none" strike="noStrike" baseline="0">
                <a:solidFill>
                  <a:srgbClr val="000000"/>
                </a:solidFill>
                <a:latin typeface="Times New Roman"/>
                <a:ea typeface="Segoe UI"/>
                <a:cs typeface="Times New Roman"/>
              </a:rPr>
              <a:t>For every remote operation:</a:t>
            </a:r>
            <a:r>
              <a:rPr lang="en-US" sz="1600" b="0" i="0">
                <a:solidFill>
                  <a:srgbClr val="000000"/>
                </a:solidFill>
                <a:latin typeface="Times New Roman"/>
                <a:ea typeface="Segoe UI"/>
                <a:cs typeface="Times New Roman"/>
              </a:rPr>
              <a:t>​</a:t>
            </a:r>
            <a:endParaRPr lang="en-US" sz="1600" b="0" i="0" dirty="0">
              <a:solidFill>
                <a:srgbClr val="000000"/>
              </a:solidFill>
              <a:latin typeface="Times New Roman"/>
              <a:ea typeface="Segoe UI"/>
              <a:cs typeface="Times New Roman"/>
            </a:endParaRPr>
          </a:p>
          <a:p>
            <a:pPr algn="ctr" rtl="0"/>
            <a:r>
              <a:rPr lang="en-US" sz="1600" b="1" i="0" u="none" strike="noStrike" baseline="0" dirty="0" err="1">
                <a:solidFill>
                  <a:srgbClr val="000000"/>
                </a:solidFill>
                <a:latin typeface="Times New Roman"/>
                <a:ea typeface="Segoe UI"/>
                <a:cs typeface="Times New Roman"/>
              </a:rPr>
              <a:t>Tremote</a:t>
            </a:r>
            <a:r>
              <a:rPr lang="en-US" sz="1600" b="1" i="0" u="none" strike="noStrike" baseline="0" dirty="0">
                <a:solidFill>
                  <a:srgbClr val="000000"/>
                </a:solidFill>
                <a:latin typeface="Times New Roman"/>
                <a:ea typeface="Segoe UI"/>
                <a:cs typeface="Times New Roman"/>
              </a:rPr>
              <a:t>=</a:t>
            </a:r>
            <a:r>
              <a:rPr lang="en-US" sz="1600" b="1" i="0" u="none" strike="noStrike" baseline="0" dirty="0" err="1">
                <a:solidFill>
                  <a:srgbClr val="000000"/>
                </a:solidFill>
                <a:latin typeface="Times New Roman"/>
                <a:ea typeface="Segoe UI"/>
                <a:cs typeface="Times New Roman"/>
              </a:rPr>
              <a:t>Tentanglement+Tclassical+Tsynchronization</a:t>
            </a:r>
            <a:r>
              <a:rPr lang="en-US" sz="1600" b="1" i="0" dirty="0">
                <a:solidFill>
                  <a:srgbClr val="000000"/>
                </a:solidFill>
                <a:latin typeface="Times New Roman"/>
                <a:ea typeface="Segoe UI"/>
                <a:cs typeface="Times New Roman"/>
              </a:rPr>
              <a:t>​</a:t>
            </a:r>
          </a:p>
          <a:p>
            <a:pPr algn="ctr" rtl="0"/>
            <a:r>
              <a:rPr lang="en-US" sz="1600" b="0" i="0" u="none" strike="noStrike" baseline="0" dirty="0">
                <a:solidFill>
                  <a:srgbClr val="000000"/>
                </a:solidFill>
                <a:latin typeface="Times New Roman"/>
                <a:ea typeface="Segoe UI"/>
                <a:cs typeface="Times New Roman"/>
              </a:rPr>
              <a:t>As entanglement latency </a:t>
            </a:r>
            <a:r>
              <a:rPr lang="en-US" sz="1600" b="1" i="0" u="none" strike="noStrike" baseline="0" dirty="0" err="1">
                <a:solidFill>
                  <a:srgbClr val="000000"/>
                </a:solidFill>
                <a:latin typeface="Times New Roman"/>
                <a:ea typeface="Segoe UI"/>
                <a:cs typeface="Times New Roman"/>
              </a:rPr>
              <a:t>τe</a:t>
            </a:r>
            <a:r>
              <a:rPr lang="en-US" sz="1600" b="0" i="0" u="none" strike="noStrike" baseline="0" dirty="0">
                <a:solidFill>
                  <a:srgbClr val="000000"/>
                </a:solidFill>
                <a:latin typeface="Times New Roman"/>
                <a:ea typeface="Segoe UI"/>
                <a:cs typeface="Times New Roman"/>
              </a:rPr>
              <a:t> increases, </a:t>
            </a:r>
            <a:r>
              <a:rPr lang="en-US" sz="1600" b="1" i="0" u="none" strike="noStrike" baseline="0" dirty="0" err="1">
                <a:solidFill>
                  <a:srgbClr val="000000"/>
                </a:solidFill>
                <a:latin typeface="Times New Roman"/>
                <a:ea typeface="Segoe UI"/>
                <a:cs typeface="Times New Roman"/>
              </a:rPr>
              <a:t>Depthdistributed</a:t>
            </a:r>
            <a:r>
              <a:rPr lang="en-US" sz="1600" b="1" i="0" u="none" strike="noStrike" baseline="0" dirty="0">
                <a:solidFill>
                  <a:srgbClr val="000000"/>
                </a:solidFill>
                <a:latin typeface="Times New Roman"/>
                <a:ea typeface="Segoe UI"/>
                <a:cs typeface="Times New Roman"/>
              </a:rPr>
              <a:t>↑</a:t>
            </a:r>
          </a:p>
        </p:txBody>
      </p:sp>
      <p:sp>
        <p:nvSpPr>
          <p:cNvPr id="9" name="TextBox 8">
            <a:extLst>
              <a:ext uri="{FF2B5EF4-FFF2-40B4-BE49-F238E27FC236}">
                <a16:creationId xmlns:a16="http://schemas.microsoft.com/office/drawing/2014/main" id="{2601FD7C-582B-EF1D-3130-2AC82DAC7758}"/>
              </a:ext>
            </a:extLst>
          </p:cNvPr>
          <p:cNvSpPr txBox="1"/>
          <p:nvPr/>
        </p:nvSpPr>
        <p:spPr>
          <a:xfrm>
            <a:off x="95250" y="4074583"/>
            <a:ext cx="4222750"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baseline="0">
                <a:solidFill>
                  <a:srgbClr val="000000"/>
                </a:solidFill>
                <a:latin typeface="Times New Roman"/>
                <a:ea typeface="Segoe UI"/>
                <a:cs typeface="Times New Roman"/>
              </a:rPr>
              <a:t>Direct execution performs all operations</a:t>
            </a:r>
            <a:r>
              <a:rPr lang="en-US" sz="1600">
                <a:solidFill>
                  <a:srgbClr val="000000"/>
                </a:solidFill>
                <a:latin typeface="Times New Roman"/>
                <a:ea typeface="Segoe UI"/>
                <a:cs typeface="Times New Roman"/>
              </a:rPr>
              <a:t> locally </a:t>
            </a:r>
          </a:p>
          <a:p>
            <a:r>
              <a:rPr lang="en-US" sz="1600" b="1" i="0" u="none" strike="noStrike" baseline="0" dirty="0" err="1">
                <a:solidFill>
                  <a:srgbClr val="000000"/>
                </a:solidFill>
                <a:latin typeface="Times New Roman"/>
                <a:ea typeface="Segoe UI"/>
                <a:cs typeface="Times New Roman"/>
              </a:rPr>
              <a:t>DepthDirect≈DepthLocal</a:t>
            </a:r>
            <a:r>
              <a:rPr lang="en-US" sz="1600" b="1" i="0" dirty="0">
                <a:solidFill>
                  <a:srgbClr val="000000"/>
                </a:solidFill>
                <a:latin typeface="Times New Roman"/>
                <a:ea typeface="Segoe UI"/>
                <a:cs typeface="Times New Roman"/>
              </a:rPr>
              <a:t>​</a:t>
            </a:r>
            <a:endParaRPr lang="en-US" sz="1600" i="0" dirty="0">
              <a:solidFill>
                <a:srgbClr val="000000"/>
              </a:solidFill>
              <a:latin typeface="Times New Roman"/>
              <a:ea typeface="Segoe UI"/>
              <a:cs typeface="Times New Roman"/>
            </a:endParaRPr>
          </a:p>
          <a:p>
            <a:endParaRPr lang="en-US" sz="1600" b="1" dirty="0">
              <a:solidFill>
                <a:srgbClr val="000000"/>
              </a:solidFill>
              <a:latin typeface="Times New Roman"/>
              <a:ea typeface="Segoe UI"/>
              <a:cs typeface="Times New Roman"/>
            </a:endParaRPr>
          </a:p>
          <a:p>
            <a:pPr rtl="0"/>
            <a:r>
              <a:rPr lang="en-US" sz="1600" b="0" i="0" u="none" strike="noStrike" baseline="0">
                <a:solidFill>
                  <a:srgbClr val="000000"/>
                </a:solidFill>
                <a:latin typeface="Times New Roman"/>
                <a:ea typeface="Segoe UI"/>
                <a:cs typeface="Times New Roman"/>
              </a:rPr>
              <a:t>No:</a:t>
            </a:r>
            <a:r>
              <a:rPr lang="en-US" sz="1600" b="0" i="0">
                <a:solidFill>
                  <a:srgbClr val="000000"/>
                </a:solidFill>
                <a:latin typeface="Times New Roman"/>
                <a:ea typeface="Segoe UI"/>
                <a:cs typeface="Times New Roman"/>
              </a:rPr>
              <a:t>​</a:t>
            </a:r>
            <a:endParaRPr lang="en-US" sz="1600" b="0" i="0" dirty="0">
              <a:solidFill>
                <a:srgbClr val="000000"/>
              </a:solidFill>
              <a:latin typeface="Times New Roman"/>
              <a:ea typeface="Segoe UI"/>
              <a:cs typeface="Times New Roman"/>
            </a:endParaRPr>
          </a:p>
          <a:p>
            <a:pPr marL="285750" lvl="0" indent="-285750" rtl="0">
              <a:buFont typeface="Arial,Sans-Serif"/>
              <a:buChar char="•"/>
            </a:pPr>
            <a:r>
              <a:rPr lang="en-US" sz="1600" b="0" i="0" u="none" strike="noStrike" baseline="0">
                <a:solidFill>
                  <a:srgbClr val="000000"/>
                </a:solidFill>
                <a:latin typeface="Times New Roman"/>
                <a:ea typeface="Arial"/>
                <a:cs typeface="Times New Roman"/>
              </a:rPr>
              <a:t>Bell-pair generation </a:t>
            </a:r>
            <a:r>
              <a:rPr lang="en-US" sz="1600" b="0" i="0">
                <a:solidFill>
                  <a:srgbClr val="000000"/>
                </a:solidFill>
                <a:latin typeface="Times New Roman"/>
                <a:ea typeface="Arial"/>
                <a:cs typeface="Times New Roman"/>
              </a:rPr>
              <a:t>​</a:t>
            </a:r>
          </a:p>
          <a:p>
            <a:pPr marL="285750" lvl="0" indent="-285750" rtl="0">
              <a:buFont typeface="Arial,Sans-Serif"/>
              <a:buChar char="•"/>
            </a:pPr>
            <a:r>
              <a:rPr lang="en-US" sz="1600" b="0" i="0" u="none" strike="noStrike" baseline="0">
                <a:solidFill>
                  <a:srgbClr val="000000"/>
                </a:solidFill>
                <a:latin typeface="Times New Roman"/>
                <a:ea typeface="Arial"/>
                <a:cs typeface="Times New Roman"/>
              </a:rPr>
              <a:t>Teleportation </a:t>
            </a:r>
            <a:r>
              <a:rPr lang="en-US" sz="1600" b="0" i="0">
                <a:solidFill>
                  <a:srgbClr val="000000"/>
                </a:solidFill>
                <a:latin typeface="Times New Roman"/>
                <a:ea typeface="Arial"/>
                <a:cs typeface="Times New Roman"/>
              </a:rPr>
              <a:t>​</a:t>
            </a:r>
          </a:p>
          <a:p>
            <a:pPr marL="285750" lvl="0" indent="-285750" rtl="0">
              <a:buFont typeface="Arial,Sans-Serif"/>
              <a:buChar char="•"/>
            </a:pPr>
            <a:r>
              <a:rPr lang="en-US" sz="1600" b="0" i="0" u="none" strike="noStrike" baseline="0">
                <a:solidFill>
                  <a:srgbClr val="000000"/>
                </a:solidFill>
                <a:latin typeface="Times New Roman"/>
                <a:ea typeface="Arial"/>
                <a:cs typeface="Times New Roman"/>
              </a:rPr>
              <a:t>Inter-core routing </a:t>
            </a:r>
            <a:r>
              <a:rPr lang="en-US" sz="1600" b="0" i="0">
                <a:solidFill>
                  <a:srgbClr val="000000"/>
                </a:solidFill>
                <a:latin typeface="Times New Roman"/>
                <a:ea typeface="Arial"/>
                <a:cs typeface="Times New Roman"/>
              </a:rPr>
              <a:t>​</a:t>
            </a:r>
          </a:p>
          <a:p>
            <a:pPr marL="285750" lvl="0" indent="-285750" rtl="0">
              <a:buFont typeface="Arial,Sans-Serif"/>
              <a:buChar char="•"/>
            </a:pPr>
            <a:r>
              <a:rPr lang="en-US" sz="1600" b="0" i="0" u="none" strike="noStrike" baseline="0">
                <a:solidFill>
                  <a:srgbClr val="000000"/>
                </a:solidFill>
                <a:latin typeface="Times New Roman"/>
                <a:ea typeface="Arial"/>
                <a:cs typeface="Times New Roman"/>
              </a:rPr>
              <a:t>Classical synchronization</a:t>
            </a:r>
          </a:p>
        </p:txBody>
      </p:sp>
      <p:sp>
        <p:nvSpPr>
          <p:cNvPr id="13" name="TextBox 12">
            <a:extLst>
              <a:ext uri="{FF2B5EF4-FFF2-40B4-BE49-F238E27FC236}">
                <a16:creationId xmlns:a16="http://schemas.microsoft.com/office/drawing/2014/main" id="{D59AA06E-8F7A-98B8-748A-5DDAB54E536F}"/>
              </a:ext>
            </a:extLst>
          </p:cNvPr>
          <p:cNvSpPr txBox="1"/>
          <p:nvPr/>
        </p:nvSpPr>
        <p:spPr>
          <a:xfrm>
            <a:off x="6731000" y="4677833"/>
            <a:ext cx="5281083"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r>
              <a:rPr lang="en-US" sz="1600" b="0" i="0" u="none" strike="noStrike" baseline="0">
                <a:solidFill>
                  <a:srgbClr val="000000"/>
                </a:solidFill>
                <a:latin typeface="Times New Roman"/>
                <a:ea typeface="Segoe UI"/>
                <a:cs typeface="Times New Roman"/>
              </a:rPr>
              <a:t>Because it completely avoids communication overhead.</a:t>
            </a:r>
            <a:r>
              <a:rPr lang="en-US" sz="1600" b="0" i="0">
                <a:solidFill>
                  <a:srgbClr val="000000"/>
                </a:solidFill>
                <a:latin typeface="Times New Roman"/>
                <a:ea typeface="Segoe UI"/>
                <a:cs typeface="Times New Roman"/>
              </a:rPr>
              <a:t>​</a:t>
            </a:r>
            <a:endParaRPr lang="en-US" sz="1600" b="0" i="0" dirty="0">
              <a:solidFill>
                <a:srgbClr val="000000"/>
              </a:solidFill>
              <a:latin typeface="Times New Roman"/>
              <a:ea typeface="Segoe UI"/>
              <a:cs typeface="Times New Roman"/>
            </a:endParaRPr>
          </a:p>
          <a:p>
            <a:r>
              <a:rPr lang="en-US" sz="1600" b="0" i="0" u="none" strike="noStrike" baseline="0" dirty="0">
                <a:solidFill>
                  <a:srgbClr val="000000"/>
                </a:solidFill>
                <a:latin typeface="Times New Roman"/>
                <a:ea typeface="Segoe UI"/>
                <a:cs typeface="Times New Roman"/>
              </a:rPr>
              <a:t>While distributed systems benefit from scalability and modularity, every remote </a:t>
            </a:r>
            <a:r>
              <a:rPr lang="en-US" sz="1600" dirty="0">
                <a:solidFill>
                  <a:srgbClr val="000000"/>
                </a:solidFill>
                <a:latin typeface="Times New Roman"/>
                <a:ea typeface="Segoe UI"/>
                <a:cs typeface="Times New Roman"/>
              </a:rPr>
              <a:t>operation introduces</a:t>
            </a:r>
            <a:r>
              <a:rPr lang="en-US" sz="1600" b="0" i="0" u="none" strike="noStrike" baseline="0" dirty="0">
                <a:solidFill>
                  <a:srgbClr val="000000"/>
                </a:solidFill>
                <a:latin typeface="Times New Roman"/>
                <a:ea typeface="Segoe UI"/>
                <a:cs typeface="Times New Roman"/>
              </a:rPr>
              <a:t> entanglement generation, teleportation, and classical synchronization costs.</a:t>
            </a:r>
            <a:r>
              <a:rPr lang="en-US" sz="1600" b="0" i="0" dirty="0">
                <a:solidFill>
                  <a:srgbClr val="000000"/>
                </a:solidFill>
                <a:latin typeface="Times New Roman"/>
                <a:ea typeface="Segoe UI"/>
                <a:cs typeface="Times New Roman"/>
              </a:rPr>
              <a:t>​</a:t>
            </a:r>
          </a:p>
        </p:txBody>
      </p:sp>
      <p:sp>
        <p:nvSpPr>
          <p:cNvPr id="15" name="TextBox 14">
            <a:extLst>
              <a:ext uri="{FF2B5EF4-FFF2-40B4-BE49-F238E27FC236}">
                <a16:creationId xmlns:a16="http://schemas.microsoft.com/office/drawing/2014/main" id="{3FBB729F-FD30-3360-1FEE-C39BA5C09D22}"/>
              </a:ext>
            </a:extLst>
          </p:cNvPr>
          <p:cNvSpPr txBox="1"/>
          <p:nvPr/>
        </p:nvSpPr>
        <p:spPr>
          <a:xfrm>
            <a:off x="1852083" y="6381750"/>
            <a:ext cx="8942916"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0" u="none" strike="noStrike" baseline="0" dirty="0" err="1">
                <a:solidFill>
                  <a:srgbClr val="000000"/>
                </a:solidFill>
                <a:latin typeface="Times New Roman"/>
                <a:ea typeface="Segoe UI"/>
                <a:cs typeface="Segoe UI"/>
              </a:rPr>
              <a:t>DepthDirect</a:t>
            </a:r>
            <a:r>
              <a:rPr lang="en-US" sz="1600" b="1" i="0" u="none" strike="noStrike" baseline="0" dirty="0">
                <a:solidFill>
                  <a:srgbClr val="000000"/>
                </a:solidFill>
                <a:latin typeface="Times New Roman"/>
                <a:ea typeface="Segoe UI"/>
                <a:cs typeface="Segoe UI"/>
              </a:rPr>
              <a:t>&lt;</a:t>
            </a:r>
            <a:r>
              <a:rPr lang="en-US" sz="1600" b="1" i="0" u="none" strike="noStrike" baseline="0" dirty="0" err="1">
                <a:solidFill>
                  <a:srgbClr val="000000"/>
                </a:solidFill>
                <a:latin typeface="Times New Roman"/>
                <a:ea typeface="Segoe UI"/>
                <a:cs typeface="Segoe UI"/>
              </a:rPr>
              <a:t>DepthMonolithic</a:t>
            </a:r>
            <a:r>
              <a:rPr lang="en-US" sz="1600" b="1" i="0" u="none" strike="noStrike" baseline="0" dirty="0">
                <a:solidFill>
                  <a:srgbClr val="000000"/>
                </a:solidFill>
                <a:latin typeface="Times New Roman"/>
                <a:ea typeface="Segoe UI"/>
                <a:cs typeface="Segoe UI"/>
              </a:rPr>
              <a:t>&lt;</a:t>
            </a:r>
            <a:r>
              <a:rPr lang="en-US" sz="1600" b="1" i="0" u="none" strike="noStrike" baseline="0" dirty="0" err="1">
                <a:solidFill>
                  <a:srgbClr val="000000"/>
                </a:solidFill>
                <a:latin typeface="Times New Roman"/>
                <a:ea typeface="Segoe UI"/>
                <a:cs typeface="Segoe UI"/>
              </a:rPr>
              <a:t>DepthDistributed</a:t>
            </a:r>
            <a:r>
              <a:rPr lang="en-US" sz="1600" b="1" i="0" u="none" strike="noStrike" baseline="0" dirty="0">
                <a:solidFill>
                  <a:srgbClr val="000000"/>
                </a:solidFill>
                <a:latin typeface="Times New Roman"/>
                <a:ea typeface="Segoe UI"/>
                <a:cs typeface="Segoe UI"/>
              </a:rPr>
              <a:t> for increasing </a:t>
            </a:r>
            <a:r>
              <a:rPr lang="en-US" sz="1600" b="1" dirty="0">
                <a:solidFill>
                  <a:srgbClr val="000000"/>
                </a:solidFill>
                <a:latin typeface="Times New Roman"/>
                <a:ea typeface="Segoe UI"/>
                <a:cs typeface="Segoe UI"/>
              </a:rPr>
              <a:t>communication latency</a:t>
            </a:r>
            <a:r>
              <a:rPr lang="en-US" sz="1600" b="1" i="0" u="none" strike="noStrike" baseline="0" dirty="0">
                <a:solidFill>
                  <a:srgbClr val="000000"/>
                </a:solidFill>
                <a:latin typeface="Times New Roman"/>
                <a:ea typeface="Segoe UI"/>
                <a:cs typeface="Segoe UI"/>
              </a:rPr>
              <a:t>.</a:t>
            </a:r>
            <a:endParaRPr lang="en-US" dirty="0"/>
          </a:p>
        </p:txBody>
      </p:sp>
    </p:spTree>
    <p:extLst>
      <p:ext uri="{BB962C8B-B14F-4D97-AF65-F5344CB8AC3E}">
        <p14:creationId xmlns:p14="http://schemas.microsoft.com/office/powerpoint/2010/main" val="2165726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A3088-C365-F2AC-2879-7012469D0B75}"/>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3FCD1BBF-9634-F922-556A-35AC3D767809}"/>
              </a:ext>
            </a:extLst>
          </p:cNvPr>
          <p:cNvSpPr>
            <a:spLocks noGrp="1"/>
          </p:cNvSpPr>
          <p:nvPr/>
        </p:nvSpPr>
        <p:spPr>
          <a:xfrm>
            <a:off x="2656905" y="72048"/>
            <a:ext cx="7636121" cy="4267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Times New Roman"/>
                <a:ea typeface="+mj-lt"/>
                <a:cs typeface="Times New Roman"/>
              </a:rPr>
              <a:t>Modern Fast Interconnect Literature</a:t>
            </a:r>
            <a:endParaRPr lang="en-US" sz="3600">
              <a:latin typeface="Times New Roman"/>
              <a:cs typeface="Times New Roman"/>
            </a:endParaRPr>
          </a:p>
        </p:txBody>
      </p:sp>
      <p:sp>
        <p:nvSpPr>
          <p:cNvPr id="7" name="TextBox 6">
            <a:extLst>
              <a:ext uri="{FF2B5EF4-FFF2-40B4-BE49-F238E27FC236}">
                <a16:creationId xmlns:a16="http://schemas.microsoft.com/office/drawing/2014/main" id="{1F152EB7-BF4C-D2AF-99C7-A88BE5868C90}"/>
              </a:ext>
            </a:extLst>
          </p:cNvPr>
          <p:cNvSpPr txBox="1"/>
          <p:nvPr/>
        </p:nvSpPr>
        <p:spPr>
          <a:xfrm>
            <a:off x="0" y="6144847"/>
            <a:ext cx="1199661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400" i="1" dirty="0">
                <a:latin typeface="Times New Roman"/>
                <a:ea typeface="+mn-lt"/>
                <a:cs typeface="Times New Roman"/>
              </a:rPr>
              <a:t>Modern neutral-atom interconnects demonstrate that high-rate, high-fidelity Bell-pair generation is achievable, providing a realistic foundation for the fast-interconnect assumptions used in this study.</a:t>
            </a:r>
          </a:p>
        </p:txBody>
      </p:sp>
      <p:sp>
        <p:nvSpPr>
          <p:cNvPr id="9" name="TextBox 8">
            <a:extLst>
              <a:ext uri="{FF2B5EF4-FFF2-40B4-BE49-F238E27FC236}">
                <a16:creationId xmlns:a16="http://schemas.microsoft.com/office/drawing/2014/main" id="{48AFB876-EAD8-E9F8-549B-7EFF795323D7}"/>
              </a:ext>
            </a:extLst>
          </p:cNvPr>
          <p:cNvSpPr txBox="1"/>
          <p:nvPr/>
        </p:nvSpPr>
        <p:spPr>
          <a:xfrm>
            <a:off x="201083" y="497417"/>
            <a:ext cx="1180041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i="1" dirty="0">
                <a:solidFill>
                  <a:srgbClr val="000000"/>
                </a:solidFill>
                <a:latin typeface="Times New Roman"/>
                <a:ea typeface="+mn-lt"/>
                <a:cs typeface="Times New Roman"/>
              </a:rPr>
              <a:t>High-Rate and High-Fidelity Modular Interconnects Between Neutral Atom Quantum Processors – Li </a:t>
            </a:r>
            <a:r>
              <a:rPr lang="en-US" sz="1600" b="1" i="1" dirty="0" err="1">
                <a:solidFill>
                  <a:srgbClr val="000000"/>
                </a:solidFill>
                <a:latin typeface="Times New Roman"/>
                <a:ea typeface="+mn-lt"/>
                <a:cs typeface="Times New Roman"/>
              </a:rPr>
              <a:t>etal</a:t>
            </a:r>
            <a:r>
              <a:rPr lang="en-US" sz="1600" b="1" i="1" dirty="0">
                <a:solidFill>
                  <a:srgbClr val="000000"/>
                </a:solidFill>
                <a:latin typeface="Times New Roman"/>
                <a:ea typeface="+mn-lt"/>
                <a:cs typeface="Times New Roman"/>
              </a:rPr>
              <a:t> (June 2025) - APS </a:t>
            </a:r>
            <a:endParaRPr lang="en-US" b="1" i="1" dirty="0">
              <a:latin typeface="Times New Roman"/>
              <a:cs typeface="Times New Roman"/>
            </a:endParaRPr>
          </a:p>
        </p:txBody>
      </p:sp>
      <p:sp>
        <p:nvSpPr>
          <p:cNvPr id="12" name="TextBox 11">
            <a:extLst>
              <a:ext uri="{FF2B5EF4-FFF2-40B4-BE49-F238E27FC236}">
                <a16:creationId xmlns:a16="http://schemas.microsoft.com/office/drawing/2014/main" id="{F831FCC5-C4BF-EB89-7F55-3ABD81ABC3D6}"/>
              </a:ext>
            </a:extLst>
          </p:cNvPr>
          <p:cNvSpPr txBox="1"/>
          <p:nvPr/>
        </p:nvSpPr>
        <p:spPr>
          <a:xfrm>
            <a:off x="1" y="1132416"/>
            <a:ext cx="530225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a:solidFill>
                  <a:srgbClr val="000000"/>
                </a:solidFill>
                <a:latin typeface="Times New Roman"/>
                <a:ea typeface="+mn-lt"/>
                <a:cs typeface="Times New Roman"/>
              </a:rPr>
              <a:t>Bell-pair generation rate approaching </a:t>
            </a:r>
            <a:r>
              <a:rPr lang="en-US" sz="1600" b="1">
                <a:solidFill>
                  <a:srgbClr val="000000"/>
                </a:solidFill>
                <a:latin typeface="Times New Roman"/>
                <a:ea typeface="+mn-lt"/>
                <a:cs typeface="Times New Roman"/>
              </a:rPr>
              <a:t>10^5 Bell pairs</a:t>
            </a:r>
          </a:p>
          <a:p>
            <a:pPr algn="ctr"/>
            <a:r>
              <a:rPr lang="en-US" sz="1600" dirty="0">
                <a:solidFill>
                  <a:srgbClr val="000000"/>
                </a:solidFill>
                <a:latin typeface="Times New Roman"/>
                <a:ea typeface="+mn-lt"/>
                <a:cs typeface="Times New Roman"/>
              </a:rPr>
              <a:t>Bell-pair fidelity: </a:t>
            </a:r>
            <a:r>
              <a:rPr lang="en-US" sz="1600" b="1">
                <a:solidFill>
                  <a:srgbClr val="000000"/>
                </a:solidFill>
                <a:latin typeface="Times New Roman"/>
                <a:ea typeface="+mn-lt"/>
                <a:cs typeface="Times New Roman"/>
              </a:rPr>
              <a:t>F≈0.972 </a:t>
            </a:r>
            <a:r>
              <a:rPr lang="en-US" sz="1600" dirty="0">
                <a:solidFill>
                  <a:srgbClr val="000000"/>
                </a:solidFill>
                <a:latin typeface="Times New Roman"/>
                <a:ea typeface="+mn-lt"/>
                <a:cs typeface="Times New Roman"/>
              </a:rPr>
              <a:t> </a:t>
            </a:r>
            <a:endParaRPr lang="en-US" dirty="0">
              <a:latin typeface="Times New Roman"/>
              <a:cs typeface="Times New Roman"/>
            </a:endParaRPr>
          </a:p>
        </p:txBody>
      </p:sp>
      <p:sp>
        <p:nvSpPr>
          <p:cNvPr id="14" name="TextBox 13">
            <a:extLst>
              <a:ext uri="{FF2B5EF4-FFF2-40B4-BE49-F238E27FC236}">
                <a16:creationId xmlns:a16="http://schemas.microsoft.com/office/drawing/2014/main" id="{D7F0A844-95F8-AB0A-F610-D62AA398B1AC}"/>
              </a:ext>
            </a:extLst>
          </p:cNvPr>
          <p:cNvSpPr txBox="1"/>
          <p:nvPr/>
        </p:nvSpPr>
        <p:spPr>
          <a:xfrm>
            <a:off x="6783918" y="4138083"/>
            <a:ext cx="5217583"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dirty="0">
                <a:solidFill>
                  <a:srgbClr val="000000"/>
                </a:solidFill>
                <a:latin typeface="Times New Roman"/>
                <a:ea typeface="+mn-lt"/>
                <a:cs typeface="Times New Roman"/>
              </a:rPr>
              <a:t>Our bandwidth sweep identified </a:t>
            </a:r>
            <a:r>
              <a:rPr lang="en-US" sz="1600" b="1" i="0" u="none" strike="noStrike" baseline="0" dirty="0">
                <a:solidFill>
                  <a:srgbClr val="000000"/>
                </a:solidFill>
                <a:latin typeface="Times New Roman"/>
                <a:ea typeface="+mn-lt"/>
                <a:cs typeface="Times New Roman"/>
              </a:rPr>
              <a:t>BW</a:t>
            </a:r>
            <a:r>
              <a:rPr lang="en-US" sz="1600" b="1" dirty="0">
                <a:solidFill>
                  <a:srgbClr val="000000"/>
                </a:solidFill>
                <a:latin typeface="Times New Roman"/>
                <a:ea typeface="+mn-lt"/>
                <a:cs typeface="Times New Roman"/>
              </a:rPr>
              <a:t>=4x10^5</a:t>
            </a:r>
            <a:endParaRPr lang="en-US" sz="1600" b="1" dirty="0">
              <a:latin typeface="Times New Roman"/>
              <a:cs typeface="Times New Roman"/>
            </a:endParaRPr>
          </a:p>
          <a:p>
            <a:pPr algn="ctr"/>
            <a:r>
              <a:rPr lang="en-US" sz="1600">
                <a:solidFill>
                  <a:srgbClr val="000000"/>
                </a:solidFill>
                <a:latin typeface="Times New Roman"/>
                <a:ea typeface="+mn-lt"/>
                <a:cs typeface="Times New Roman"/>
              </a:rPr>
              <a:t>as </a:t>
            </a:r>
            <a:r>
              <a:rPr lang="en-US" sz="1600" b="0" i="0" u="none" strike="noStrike" baseline="0">
                <a:solidFill>
                  <a:srgbClr val="000000"/>
                </a:solidFill>
                <a:latin typeface="Times New Roman"/>
                <a:ea typeface="+mn-lt"/>
                <a:cs typeface="Times New Roman"/>
              </a:rPr>
              <a:t>the </a:t>
            </a:r>
            <a:r>
              <a:rPr lang="en-US" sz="1600">
                <a:solidFill>
                  <a:srgbClr val="000000"/>
                </a:solidFill>
                <a:latin typeface="Times New Roman"/>
                <a:ea typeface="+mn-lt"/>
                <a:cs typeface="Times New Roman"/>
              </a:rPr>
              <a:t>point where:</a:t>
            </a:r>
            <a:endParaRPr lang="en-US" sz="1600">
              <a:latin typeface="Times New Roman"/>
              <a:cs typeface="Times New Roman"/>
            </a:endParaRPr>
          </a:p>
          <a:p>
            <a:pPr marL="285750" indent="-285750" algn="ctr">
              <a:buFont typeface="Arial"/>
              <a:buChar char="•"/>
            </a:pPr>
            <a:r>
              <a:rPr lang="en-US" sz="1600" dirty="0">
                <a:solidFill>
                  <a:srgbClr val="000000"/>
                </a:solidFill>
                <a:latin typeface="Times New Roman"/>
                <a:ea typeface="+mn-lt"/>
                <a:cs typeface="Times New Roman"/>
              </a:rPr>
              <a:t> Communication bottlenecks are </a:t>
            </a:r>
            <a:r>
              <a:rPr lang="en-US" sz="1600" b="0" i="0" u="none" strike="noStrike" baseline="0" dirty="0">
                <a:solidFill>
                  <a:srgbClr val="000000"/>
                </a:solidFill>
                <a:latin typeface="Times New Roman"/>
                <a:ea typeface="+mn-lt"/>
                <a:cs typeface="Times New Roman"/>
              </a:rPr>
              <a:t>largely removed</a:t>
            </a:r>
            <a:endParaRPr lang="en-US" sz="1600">
              <a:latin typeface="Times New Roman"/>
              <a:ea typeface="+mn-lt"/>
              <a:cs typeface="Times New Roman"/>
            </a:endParaRPr>
          </a:p>
          <a:p>
            <a:pPr marL="285750" indent="-285750" algn="ctr">
              <a:buFont typeface="Arial"/>
              <a:buChar char="•"/>
            </a:pPr>
            <a:r>
              <a:rPr lang="en-US" sz="1600" b="0" i="0" u="none" strike="noStrike" baseline="0">
                <a:solidFill>
                  <a:srgbClr val="000000"/>
                </a:solidFill>
                <a:latin typeface="Times New Roman"/>
                <a:ea typeface="+mn-lt"/>
                <a:cs typeface="Times New Roman"/>
              </a:rPr>
              <a:t>Routing delay </a:t>
            </a:r>
            <a:r>
              <a:rPr lang="en-US" sz="1600">
                <a:solidFill>
                  <a:srgbClr val="000000"/>
                </a:solidFill>
                <a:latin typeface="Times New Roman"/>
                <a:ea typeface="+mn-lt"/>
                <a:cs typeface="Times New Roman"/>
              </a:rPr>
              <a:t>becomes negligible</a:t>
            </a:r>
            <a:endParaRPr lang="en-US" sz="1600">
              <a:latin typeface="Times New Roman"/>
              <a:cs typeface="Times New Roman"/>
            </a:endParaRPr>
          </a:p>
          <a:p>
            <a:pPr marL="285750" indent="-285750" algn="ctr">
              <a:buFont typeface="Arial"/>
              <a:buChar char="•"/>
            </a:pPr>
            <a:r>
              <a:rPr lang="en-US" sz="1600">
                <a:solidFill>
                  <a:srgbClr val="000000"/>
                </a:solidFill>
                <a:latin typeface="Times New Roman"/>
                <a:ea typeface="+mn-lt"/>
                <a:cs typeface="Times New Roman"/>
              </a:rPr>
              <a:t>Further bandwidth increases produce diminishing returns</a:t>
            </a:r>
            <a:endParaRPr lang="en-US" sz="1600">
              <a:latin typeface="Times New Roman"/>
              <a:cs typeface="Times New Roman"/>
            </a:endParaRPr>
          </a:p>
        </p:txBody>
      </p:sp>
      <p:sp>
        <p:nvSpPr>
          <p:cNvPr id="2" name="TextBox 1">
            <a:extLst>
              <a:ext uri="{FF2B5EF4-FFF2-40B4-BE49-F238E27FC236}">
                <a16:creationId xmlns:a16="http://schemas.microsoft.com/office/drawing/2014/main" id="{A4903AC5-68E9-D769-7B4A-3B528319BA52}"/>
              </a:ext>
            </a:extLst>
          </p:cNvPr>
          <p:cNvSpPr txBox="1"/>
          <p:nvPr/>
        </p:nvSpPr>
        <p:spPr>
          <a:xfrm>
            <a:off x="3661833" y="2529417"/>
            <a:ext cx="4349750" cy="10772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742950" lvl="1" indent="-285750">
              <a:buFont typeface="Arial,Sans-Serif"/>
              <a:buChar char="•"/>
            </a:pPr>
            <a:r>
              <a:rPr lang="en-US" sz="1600" b="0" i="0" u="none" strike="noStrike" baseline="0" dirty="0">
                <a:solidFill>
                  <a:srgbClr val="000000"/>
                </a:solidFill>
                <a:latin typeface="Times New Roman"/>
                <a:ea typeface="Arial"/>
                <a:cs typeface="Arial"/>
              </a:rPr>
              <a:t>High-speed </a:t>
            </a:r>
            <a:r>
              <a:rPr lang="en-US" sz="1600" dirty="0">
                <a:solidFill>
                  <a:srgbClr val="000000"/>
                </a:solidFill>
                <a:latin typeface="Times New Roman"/>
                <a:ea typeface="Arial"/>
                <a:cs typeface="Arial"/>
              </a:rPr>
              <a:t>inter-</a:t>
            </a:r>
            <a:r>
              <a:rPr lang="en-US" sz="1600">
                <a:solidFill>
                  <a:srgbClr val="000000"/>
                </a:solidFill>
                <a:latin typeface="Times New Roman"/>
                <a:ea typeface="Arial"/>
                <a:cs typeface="Arial"/>
              </a:rPr>
              <a:t>module communication</a:t>
            </a:r>
            <a:r>
              <a:rPr lang="en-US" sz="1600" b="0" i="0" u="none" strike="noStrike" baseline="0">
                <a:solidFill>
                  <a:srgbClr val="000000"/>
                </a:solidFill>
                <a:latin typeface="Times New Roman"/>
                <a:ea typeface="Arial"/>
                <a:cs typeface="Arial"/>
              </a:rPr>
              <a:t> </a:t>
            </a:r>
            <a:r>
              <a:rPr lang="en-US" sz="1600" b="0" i="0">
                <a:solidFill>
                  <a:srgbClr val="000000"/>
                </a:solidFill>
                <a:latin typeface="Times New Roman"/>
                <a:ea typeface="Arial"/>
                <a:cs typeface="Arial"/>
              </a:rPr>
              <a:t>​</a:t>
            </a:r>
            <a:endParaRPr lang="en-US"/>
          </a:p>
          <a:p>
            <a:pPr marL="742950" lvl="1" indent="-285750" rtl="0">
              <a:buFont typeface="Arial,Sans-Serif"/>
              <a:buChar char="•"/>
            </a:pPr>
            <a:r>
              <a:rPr lang="en-US" sz="1600" b="0" i="0" u="none" strike="noStrike" baseline="0">
                <a:solidFill>
                  <a:srgbClr val="000000"/>
                </a:solidFill>
                <a:latin typeface="Times New Roman"/>
                <a:ea typeface="Arial"/>
                <a:cs typeface="Arial"/>
              </a:rPr>
              <a:t>Fault-tolerant remote operations </a:t>
            </a:r>
            <a:r>
              <a:rPr lang="en-US" sz="1600" b="0" i="0">
                <a:solidFill>
                  <a:srgbClr val="000000"/>
                </a:solidFill>
                <a:latin typeface="Times New Roman"/>
                <a:ea typeface="Arial"/>
                <a:cs typeface="Arial"/>
              </a:rPr>
              <a:t>​</a:t>
            </a:r>
          </a:p>
          <a:p>
            <a:pPr marL="742950" lvl="1" indent="-285750" rtl="0">
              <a:buFont typeface="Arial,Sans-Serif"/>
              <a:buChar char="•"/>
            </a:pPr>
            <a:r>
              <a:rPr lang="en-US" sz="1600" b="0" i="0" u="none" strike="noStrike" baseline="0">
                <a:solidFill>
                  <a:srgbClr val="000000"/>
                </a:solidFill>
                <a:latin typeface="Times New Roman"/>
                <a:ea typeface="Arial"/>
                <a:cs typeface="Arial"/>
              </a:rPr>
              <a:t>Distributed logical gate execution </a:t>
            </a:r>
            <a:r>
              <a:rPr lang="en-US" sz="1600" b="0" i="0">
                <a:solidFill>
                  <a:srgbClr val="000000"/>
                </a:solidFill>
                <a:latin typeface="Times New Roman"/>
                <a:ea typeface="Arial"/>
                <a:cs typeface="Arial"/>
              </a:rPr>
              <a:t>​</a:t>
            </a:r>
          </a:p>
          <a:p>
            <a:pPr marL="742950" lvl="1" indent="-285750" rtl="0">
              <a:buFont typeface="Arial,Sans-Serif"/>
              <a:buChar char="•"/>
            </a:pPr>
            <a:r>
              <a:rPr lang="en-US" sz="1600" b="0" i="0" u="none" strike="noStrike" baseline="0">
                <a:solidFill>
                  <a:srgbClr val="000000"/>
                </a:solidFill>
                <a:latin typeface="Times New Roman"/>
                <a:ea typeface="Arial"/>
                <a:cs typeface="Arial"/>
              </a:rPr>
              <a:t>Modular quantum computing</a:t>
            </a:r>
          </a:p>
        </p:txBody>
      </p:sp>
      <p:pic>
        <p:nvPicPr>
          <p:cNvPr id="3" name="Picture 2">
            <a:extLst>
              <a:ext uri="{FF2B5EF4-FFF2-40B4-BE49-F238E27FC236}">
                <a16:creationId xmlns:a16="http://schemas.microsoft.com/office/drawing/2014/main" id="{5B9CF29F-126B-44D8-46FF-14E519F928DE}"/>
              </a:ext>
            </a:extLst>
          </p:cNvPr>
          <p:cNvPicPr>
            <a:picLocks noChangeAspect="1"/>
          </p:cNvPicPr>
          <p:nvPr/>
        </p:nvPicPr>
        <p:blipFill>
          <a:blip r:embed="rId3"/>
          <a:srcRect l="43088" t="5442" r="8977" b="227"/>
          <a:stretch>
            <a:fillRect/>
          </a:stretch>
        </p:blipFill>
        <p:spPr>
          <a:xfrm>
            <a:off x="196849" y="1823428"/>
            <a:ext cx="2670287" cy="4158935"/>
          </a:xfrm>
          <a:prstGeom prst="rect">
            <a:avLst/>
          </a:prstGeom>
        </p:spPr>
      </p:pic>
    </p:spTree>
    <p:extLst>
      <p:ext uri="{BB962C8B-B14F-4D97-AF65-F5344CB8AC3E}">
        <p14:creationId xmlns:p14="http://schemas.microsoft.com/office/powerpoint/2010/main" val="3698662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9293D-1843-61D6-8AC5-F78C18CBF93E}"/>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B3669033-DB2E-BC21-8DBD-3746A12CA68B}"/>
              </a:ext>
            </a:extLst>
          </p:cNvPr>
          <p:cNvSpPr>
            <a:spLocks noGrp="1"/>
          </p:cNvSpPr>
          <p:nvPr/>
        </p:nvSpPr>
        <p:spPr>
          <a:xfrm>
            <a:off x="3334238" y="111125"/>
            <a:ext cx="4937371" cy="4267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900">
                <a:latin typeface="Times New Roman"/>
                <a:ea typeface="+mj-lt"/>
                <a:cs typeface="Times New Roman"/>
              </a:rPr>
              <a:t>Fast Interconnect Study</a:t>
            </a:r>
            <a:endParaRPr lang="en-US" sz="3900">
              <a:latin typeface="Times New Roman"/>
              <a:cs typeface="Times New Roman"/>
            </a:endParaRPr>
          </a:p>
        </p:txBody>
      </p:sp>
      <p:sp>
        <p:nvSpPr>
          <p:cNvPr id="5" name="TextBox 4">
            <a:extLst>
              <a:ext uri="{FF2B5EF4-FFF2-40B4-BE49-F238E27FC236}">
                <a16:creationId xmlns:a16="http://schemas.microsoft.com/office/drawing/2014/main" id="{70961ED8-9EB0-ED3B-32A5-36CB76667ECF}"/>
              </a:ext>
            </a:extLst>
          </p:cNvPr>
          <p:cNvSpPr txBox="1"/>
          <p:nvPr/>
        </p:nvSpPr>
        <p:spPr>
          <a:xfrm>
            <a:off x="87923" y="762000"/>
            <a:ext cx="3556001"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600" b="1" i="0" u="none" strike="noStrike" baseline="0">
                <a:solidFill>
                  <a:srgbClr val="000000"/>
                </a:solidFill>
                <a:latin typeface="Times New Roman"/>
                <a:ea typeface="Segoe UI"/>
                <a:cs typeface="Times New Roman"/>
              </a:rPr>
              <a:t>Effective Entanglement Latency Falls Rapidly</a:t>
            </a:r>
            <a:r>
              <a:rPr lang="en-US" sz="1600" b="0" i="0">
                <a:solidFill>
                  <a:srgbClr val="000000"/>
                </a:solidFill>
                <a:latin typeface="Times New Roman"/>
                <a:ea typeface="Segoe UI"/>
                <a:cs typeface="Times New Roman"/>
              </a:rPr>
              <a:t>​</a:t>
            </a:r>
          </a:p>
          <a:p>
            <a:pPr algn="ctr" rtl="0"/>
            <a:r>
              <a:rPr lang="en-US" sz="1600" b="0" i="0" u="none" strike="noStrike" baseline="0" dirty="0">
                <a:solidFill>
                  <a:srgbClr val="000000"/>
                </a:solidFill>
                <a:latin typeface="Times New Roman"/>
                <a:ea typeface="Segoe UI"/>
                <a:cs typeface="Times New Roman"/>
              </a:rPr>
              <a:t>As bandwidth increases </a:t>
            </a:r>
            <a:r>
              <a:rPr lang="en-US" sz="1600" b="1" i="0" u="none" strike="noStrike" baseline="0" dirty="0">
                <a:solidFill>
                  <a:srgbClr val="000000"/>
                </a:solidFill>
                <a:latin typeface="Times New Roman"/>
                <a:ea typeface="Segoe UI"/>
                <a:cs typeface="Times New Roman"/>
              </a:rPr>
              <a:t>BW↑⇒</a:t>
            </a:r>
            <a:r>
              <a:rPr lang="en-US" sz="1600" b="1" i="0" u="none" strike="noStrike" baseline="0" dirty="0" err="1">
                <a:solidFill>
                  <a:srgbClr val="000000"/>
                </a:solidFill>
                <a:latin typeface="Times New Roman"/>
                <a:ea typeface="Segoe UI"/>
                <a:cs typeface="Times New Roman"/>
              </a:rPr>
              <a:t>τeff</a:t>
            </a:r>
            <a:r>
              <a:rPr lang="en-US" sz="1600" b="1" i="0" u="none" strike="noStrike" baseline="0" dirty="0">
                <a:solidFill>
                  <a:srgbClr val="000000"/>
                </a:solidFill>
                <a:latin typeface="Times New Roman"/>
                <a:ea typeface="Segoe UI"/>
                <a:cs typeface="Times New Roman"/>
              </a:rPr>
              <a:t>↓</a:t>
            </a:r>
            <a:r>
              <a:rPr lang="en-US" sz="1600" b="0" i="0" dirty="0">
                <a:solidFill>
                  <a:srgbClr val="000000"/>
                </a:solidFill>
                <a:latin typeface="Times New Roman"/>
                <a:ea typeface="Segoe UI"/>
                <a:cs typeface="Times New Roman"/>
              </a:rPr>
              <a:t>​</a:t>
            </a:r>
          </a:p>
          <a:p>
            <a:pPr algn="ctr"/>
            <a:r>
              <a:rPr lang="en-US" sz="1600" b="0" i="0" u="none" strike="noStrike" baseline="0" dirty="0">
                <a:solidFill>
                  <a:srgbClr val="000000"/>
                </a:solidFill>
                <a:latin typeface="Times New Roman"/>
                <a:ea typeface="Segoe UI"/>
                <a:cs typeface="Times New Roman"/>
              </a:rPr>
              <a:t>The reduction is substantial at lower bandwidth values </a:t>
            </a:r>
            <a:r>
              <a:rPr lang="en-US" sz="1600">
                <a:solidFill>
                  <a:srgbClr val="000000"/>
                </a:solidFill>
                <a:latin typeface="Times New Roman"/>
                <a:ea typeface="Segoe UI"/>
                <a:cs typeface="Times New Roman"/>
              </a:rPr>
              <a:t>and</a:t>
            </a:r>
          </a:p>
          <a:p>
            <a:pPr algn="ctr"/>
            <a:r>
              <a:rPr lang="en-US" sz="1600">
                <a:solidFill>
                  <a:srgbClr val="000000"/>
                </a:solidFill>
                <a:latin typeface="Times New Roman"/>
                <a:ea typeface="Segoe UI"/>
                <a:cs typeface="Times New Roman"/>
              </a:rPr>
              <a:t>becomes</a:t>
            </a:r>
            <a:r>
              <a:rPr lang="en-US" sz="1600" b="0" i="0" u="none" strike="noStrike" baseline="0" dirty="0">
                <a:solidFill>
                  <a:srgbClr val="000000"/>
                </a:solidFill>
                <a:latin typeface="Times New Roman"/>
                <a:ea typeface="Segoe UI"/>
                <a:cs typeface="Times New Roman"/>
              </a:rPr>
              <a:t> progressively smaller at higher bandwidths.</a:t>
            </a:r>
            <a:endParaRPr lang="en-US"/>
          </a:p>
          <a:p>
            <a:pPr algn="ctr"/>
            <a:endParaRPr lang="en-US" sz="1600">
              <a:latin typeface="Times New Roman"/>
              <a:cs typeface="Times New Roman"/>
            </a:endParaRPr>
          </a:p>
        </p:txBody>
      </p:sp>
      <p:sp>
        <p:nvSpPr>
          <p:cNvPr id="6" name="TextBox 5">
            <a:extLst>
              <a:ext uri="{FF2B5EF4-FFF2-40B4-BE49-F238E27FC236}">
                <a16:creationId xmlns:a16="http://schemas.microsoft.com/office/drawing/2014/main" id="{B42342F6-D562-C761-FDC7-96CDB1A7B52D}"/>
              </a:ext>
            </a:extLst>
          </p:cNvPr>
          <p:cNvSpPr txBox="1"/>
          <p:nvPr/>
        </p:nvSpPr>
        <p:spPr>
          <a:xfrm>
            <a:off x="1201616" y="3087077"/>
            <a:ext cx="4034693"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600" b="1" i="0" u="none" strike="noStrike" baseline="0">
                <a:solidFill>
                  <a:srgbClr val="000000"/>
                </a:solidFill>
                <a:latin typeface="Times New Roman"/>
                <a:ea typeface="Segoe UI"/>
                <a:cs typeface="Times New Roman"/>
              </a:rPr>
              <a:t>Routing Delay Tracks Communication Latency</a:t>
            </a:r>
            <a:r>
              <a:rPr lang="en-US" sz="1600" b="1" i="0">
                <a:solidFill>
                  <a:srgbClr val="000000"/>
                </a:solidFill>
                <a:latin typeface="Times New Roman"/>
                <a:ea typeface="Segoe UI"/>
                <a:cs typeface="Times New Roman"/>
              </a:rPr>
              <a:t>​</a:t>
            </a:r>
            <a:endParaRPr lang="en-US" sz="1600" b="1" i="0" dirty="0">
              <a:solidFill>
                <a:srgbClr val="000000"/>
              </a:solidFill>
              <a:latin typeface="Times New Roman"/>
              <a:ea typeface="Segoe UI"/>
              <a:cs typeface="Times New Roman"/>
            </a:endParaRPr>
          </a:p>
          <a:p>
            <a:pPr algn="ctr" rtl="0"/>
            <a:r>
              <a:rPr lang="en-US" sz="1600" b="0" i="0" u="none" strike="noStrike" baseline="0" dirty="0">
                <a:solidFill>
                  <a:srgbClr val="000000"/>
                </a:solidFill>
                <a:latin typeface="Times New Roman"/>
                <a:ea typeface="Segoe UI"/>
                <a:cs typeface="Times New Roman"/>
              </a:rPr>
              <a:t>Routing delay decreases almost proportionally with improvements in entanglement delivery.</a:t>
            </a:r>
            <a:r>
              <a:rPr lang="en-US" sz="1600" b="0" i="0" dirty="0">
                <a:solidFill>
                  <a:srgbClr val="000000"/>
                </a:solidFill>
                <a:latin typeface="Times New Roman"/>
                <a:ea typeface="Segoe UI"/>
                <a:cs typeface="Times New Roman"/>
              </a:rPr>
              <a:t>​</a:t>
            </a:r>
          </a:p>
          <a:p>
            <a:pPr algn="ctr"/>
            <a:r>
              <a:rPr lang="en-US" sz="1600" b="1" dirty="0">
                <a:solidFill>
                  <a:srgbClr val="000000"/>
                </a:solidFill>
                <a:latin typeface="Times New Roman"/>
                <a:ea typeface="Segoe UI"/>
                <a:cs typeface="Times New Roman"/>
              </a:rPr>
              <a:t>τeff</a:t>
            </a:r>
            <a:r>
              <a:rPr lang="en-US" sz="1600" b="1" i="0" u="none" strike="noStrike" baseline="0" dirty="0">
                <a:solidFill>
                  <a:srgbClr val="000000"/>
                </a:solidFill>
                <a:latin typeface="Times New Roman"/>
                <a:ea typeface="Segoe UI"/>
                <a:cs typeface="Times New Roman"/>
              </a:rPr>
              <a:t>↓⇒</a:t>
            </a:r>
            <a:r>
              <a:rPr lang="en-US" sz="1600" b="1" i="0" u="none" strike="noStrike" baseline="0" dirty="0" err="1">
                <a:solidFill>
                  <a:srgbClr val="000000"/>
                </a:solidFill>
                <a:latin typeface="Times New Roman"/>
                <a:ea typeface="Segoe UI"/>
                <a:cs typeface="Times New Roman"/>
              </a:rPr>
              <a:t>Drouting</a:t>
            </a:r>
            <a:r>
              <a:rPr lang="en-US" sz="1600" b="1" i="0" u="none" strike="noStrike" baseline="0" dirty="0">
                <a:solidFill>
                  <a:srgbClr val="000000"/>
                </a:solidFill>
                <a:latin typeface="Times New Roman"/>
                <a:ea typeface="Segoe UI"/>
                <a:cs typeface="Times New Roman"/>
              </a:rPr>
              <a:t>↓</a:t>
            </a:r>
            <a:r>
              <a:rPr lang="en-US" sz="1600" b="1" i="0" dirty="0">
                <a:solidFill>
                  <a:srgbClr val="000000"/>
                </a:solidFill>
                <a:latin typeface="Times New Roman"/>
                <a:ea typeface="Segoe UI"/>
                <a:cs typeface="Times New Roman"/>
              </a:rPr>
              <a:t>​</a:t>
            </a:r>
            <a:endParaRPr lang="en-US" dirty="0"/>
          </a:p>
          <a:p>
            <a:pPr algn="ctr" rtl="0"/>
            <a:r>
              <a:rPr lang="en-US" sz="1600" b="0" i="0" u="none" strike="noStrike" baseline="0" dirty="0">
                <a:solidFill>
                  <a:srgbClr val="000000"/>
                </a:solidFill>
                <a:latin typeface="Times New Roman"/>
                <a:ea typeface="Segoe UI"/>
                <a:cs typeface="Times New Roman"/>
              </a:rPr>
              <a:t>This indicates that communication latency is a major contributor to routing overhead </a:t>
            </a:r>
            <a:r>
              <a:rPr lang="en-US" sz="1600" b="0" i="0" u="none" strike="noStrike" baseline="0" dirty="0" err="1">
                <a:solidFill>
                  <a:srgbClr val="000000"/>
                </a:solidFill>
                <a:latin typeface="Times New Roman"/>
                <a:ea typeface="Segoe UI"/>
                <a:cs typeface="Times New Roman"/>
              </a:rPr>
              <a:t>indistributed</a:t>
            </a:r>
            <a:r>
              <a:rPr lang="en-US" sz="1600" b="0" i="0" u="none" strike="noStrike" baseline="0" dirty="0">
                <a:solidFill>
                  <a:srgbClr val="000000"/>
                </a:solidFill>
                <a:latin typeface="Times New Roman"/>
                <a:ea typeface="Segoe UI"/>
                <a:cs typeface="Times New Roman"/>
              </a:rPr>
              <a:t> quantum systems.</a:t>
            </a:r>
          </a:p>
          <a:p>
            <a:pPr algn="ctr"/>
            <a:endParaRPr lang="en-US"/>
          </a:p>
        </p:txBody>
      </p:sp>
      <p:sp>
        <p:nvSpPr>
          <p:cNvPr id="7" name="TextBox 6">
            <a:extLst>
              <a:ext uri="{FF2B5EF4-FFF2-40B4-BE49-F238E27FC236}">
                <a16:creationId xmlns:a16="http://schemas.microsoft.com/office/drawing/2014/main" id="{4E05C49D-E040-11F2-A1B2-5C8A1CB1980B}"/>
              </a:ext>
            </a:extLst>
          </p:cNvPr>
          <p:cNvSpPr txBox="1"/>
          <p:nvPr/>
        </p:nvSpPr>
        <p:spPr>
          <a:xfrm>
            <a:off x="0" y="6144847"/>
            <a:ext cx="1199661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i="1" dirty="0">
                <a:latin typeface="Times New Roman"/>
                <a:ea typeface="Segoe UI"/>
                <a:cs typeface="Times New Roman"/>
              </a:rPr>
              <a:t>Increasing bandwidth significantly improves distributed quantum performance by reducing entanglement latency and routing delay. However, beyond a critical bandwidth, the system enters </a:t>
            </a:r>
            <a:r>
              <a:rPr lang="en-US" sz="1600" i="1">
                <a:latin typeface="Times New Roman"/>
                <a:ea typeface="Segoe UI"/>
                <a:cs typeface="Times New Roman"/>
              </a:rPr>
              <a:t>a diminishing</a:t>
            </a:r>
            <a:r>
              <a:rPr lang="en-US" sz="1600" i="1" dirty="0">
                <a:latin typeface="Times New Roman"/>
                <a:ea typeface="Segoe UI"/>
                <a:cs typeface="Times New Roman"/>
              </a:rPr>
              <a:t>-returns regime where communication is no longer the dominant bottleneck.​</a:t>
            </a:r>
          </a:p>
        </p:txBody>
      </p:sp>
      <p:sp>
        <p:nvSpPr>
          <p:cNvPr id="8" name="TextBox 7">
            <a:extLst>
              <a:ext uri="{FF2B5EF4-FFF2-40B4-BE49-F238E27FC236}">
                <a16:creationId xmlns:a16="http://schemas.microsoft.com/office/drawing/2014/main" id="{823B3F10-6D5D-82E9-065F-E2427D957C24}"/>
              </a:ext>
            </a:extLst>
          </p:cNvPr>
          <p:cNvSpPr txBox="1"/>
          <p:nvPr/>
        </p:nvSpPr>
        <p:spPr>
          <a:xfrm>
            <a:off x="6789618" y="4278924"/>
            <a:ext cx="4777153" cy="18620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700" b="0" i="0" u="none" strike="noStrike" baseline="0" dirty="0">
                <a:solidFill>
                  <a:srgbClr val="000000"/>
                </a:solidFill>
                <a:latin typeface="Aptos"/>
                <a:ea typeface="Segoe UI"/>
                <a:cs typeface="Segoe UI"/>
              </a:rPr>
              <a:t> </a:t>
            </a:r>
            <a:r>
              <a:rPr lang="en-US" sz="1600" b="1" dirty="0">
                <a:latin typeface="Times New Roman"/>
                <a:ea typeface="Segoe UI"/>
                <a:cs typeface="Times New Roman"/>
              </a:rPr>
              <a:t>Performance Exhibits Diminishing Returns​</a:t>
            </a:r>
          </a:p>
          <a:p>
            <a:pPr algn="ctr"/>
            <a:r>
              <a:rPr lang="en-US" sz="1600" b="0" i="0" u="none" strike="noStrike" baseline="0" dirty="0">
                <a:solidFill>
                  <a:srgbClr val="000000"/>
                </a:solidFill>
                <a:latin typeface="Times New Roman"/>
                <a:ea typeface="Segoe UI"/>
                <a:cs typeface="Times New Roman"/>
              </a:rPr>
              <a:t>The marginal improvement curve shows Large gains initially , Rapid saturation after a </a:t>
            </a:r>
            <a:r>
              <a:rPr lang="en-US" sz="1600" dirty="0">
                <a:solidFill>
                  <a:srgbClr val="000000"/>
                </a:solidFill>
                <a:latin typeface="Times New Roman"/>
                <a:ea typeface="Segoe UI"/>
                <a:cs typeface="Times New Roman"/>
              </a:rPr>
              <a:t>threshold bandwidth</a:t>
            </a:r>
            <a:r>
              <a:rPr lang="en-US" sz="1600" b="0" i="0" u="none" strike="noStrike" baseline="0" dirty="0">
                <a:solidFill>
                  <a:srgbClr val="000000"/>
                </a:solidFill>
                <a:latin typeface="Times New Roman"/>
                <a:ea typeface="Segoe UI"/>
                <a:cs typeface="Times New Roman"/>
              </a:rPr>
              <a:t> </a:t>
            </a:r>
            <a:r>
              <a:rPr lang="en-US" sz="1600" b="0" i="0" dirty="0">
                <a:solidFill>
                  <a:srgbClr val="000000"/>
                </a:solidFill>
                <a:latin typeface="Times New Roman"/>
                <a:ea typeface="Segoe UI"/>
                <a:cs typeface="Times New Roman"/>
              </a:rPr>
              <a:t>​</a:t>
            </a:r>
            <a:r>
              <a:rPr lang="en-US" sz="1600" b="0" i="0" u="none" strike="noStrike" baseline="0" dirty="0">
                <a:solidFill>
                  <a:srgbClr val="000000"/>
                </a:solidFill>
                <a:latin typeface="Times New Roman"/>
                <a:ea typeface="Segoe UI"/>
                <a:cs typeface="Times New Roman"/>
              </a:rPr>
              <a:t>Beyond</a:t>
            </a:r>
            <a:r>
              <a:rPr lang="en-US" sz="1600" dirty="0">
                <a:solidFill>
                  <a:srgbClr val="000000"/>
                </a:solidFill>
                <a:latin typeface="Times New Roman"/>
                <a:ea typeface="Segoe UI"/>
                <a:cs typeface="Times New Roman"/>
              </a:rPr>
              <a:t> </a:t>
            </a:r>
            <a:r>
              <a:rPr lang="en-US" sz="1600" b="0" i="0" u="none" strike="noStrike" baseline="0" dirty="0">
                <a:solidFill>
                  <a:srgbClr val="000000"/>
                </a:solidFill>
                <a:latin typeface="Times New Roman"/>
                <a:ea typeface="Segoe UI"/>
                <a:cs typeface="Times New Roman"/>
              </a:rPr>
              <a:t>this</a:t>
            </a:r>
            <a:r>
              <a:rPr lang="en-US" sz="1600" dirty="0">
                <a:solidFill>
                  <a:srgbClr val="000000"/>
                </a:solidFill>
                <a:latin typeface="Times New Roman"/>
                <a:ea typeface="Segoe UI"/>
                <a:cs typeface="Times New Roman"/>
              </a:rPr>
              <a:t> point </a:t>
            </a:r>
            <a:r>
              <a:rPr lang="en-US" sz="1600" b="1" i="0" u="none" strike="noStrike" baseline="0" dirty="0" err="1">
                <a:solidFill>
                  <a:srgbClr val="000000"/>
                </a:solidFill>
                <a:latin typeface="Times New Roman"/>
                <a:ea typeface="Segoe UI"/>
                <a:cs typeface="Times New Roman"/>
              </a:rPr>
              <a:t>ΔLatency≪ΔBandwidth</a:t>
            </a:r>
            <a:r>
              <a:rPr lang="en-US" sz="1600" b="0" i="0" u="none" strike="noStrike" baseline="0" dirty="0">
                <a:solidFill>
                  <a:srgbClr val="000000"/>
                </a:solidFill>
                <a:latin typeface="Times New Roman"/>
                <a:ea typeface="Segoe UI"/>
                <a:cs typeface="Times New Roman"/>
              </a:rPr>
              <a:t> meaning additional communication resources provide only </a:t>
            </a:r>
            <a:r>
              <a:rPr lang="en-US" sz="1600" dirty="0">
                <a:solidFill>
                  <a:srgbClr val="000000"/>
                </a:solidFill>
                <a:latin typeface="Times New Roman"/>
                <a:ea typeface="Segoe UI"/>
                <a:cs typeface="Times New Roman"/>
              </a:rPr>
              <a:t>small performance</a:t>
            </a:r>
            <a:r>
              <a:rPr lang="en-US" sz="1600" b="0" i="0" u="none" strike="noStrike" baseline="0" dirty="0">
                <a:solidFill>
                  <a:srgbClr val="000000"/>
                </a:solidFill>
                <a:latin typeface="Times New Roman"/>
                <a:ea typeface="Segoe UI"/>
                <a:cs typeface="Times New Roman"/>
              </a:rPr>
              <a:t> improvements.</a:t>
            </a:r>
          </a:p>
          <a:p>
            <a:pPr algn="ctr"/>
            <a:endParaRPr lang="en-US"/>
          </a:p>
        </p:txBody>
      </p:sp>
      <p:pic>
        <p:nvPicPr>
          <p:cNvPr id="11" name="Picture 10">
            <a:extLst>
              <a:ext uri="{FF2B5EF4-FFF2-40B4-BE49-F238E27FC236}">
                <a16:creationId xmlns:a16="http://schemas.microsoft.com/office/drawing/2014/main" id="{1CAB4E7D-1EB4-04A4-296D-A3B7531158B7}"/>
              </a:ext>
            </a:extLst>
          </p:cNvPr>
          <p:cNvPicPr>
            <a:picLocks noChangeAspect="1"/>
          </p:cNvPicPr>
          <p:nvPr/>
        </p:nvPicPr>
        <p:blipFill>
          <a:blip r:embed="rId3"/>
          <a:stretch>
            <a:fillRect/>
          </a:stretch>
        </p:blipFill>
        <p:spPr>
          <a:xfrm>
            <a:off x="4972539" y="544390"/>
            <a:ext cx="7024076" cy="3453910"/>
          </a:xfrm>
          <a:prstGeom prst="rect">
            <a:avLst/>
          </a:prstGeom>
        </p:spPr>
      </p:pic>
    </p:spTree>
    <p:extLst>
      <p:ext uri="{BB962C8B-B14F-4D97-AF65-F5344CB8AC3E}">
        <p14:creationId xmlns:p14="http://schemas.microsoft.com/office/powerpoint/2010/main" val="158972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DEBD6-720D-1B88-C70C-A4774E635CF0}"/>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A4209FBE-E746-828D-33E8-08B6622D8524}"/>
              </a:ext>
            </a:extLst>
          </p:cNvPr>
          <p:cNvSpPr>
            <a:spLocks noGrp="1"/>
          </p:cNvSpPr>
          <p:nvPr/>
        </p:nvSpPr>
        <p:spPr>
          <a:xfrm>
            <a:off x="4413738" y="111125"/>
            <a:ext cx="4937371" cy="4267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Times New Roman"/>
                <a:cs typeface="Times New Roman"/>
              </a:rPr>
              <a:t>Why BW = 4 × 10⁵?</a:t>
            </a:r>
          </a:p>
        </p:txBody>
      </p:sp>
      <p:sp>
        <p:nvSpPr>
          <p:cNvPr id="7" name="TextBox 6">
            <a:extLst>
              <a:ext uri="{FF2B5EF4-FFF2-40B4-BE49-F238E27FC236}">
                <a16:creationId xmlns:a16="http://schemas.microsoft.com/office/drawing/2014/main" id="{A093F59F-5FB2-B96B-89D2-5CB73A567AD2}"/>
              </a:ext>
            </a:extLst>
          </p:cNvPr>
          <p:cNvSpPr txBox="1"/>
          <p:nvPr/>
        </p:nvSpPr>
        <p:spPr>
          <a:xfrm>
            <a:off x="0" y="6144847"/>
            <a:ext cx="11996615"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i="1">
                <a:latin typeface="Times New Roman"/>
                <a:ea typeface="+mn-lt"/>
                <a:cs typeface="Times New Roman"/>
              </a:rPr>
              <a:t>BW=4×10^</a:t>
            </a:r>
            <a:r>
              <a:rPr lang="en-US" sz="1600" i="1" dirty="0">
                <a:latin typeface="Times New Roman"/>
                <a:ea typeface="+mn-lt"/>
                <a:cs typeface="Times New Roman"/>
              </a:rPr>
              <a:t>5</a:t>
            </a:r>
            <a:r>
              <a:rPr lang="en-US" sz="1600" i="1">
                <a:latin typeface="Times New Roman"/>
                <a:ea typeface="+mn-lt"/>
                <a:cs typeface="Times New Roman"/>
              </a:rPr>
              <a:t> was selected because it lies at the onset of the diminishing-returns region, where communication latency is already negligible while avoiding unnecessary communication resources.</a:t>
            </a:r>
            <a:endParaRPr lang="en-US" i="1">
              <a:latin typeface="Times New Roman"/>
              <a:ea typeface="+mn-lt"/>
              <a:cs typeface="Times New Roman"/>
            </a:endParaRPr>
          </a:p>
        </p:txBody>
      </p:sp>
      <p:sp>
        <p:nvSpPr>
          <p:cNvPr id="8" name="TextBox 7">
            <a:extLst>
              <a:ext uri="{FF2B5EF4-FFF2-40B4-BE49-F238E27FC236}">
                <a16:creationId xmlns:a16="http://schemas.microsoft.com/office/drawing/2014/main" id="{4578C975-5367-AB26-FEC5-3FE83F78900B}"/>
              </a:ext>
            </a:extLst>
          </p:cNvPr>
          <p:cNvSpPr txBox="1"/>
          <p:nvPr/>
        </p:nvSpPr>
        <p:spPr>
          <a:xfrm>
            <a:off x="8059619" y="4670508"/>
            <a:ext cx="3792903" cy="10926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700" b="0" i="0" u="none" strike="noStrike" baseline="0" dirty="0">
                <a:solidFill>
                  <a:srgbClr val="000000"/>
                </a:solidFill>
                <a:latin typeface="Aptos"/>
                <a:ea typeface="Segoe UI"/>
                <a:cs typeface="Segoe UI"/>
              </a:rPr>
              <a:t> </a:t>
            </a:r>
            <a:r>
              <a:rPr lang="en-US" sz="1600" dirty="0">
                <a:latin typeface="Times New Roman"/>
                <a:ea typeface="+mn-lt"/>
                <a:cs typeface="Times New Roman"/>
              </a:rPr>
              <a:t>Increasing</a:t>
            </a:r>
            <a:r>
              <a:rPr lang="en-US" sz="1600" dirty="0">
                <a:solidFill>
                  <a:srgbClr val="000000"/>
                </a:solidFill>
                <a:latin typeface="Times New Roman"/>
                <a:ea typeface="+mn-lt"/>
                <a:cs typeface="Times New Roman"/>
              </a:rPr>
              <a:t> bandwidth dramatically reduces effective </a:t>
            </a:r>
            <a:r>
              <a:rPr lang="en-US" sz="1600">
                <a:solidFill>
                  <a:srgbClr val="000000"/>
                </a:solidFill>
                <a:latin typeface="Times New Roman"/>
                <a:ea typeface="+mn-lt"/>
                <a:cs typeface="Times New Roman"/>
              </a:rPr>
              <a:t>entanglement latency </a:t>
            </a:r>
            <a:endParaRPr lang="en-US" sz="1600" b="1">
              <a:solidFill>
                <a:srgbClr val="000000"/>
              </a:solidFill>
              <a:latin typeface="Times New Roman"/>
              <a:ea typeface="+mn-lt"/>
              <a:cs typeface="Times New Roman"/>
            </a:endParaRPr>
          </a:p>
          <a:p>
            <a:pPr algn="ctr"/>
            <a:r>
              <a:rPr lang="en-US" sz="1600" b="1">
                <a:solidFill>
                  <a:srgbClr val="000000"/>
                </a:solidFill>
                <a:latin typeface="Times New Roman"/>
                <a:ea typeface="+mn-lt"/>
                <a:cs typeface="Times New Roman"/>
              </a:rPr>
              <a:t>τeff∝1/BW</a:t>
            </a:r>
            <a:r>
              <a:rPr lang="en-US" sz="1600" b="1" dirty="0">
                <a:solidFill>
                  <a:srgbClr val="000000"/>
                </a:solidFill>
                <a:latin typeface="Times New Roman"/>
                <a:ea typeface="+mn-lt"/>
                <a:cs typeface="Times New Roman"/>
              </a:rPr>
              <a:t> </a:t>
            </a:r>
            <a:endParaRPr lang="en-US" sz="1600" b="1">
              <a:latin typeface="Times New Roman"/>
              <a:cs typeface="Times New Roman"/>
            </a:endParaRPr>
          </a:p>
          <a:p>
            <a:pPr algn="ctr"/>
            <a:r>
              <a:rPr lang="en-US" sz="1600">
                <a:solidFill>
                  <a:srgbClr val="000000"/>
                </a:solidFill>
                <a:latin typeface="Times New Roman"/>
                <a:ea typeface="+mn-lt"/>
                <a:cs typeface="Times New Roman"/>
              </a:rPr>
              <a:t>However, the </a:t>
            </a:r>
            <a:r>
              <a:rPr lang="en-US" sz="1600" b="0" i="0" u="none" strike="noStrike" baseline="0">
                <a:solidFill>
                  <a:srgbClr val="000000"/>
                </a:solidFill>
                <a:latin typeface="Times New Roman"/>
                <a:ea typeface="+mn-lt"/>
                <a:cs typeface="Times New Roman"/>
              </a:rPr>
              <a:t>improvement </a:t>
            </a:r>
            <a:r>
              <a:rPr lang="en-US" sz="1600">
                <a:solidFill>
                  <a:srgbClr val="000000"/>
                </a:solidFill>
                <a:latin typeface="Times New Roman"/>
                <a:ea typeface="+mn-lt"/>
                <a:cs typeface="Times New Roman"/>
              </a:rPr>
              <a:t>is not uniform</a:t>
            </a:r>
            <a:r>
              <a:rPr lang="en-US" sz="1600" b="0" i="0" u="none" strike="noStrike" baseline="0">
                <a:solidFill>
                  <a:srgbClr val="000000"/>
                </a:solidFill>
                <a:latin typeface="Times New Roman"/>
                <a:ea typeface="+mn-lt"/>
                <a:cs typeface="Times New Roman"/>
              </a:rPr>
              <a:t>.</a:t>
            </a:r>
            <a:endParaRPr lang="en-US" sz="1700">
              <a:latin typeface="Aptos" panose="020B0004020202020204"/>
              <a:ea typeface="+mn-lt"/>
              <a:cs typeface="Times New Roman"/>
            </a:endParaRPr>
          </a:p>
        </p:txBody>
      </p:sp>
      <p:graphicFrame>
        <p:nvGraphicFramePr>
          <p:cNvPr id="3" name="Table 2">
            <a:extLst>
              <a:ext uri="{FF2B5EF4-FFF2-40B4-BE49-F238E27FC236}">
                <a16:creationId xmlns:a16="http://schemas.microsoft.com/office/drawing/2014/main" id="{012F3C17-DB96-A9A7-E24C-BD0FB6ACC908}"/>
              </a:ext>
            </a:extLst>
          </p:cNvPr>
          <p:cNvGraphicFramePr>
            <a:graphicFrameLocks noGrp="1"/>
          </p:cNvGraphicFramePr>
          <p:nvPr>
            <p:extLst>
              <p:ext uri="{D42A27DB-BD31-4B8C-83A1-F6EECF244321}">
                <p14:modId xmlns:p14="http://schemas.microsoft.com/office/powerpoint/2010/main" val="4275284340"/>
              </p:ext>
            </p:extLst>
          </p:nvPr>
        </p:nvGraphicFramePr>
        <p:xfrm>
          <a:off x="148167" y="541867"/>
          <a:ext cx="2508084" cy="3844086"/>
        </p:xfrm>
        <a:graphic>
          <a:graphicData uri="http://schemas.openxmlformats.org/drawingml/2006/table">
            <a:tbl>
              <a:tblPr bandRow="1">
                <a:tableStyleId>{073A0DAA-6AF3-43AB-8588-CEC1D06C72B9}</a:tableStyleId>
              </a:tblPr>
              <a:tblGrid>
                <a:gridCol w="1254042">
                  <a:extLst>
                    <a:ext uri="{9D8B030D-6E8A-4147-A177-3AD203B41FA5}">
                      <a16:colId xmlns:a16="http://schemas.microsoft.com/office/drawing/2014/main" val="4021803742"/>
                    </a:ext>
                  </a:extLst>
                </a:gridCol>
                <a:gridCol w="1254042">
                  <a:extLst>
                    <a:ext uri="{9D8B030D-6E8A-4147-A177-3AD203B41FA5}">
                      <a16:colId xmlns:a16="http://schemas.microsoft.com/office/drawing/2014/main" val="3339176804"/>
                    </a:ext>
                  </a:extLst>
                </a:gridCol>
              </a:tblGrid>
              <a:tr h="616398">
                <a:tc>
                  <a:txBody>
                    <a:bodyPr/>
                    <a:lstStyle/>
                    <a:p>
                      <a:pPr>
                        <a:buNone/>
                      </a:pPr>
                      <a:r>
                        <a:rPr lang="en-US" sz="1600" b="1">
                          <a:latin typeface="Times New Roman"/>
                          <a:cs typeface="Times New Roman"/>
                        </a:rPr>
                        <a:t>Bandwidth</a:t>
                      </a:r>
                    </a:p>
                  </a:txBody>
                  <a:tcPr anchor="ctr"/>
                </a:tc>
                <a:tc>
                  <a:txBody>
                    <a:bodyPr/>
                    <a:lstStyle/>
                    <a:p>
                      <a:pPr lvl="0">
                        <a:buNone/>
                      </a:pPr>
                      <a:r>
                        <a:rPr lang="en-US" sz="1600" b="1" i="0" u="none" strike="noStrike" noProof="0" dirty="0" err="1">
                          <a:solidFill>
                            <a:srgbClr val="000000"/>
                          </a:solidFill>
                          <a:latin typeface="Times New Roman"/>
                          <a:cs typeface="Times New Roman"/>
                        </a:rPr>
                        <a:t>τeff</a:t>
                      </a:r>
                      <a:endParaRPr lang="en-US" dirty="0" err="1"/>
                    </a:p>
                  </a:txBody>
                  <a:tcPr anchor="ctr"/>
                </a:tc>
                <a:extLst>
                  <a:ext uri="{0D108BD9-81ED-4DB2-BD59-A6C34878D82A}">
                    <a16:rowId xmlns:a16="http://schemas.microsoft.com/office/drawing/2014/main" val="3099438187"/>
                  </a:ext>
                </a:extLst>
              </a:tr>
              <a:tr h="358632">
                <a:tc>
                  <a:txBody>
                    <a:bodyPr/>
                    <a:lstStyle/>
                    <a:p>
                      <a:pPr>
                        <a:buNone/>
                      </a:pPr>
                      <a:r>
                        <a:rPr lang="en-US" sz="1600">
                          <a:latin typeface="Times New Roman"/>
                          <a:cs typeface="Times New Roman"/>
                        </a:rPr>
                        <a:t>500</a:t>
                      </a:r>
                    </a:p>
                  </a:txBody>
                  <a:tcPr anchor="ctr"/>
                </a:tc>
                <a:tc>
                  <a:txBody>
                    <a:bodyPr/>
                    <a:lstStyle/>
                    <a:p>
                      <a:pPr>
                        <a:buNone/>
                      </a:pPr>
                      <a:r>
                        <a:rPr lang="en-US" sz="1600">
                          <a:latin typeface="Times New Roman"/>
                          <a:cs typeface="Times New Roman"/>
                        </a:rPr>
                        <a:t>20</a:t>
                      </a:r>
                    </a:p>
                  </a:txBody>
                  <a:tcPr anchor="ctr"/>
                </a:tc>
                <a:extLst>
                  <a:ext uri="{0D108BD9-81ED-4DB2-BD59-A6C34878D82A}">
                    <a16:rowId xmlns:a16="http://schemas.microsoft.com/office/drawing/2014/main" val="1736126165"/>
                  </a:ext>
                </a:extLst>
              </a:tr>
              <a:tr h="358632">
                <a:tc>
                  <a:txBody>
                    <a:bodyPr/>
                    <a:lstStyle/>
                    <a:p>
                      <a:pPr>
                        <a:buNone/>
                      </a:pPr>
                      <a:r>
                        <a:rPr lang="en-US" sz="1600">
                          <a:latin typeface="Times New Roman"/>
                          <a:cs typeface="Times New Roman"/>
                        </a:rPr>
                        <a:t>1000</a:t>
                      </a:r>
                    </a:p>
                  </a:txBody>
                  <a:tcPr anchor="ctr"/>
                </a:tc>
                <a:tc>
                  <a:txBody>
                    <a:bodyPr/>
                    <a:lstStyle/>
                    <a:p>
                      <a:pPr>
                        <a:buNone/>
                      </a:pPr>
                      <a:r>
                        <a:rPr lang="en-US" sz="1600">
                          <a:latin typeface="Times New Roman"/>
                          <a:cs typeface="Times New Roman"/>
                        </a:rPr>
                        <a:t>10</a:t>
                      </a:r>
                    </a:p>
                  </a:txBody>
                  <a:tcPr anchor="ctr"/>
                </a:tc>
                <a:extLst>
                  <a:ext uri="{0D108BD9-81ED-4DB2-BD59-A6C34878D82A}">
                    <a16:rowId xmlns:a16="http://schemas.microsoft.com/office/drawing/2014/main" val="3094598335"/>
                  </a:ext>
                </a:extLst>
              </a:tr>
              <a:tr h="358632">
                <a:tc>
                  <a:txBody>
                    <a:bodyPr/>
                    <a:lstStyle/>
                    <a:p>
                      <a:pPr>
                        <a:buNone/>
                      </a:pPr>
                      <a:r>
                        <a:rPr lang="en-US" sz="1600">
                          <a:latin typeface="Times New Roman"/>
                          <a:cs typeface="Times New Roman"/>
                        </a:rPr>
                        <a:t>5000</a:t>
                      </a:r>
                    </a:p>
                  </a:txBody>
                  <a:tcPr anchor="ctr"/>
                </a:tc>
                <a:tc>
                  <a:txBody>
                    <a:bodyPr/>
                    <a:lstStyle/>
                    <a:p>
                      <a:pPr>
                        <a:buNone/>
                      </a:pPr>
                      <a:r>
                        <a:rPr lang="en-US" sz="1600">
                          <a:latin typeface="Times New Roman"/>
                          <a:cs typeface="Times New Roman"/>
                        </a:rPr>
                        <a:t>2</a:t>
                      </a:r>
                    </a:p>
                  </a:txBody>
                  <a:tcPr anchor="ctr"/>
                </a:tc>
                <a:extLst>
                  <a:ext uri="{0D108BD9-81ED-4DB2-BD59-A6C34878D82A}">
                    <a16:rowId xmlns:a16="http://schemas.microsoft.com/office/drawing/2014/main" val="4144401417"/>
                  </a:ext>
                </a:extLst>
              </a:tr>
              <a:tr h="358632">
                <a:tc>
                  <a:txBody>
                    <a:bodyPr/>
                    <a:lstStyle/>
                    <a:p>
                      <a:pPr>
                        <a:buNone/>
                      </a:pPr>
                      <a:r>
                        <a:rPr lang="en-US" sz="1600">
                          <a:latin typeface="Times New Roman"/>
                          <a:cs typeface="Times New Roman"/>
                        </a:rPr>
                        <a:t>10000</a:t>
                      </a:r>
                    </a:p>
                  </a:txBody>
                  <a:tcPr anchor="ctr"/>
                </a:tc>
                <a:tc>
                  <a:txBody>
                    <a:bodyPr/>
                    <a:lstStyle/>
                    <a:p>
                      <a:pPr>
                        <a:buNone/>
                      </a:pPr>
                      <a:r>
                        <a:rPr lang="en-US" sz="1600">
                          <a:latin typeface="Times New Roman"/>
                          <a:cs typeface="Times New Roman"/>
                        </a:rPr>
                        <a:t>1</a:t>
                      </a:r>
                    </a:p>
                  </a:txBody>
                  <a:tcPr anchor="ctr"/>
                </a:tc>
                <a:extLst>
                  <a:ext uri="{0D108BD9-81ED-4DB2-BD59-A6C34878D82A}">
                    <a16:rowId xmlns:a16="http://schemas.microsoft.com/office/drawing/2014/main" val="491158626"/>
                  </a:ext>
                </a:extLst>
              </a:tr>
              <a:tr h="358632">
                <a:tc>
                  <a:txBody>
                    <a:bodyPr/>
                    <a:lstStyle/>
                    <a:p>
                      <a:pPr>
                        <a:buNone/>
                      </a:pPr>
                      <a:r>
                        <a:rPr lang="en-US" sz="1600">
                          <a:latin typeface="Times New Roman"/>
                          <a:cs typeface="Times New Roman"/>
                        </a:rPr>
                        <a:t>50000</a:t>
                      </a:r>
                    </a:p>
                  </a:txBody>
                  <a:tcPr anchor="ctr"/>
                </a:tc>
                <a:tc>
                  <a:txBody>
                    <a:bodyPr/>
                    <a:lstStyle/>
                    <a:p>
                      <a:pPr>
                        <a:buNone/>
                      </a:pPr>
                      <a:r>
                        <a:rPr lang="en-US" sz="1600">
                          <a:latin typeface="Times New Roman"/>
                          <a:cs typeface="Times New Roman"/>
                        </a:rPr>
                        <a:t>0.2</a:t>
                      </a:r>
                    </a:p>
                  </a:txBody>
                  <a:tcPr anchor="ctr"/>
                </a:tc>
                <a:extLst>
                  <a:ext uri="{0D108BD9-81ED-4DB2-BD59-A6C34878D82A}">
                    <a16:rowId xmlns:a16="http://schemas.microsoft.com/office/drawing/2014/main" val="3082898518"/>
                  </a:ext>
                </a:extLst>
              </a:tr>
              <a:tr h="358632">
                <a:tc>
                  <a:txBody>
                    <a:bodyPr/>
                    <a:lstStyle/>
                    <a:p>
                      <a:pPr>
                        <a:buNone/>
                      </a:pPr>
                      <a:r>
                        <a:rPr lang="en-US" sz="1600">
                          <a:latin typeface="Times New Roman"/>
                          <a:cs typeface="Times New Roman"/>
                        </a:rPr>
                        <a:t>100000</a:t>
                      </a:r>
                    </a:p>
                  </a:txBody>
                  <a:tcPr anchor="ctr"/>
                </a:tc>
                <a:tc>
                  <a:txBody>
                    <a:bodyPr/>
                    <a:lstStyle/>
                    <a:p>
                      <a:pPr>
                        <a:buNone/>
                      </a:pPr>
                      <a:r>
                        <a:rPr lang="en-US" sz="1600">
                          <a:latin typeface="Times New Roman"/>
                          <a:cs typeface="Times New Roman"/>
                        </a:rPr>
                        <a:t>0.1</a:t>
                      </a:r>
                    </a:p>
                  </a:txBody>
                  <a:tcPr anchor="ctr"/>
                </a:tc>
                <a:extLst>
                  <a:ext uri="{0D108BD9-81ED-4DB2-BD59-A6C34878D82A}">
                    <a16:rowId xmlns:a16="http://schemas.microsoft.com/office/drawing/2014/main" val="305604966"/>
                  </a:ext>
                </a:extLst>
              </a:tr>
              <a:tr h="358632">
                <a:tc>
                  <a:txBody>
                    <a:bodyPr/>
                    <a:lstStyle/>
                    <a:p>
                      <a:pPr>
                        <a:buNone/>
                      </a:pPr>
                      <a:r>
                        <a:rPr lang="en-US" sz="1600">
                          <a:latin typeface="Times New Roman"/>
                          <a:cs typeface="Times New Roman"/>
                        </a:rPr>
                        <a:t>200000</a:t>
                      </a:r>
                    </a:p>
                  </a:txBody>
                  <a:tcPr anchor="ctr"/>
                </a:tc>
                <a:tc>
                  <a:txBody>
                    <a:bodyPr/>
                    <a:lstStyle/>
                    <a:p>
                      <a:pPr>
                        <a:buNone/>
                      </a:pPr>
                      <a:r>
                        <a:rPr lang="en-US" sz="1600">
                          <a:latin typeface="Times New Roman"/>
                          <a:cs typeface="Times New Roman"/>
                        </a:rPr>
                        <a:t>0.05</a:t>
                      </a:r>
                    </a:p>
                  </a:txBody>
                  <a:tcPr anchor="ctr"/>
                </a:tc>
                <a:extLst>
                  <a:ext uri="{0D108BD9-81ED-4DB2-BD59-A6C34878D82A}">
                    <a16:rowId xmlns:a16="http://schemas.microsoft.com/office/drawing/2014/main" val="2989066087"/>
                  </a:ext>
                </a:extLst>
              </a:tr>
              <a:tr h="358632">
                <a:tc>
                  <a:txBody>
                    <a:bodyPr/>
                    <a:lstStyle/>
                    <a:p>
                      <a:pPr>
                        <a:buNone/>
                      </a:pPr>
                      <a:r>
                        <a:rPr lang="en-US" sz="1600">
                          <a:latin typeface="Times New Roman"/>
                          <a:cs typeface="Times New Roman"/>
                        </a:rPr>
                        <a:t>400000</a:t>
                      </a:r>
                    </a:p>
                  </a:txBody>
                  <a:tcPr anchor="ctr"/>
                </a:tc>
                <a:tc>
                  <a:txBody>
                    <a:bodyPr/>
                    <a:lstStyle/>
                    <a:p>
                      <a:pPr>
                        <a:buNone/>
                      </a:pPr>
                      <a:r>
                        <a:rPr lang="en-US" sz="1600">
                          <a:latin typeface="Times New Roman"/>
                          <a:cs typeface="Times New Roman"/>
                        </a:rPr>
                        <a:t>0.025</a:t>
                      </a:r>
                    </a:p>
                  </a:txBody>
                  <a:tcPr anchor="ctr"/>
                </a:tc>
                <a:extLst>
                  <a:ext uri="{0D108BD9-81ED-4DB2-BD59-A6C34878D82A}">
                    <a16:rowId xmlns:a16="http://schemas.microsoft.com/office/drawing/2014/main" val="1439106322"/>
                  </a:ext>
                </a:extLst>
              </a:tr>
              <a:tr h="358632">
                <a:tc>
                  <a:txBody>
                    <a:bodyPr/>
                    <a:lstStyle/>
                    <a:p>
                      <a:pPr>
                        <a:buNone/>
                      </a:pPr>
                      <a:r>
                        <a:rPr lang="en-US" sz="1600">
                          <a:latin typeface="Times New Roman"/>
                          <a:cs typeface="Times New Roman"/>
                        </a:rPr>
                        <a:t>1000000</a:t>
                      </a:r>
                    </a:p>
                  </a:txBody>
                  <a:tcPr anchor="ctr"/>
                </a:tc>
                <a:tc>
                  <a:txBody>
                    <a:bodyPr/>
                    <a:lstStyle/>
                    <a:p>
                      <a:pPr>
                        <a:buNone/>
                      </a:pPr>
                      <a:r>
                        <a:rPr lang="en-US" sz="1600">
                          <a:latin typeface="Times New Roman"/>
                          <a:cs typeface="Times New Roman"/>
                        </a:rPr>
                        <a:t>0.01</a:t>
                      </a:r>
                    </a:p>
                  </a:txBody>
                  <a:tcPr anchor="ctr"/>
                </a:tc>
                <a:extLst>
                  <a:ext uri="{0D108BD9-81ED-4DB2-BD59-A6C34878D82A}">
                    <a16:rowId xmlns:a16="http://schemas.microsoft.com/office/drawing/2014/main" val="3539854931"/>
                  </a:ext>
                </a:extLst>
              </a:tr>
            </a:tbl>
          </a:graphicData>
        </a:graphic>
      </p:graphicFrame>
      <p:sp>
        <p:nvSpPr>
          <p:cNvPr id="9" name="TextBox 8">
            <a:extLst>
              <a:ext uri="{FF2B5EF4-FFF2-40B4-BE49-F238E27FC236}">
                <a16:creationId xmlns:a16="http://schemas.microsoft.com/office/drawing/2014/main" id="{9B39BFCE-FA39-5E4D-ABE0-748654C05302}"/>
              </a:ext>
            </a:extLst>
          </p:cNvPr>
          <p:cNvSpPr txBox="1"/>
          <p:nvPr/>
        </p:nvSpPr>
        <p:spPr>
          <a:xfrm>
            <a:off x="9302750" y="635000"/>
            <a:ext cx="2698751"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600" b="1" i="0" u="none" strike="noStrike" baseline="0">
                <a:solidFill>
                  <a:srgbClr val="000000"/>
                </a:solidFill>
                <a:latin typeface="Times New Roman"/>
                <a:ea typeface="Segoe UI"/>
                <a:cs typeface="Times New Roman"/>
              </a:rPr>
              <a:t>Early Region</a:t>
            </a:r>
            <a:r>
              <a:rPr lang="en-US" sz="1600" b="1" i="0">
                <a:solidFill>
                  <a:srgbClr val="000000"/>
                </a:solidFill>
                <a:latin typeface="Times New Roman"/>
                <a:ea typeface="Segoe UI"/>
                <a:cs typeface="Times New Roman"/>
              </a:rPr>
              <a:t>​</a:t>
            </a:r>
          </a:p>
          <a:p>
            <a:pPr algn="ctr"/>
            <a:r>
              <a:rPr lang="en-US" sz="1600" b="0" i="0" u="none" strike="noStrike" baseline="0" dirty="0">
                <a:solidFill>
                  <a:srgbClr val="000000"/>
                </a:solidFill>
                <a:latin typeface="Times New Roman"/>
                <a:ea typeface="Segoe UI"/>
                <a:cs typeface="Times New Roman"/>
              </a:rPr>
              <a:t>500→5000 </a:t>
            </a:r>
            <a:r>
              <a:rPr lang="en-US" sz="1600" b="0" i="0" dirty="0">
                <a:solidFill>
                  <a:srgbClr val="000000"/>
                </a:solidFill>
                <a:latin typeface="Times New Roman"/>
                <a:ea typeface="Segoe UI"/>
                <a:cs typeface="Times New Roman"/>
              </a:rPr>
              <a:t>​</a:t>
            </a:r>
            <a:r>
              <a:rPr lang="en-US" sz="1600" dirty="0">
                <a:solidFill>
                  <a:srgbClr val="000000"/>
                </a:solidFill>
                <a:latin typeface="Times New Roman"/>
                <a:ea typeface="Segoe UI"/>
                <a:cs typeface="Times New Roman"/>
              </a:rPr>
              <a:t>; </a:t>
            </a:r>
            <a:r>
              <a:rPr lang="en-US" sz="1600" b="0" i="0" u="none" strike="noStrike" baseline="0" dirty="0">
                <a:solidFill>
                  <a:srgbClr val="000000"/>
                </a:solidFill>
                <a:latin typeface="Times New Roman"/>
                <a:ea typeface="Segoe UI"/>
                <a:cs typeface="Times New Roman"/>
              </a:rPr>
              <a:t>Latency:</a:t>
            </a:r>
            <a:r>
              <a:rPr lang="en-US" sz="1600" b="0" i="0" dirty="0">
                <a:solidFill>
                  <a:srgbClr val="000000"/>
                </a:solidFill>
                <a:latin typeface="Times New Roman"/>
                <a:ea typeface="Segoe UI"/>
                <a:cs typeface="Times New Roman"/>
              </a:rPr>
              <a:t>​</a:t>
            </a:r>
            <a:r>
              <a:rPr lang="en-US" sz="1600" dirty="0">
                <a:solidFill>
                  <a:srgbClr val="000000"/>
                </a:solidFill>
                <a:latin typeface="Times New Roman"/>
                <a:ea typeface="Segoe UI"/>
                <a:cs typeface="Times New Roman"/>
              </a:rPr>
              <a:t> </a:t>
            </a:r>
            <a:r>
              <a:rPr lang="en-US" sz="1600">
                <a:solidFill>
                  <a:srgbClr val="000000"/>
                </a:solidFill>
                <a:latin typeface="Times New Roman"/>
                <a:ea typeface="Segoe UI"/>
                <a:cs typeface="Times New Roman"/>
              </a:rPr>
              <a:t>20</a:t>
            </a:r>
            <a:r>
              <a:rPr lang="en-US" sz="1600" b="0" i="0" u="none" strike="noStrike" baseline="0">
                <a:solidFill>
                  <a:srgbClr val="000000"/>
                </a:solidFill>
                <a:latin typeface="Times New Roman"/>
                <a:ea typeface="Segoe UI"/>
                <a:cs typeface="Times New Roman"/>
              </a:rPr>
              <a:t>→2 </a:t>
            </a:r>
            <a:r>
              <a:rPr lang="en-US" sz="1600" b="0" i="0">
                <a:solidFill>
                  <a:srgbClr val="000000"/>
                </a:solidFill>
                <a:latin typeface="Times New Roman"/>
                <a:ea typeface="Segoe UI"/>
                <a:cs typeface="Times New Roman"/>
              </a:rPr>
              <a:t>​</a:t>
            </a:r>
          </a:p>
          <a:p>
            <a:pPr algn="ctr" rtl="0"/>
            <a:r>
              <a:rPr lang="en-US" sz="1600" b="0" i="0" u="none" strike="noStrike" baseline="0">
                <a:solidFill>
                  <a:srgbClr val="000000"/>
                </a:solidFill>
                <a:latin typeface="Times New Roman"/>
                <a:ea typeface="Segoe UI"/>
                <a:cs typeface="Times New Roman"/>
              </a:rPr>
              <a:t>10× bandwidth increase</a:t>
            </a:r>
            <a:r>
              <a:rPr lang="en-US" sz="1600" b="0" i="0">
                <a:solidFill>
                  <a:srgbClr val="000000"/>
                </a:solidFill>
                <a:latin typeface="Times New Roman"/>
                <a:ea typeface="Segoe UI"/>
                <a:cs typeface="Times New Roman"/>
              </a:rPr>
              <a:t>​</a:t>
            </a:r>
          </a:p>
          <a:p>
            <a:pPr algn="ctr" rtl="0"/>
            <a:r>
              <a:rPr lang="en-US" sz="1600" b="0" i="0" u="none" strike="noStrike" baseline="0">
                <a:solidFill>
                  <a:srgbClr val="000000"/>
                </a:solidFill>
                <a:latin typeface="Times New Roman"/>
                <a:ea typeface="Segoe UI"/>
                <a:cs typeface="Times New Roman"/>
              </a:rPr>
              <a:t>90% latency reduction</a:t>
            </a:r>
            <a:r>
              <a:rPr lang="en-US" sz="1600" b="0" i="0">
                <a:solidFill>
                  <a:srgbClr val="000000"/>
                </a:solidFill>
                <a:latin typeface="Times New Roman"/>
                <a:ea typeface="Segoe UI"/>
                <a:cs typeface="Times New Roman"/>
              </a:rPr>
              <a:t>​</a:t>
            </a:r>
          </a:p>
          <a:p>
            <a:pPr algn="ctr"/>
            <a:r>
              <a:rPr lang="en-US" sz="1600" b="0" i="0" u="none" strike="noStrike" baseline="0">
                <a:solidFill>
                  <a:srgbClr val="000000"/>
                </a:solidFill>
                <a:latin typeface="Times New Roman"/>
                <a:ea typeface="Segoe UI"/>
                <a:cs typeface="Times New Roman"/>
              </a:rPr>
              <a:t>Large performance gain.</a:t>
            </a:r>
          </a:p>
        </p:txBody>
      </p:sp>
      <p:sp>
        <p:nvSpPr>
          <p:cNvPr id="12" name="TextBox 11">
            <a:extLst>
              <a:ext uri="{FF2B5EF4-FFF2-40B4-BE49-F238E27FC236}">
                <a16:creationId xmlns:a16="http://schemas.microsoft.com/office/drawing/2014/main" id="{711A59B9-3800-4B9D-C107-3FFE6FF211F2}"/>
              </a:ext>
            </a:extLst>
          </p:cNvPr>
          <p:cNvSpPr txBox="1"/>
          <p:nvPr/>
        </p:nvSpPr>
        <p:spPr>
          <a:xfrm>
            <a:off x="6551083" y="1957916"/>
            <a:ext cx="2804584"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600" b="1" i="0" u="none" strike="noStrike" baseline="0">
                <a:solidFill>
                  <a:srgbClr val="000000"/>
                </a:solidFill>
                <a:latin typeface="Times New Roman"/>
                <a:ea typeface="Segoe UI"/>
                <a:cs typeface="Times New Roman"/>
              </a:rPr>
              <a:t>High-Bandwidth Region</a:t>
            </a:r>
            <a:r>
              <a:rPr lang="en-US" sz="1600" b="1" i="0">
                <a:solidFill>
                  <a:srgbClr val="000000"/>
                </a:solidFill>
                <a:latin typeface="Times New Roman"/>
                <a:ea typeface="Segoe UI"/>
                <a:cs typeface="Times New Roman"/>
              </a:rPr>
              <a:t>​</a:t>
            </a:r>
            <a:endParaRPr lang="en-US" sz="1600" b="1" i="0" dirty="0">
              <a:solidFill>
                <a:srgbClr val="000000"/>
              </a:solidFill>
              <a:latin typeface="Times New Roman"/>
              <a:ea typeface="Segoe UI"/>
              <a:cs typeface="Times New Roman"/>
            </a:endParaRPr>
          </a:p>
          <a:p>
            <a:pPr algn="ctr"/>
            <a:r>
              <a:rPr lang="en-US" sz="1600" b="0" i="0" u="none" strike="noStrike" baseline="0">
                <a:solidFill>
                  <a:srgbClr val="000000"/>
                </a:solidFill>
                <a:latin typeface="Times New Roman"/>
                <a:ea typeface="Segoe UI"/>
                <a:cs typeface="Times New Roman"/>
              </a:rPr>
              <a:t>400000→</a:t>
            </a:r>
            <a:r>
              <a:rPr lang="en-US" sz="1600">
                <a:solidFill>
                  <a:srgbClr val="000000"/>
                </a:solidFill>
                <a:latin typeface="Times New Roman"/>
                <a:ea typeface="Segoe UI"/>
                <a:cs typeface="Times New Roman"/>
              </a:rPr>
              <a:t>1000000 ; Latency</a:t>
            </a:r>
            <a:r>
              <a:rPr lang="en-US" sz="1600" b="0" i="0" u="none" strike="noStrike" baseline="0">
                <a:solidFill>
                  <a:srgbClr val="000000"/>
                </a:solidFill>
                <a:latin typeface="Times New Roman"/>
                <a:ea typeface="Segoe UI"/>
                <a:cs typeface="Times New Roman"/>
              </a:rPr>
              <a:t>:</a:t>
            </a:r>
            <a:r>
              <a:rPr lang="en-US" sz="1600">
                <a:solidFill>
                  <a:srgbClr val="000000"/>
                </a:solidFill>
                <a:latin typeface="Times New Roman"/>
                <a:ea typeface="Segoe UI"/>
                <a:cs typeface="Times New Roman"/>
              </a:rPr>
              <a:t> </a:t>
            </a:r>
            <a:r>
              <a:rPr lang="en-US" sz="1600" b="0" i="0" u="none" strike="noStrike" baseline="0">
                <a:solidFill>
                  <a:srgbClr val="000000"/>
                </a:solidFill>
                <a:latin typeface="Times New Roman"/>
                <a:ea typeface="Segoe UI"/>
                <a:cs typeface="Times New Roman"/>
              </a:rPr>
              <a:t>0.025→</a:t>
            </a:r>
            <a:r>
              <a:rPr lang="en-US" sz="1600">
                <a:solidFill>
                  <a:srgbClr val="000000"/>
                </a:solidFill>
                <a:latin typeface="Times New Roman"/>
                <a:ea typeface="Segoe UI"/>
                <a:cs typeface="Times New Roman"/>
              </a:rPr>
              <a:t>0.01</a:t>
            </a:r>
            <a:endParaRPr lang="en-US" sz="1600" dirty="0">
              <a:solidFill>
                <a:srgbClr val="000000"/>
              </a:solidFill>
              <a:latin typeface="Times New Roman"/>
              <a:ea typeface="Segoe UI"/>
              <a:cs typeface="Times New Roman"/>
            </a:endParaRPr>
          </a:p>
          <a:p>
            <a:pPr algn="ctr"/>
            <a:r>
              <a:rPr lang="en-US" sz="1600">
                <a:solidFill>
                  <a:srgbClr val="000000"/>
                </a:solidFill>
                <a:latin typeface="Times New Roman"/>
                <a:ea typeface="Segoe UI"/>
                <a:cs typeface="Times New Roman"/>
              </a:rPr>
              <a:t>2.5</a:t>
            </a:r>
            <a:r>
              <a:rPr lang="en-US" sz="1600" b="0" i="0" u="none" strike="noStrike" baseline="0">
                <a:solidFill>
                  <a:srgbClr val="000000"/>
                </a:solidFill>
                <a:latin typeface="Times New Roman"/>
                <a:ea typeface="Segoe UI"/>
                <a:cs typeface="Times New Roman"/>
              </a:rPr>
              <a:t>× bandwidth increase</a:t>
            </a:r>
            <a:r>
              <a:rPr lang="en-US" sz="1600" b="0" i="0">
                <a:solidFill>
                  <a:srgbClr val="000000"/>
                </a:solidFill>
                <a:latin typeface="Times New Roman"/>
                <a:ea typeface="Segoe UI"/>
                <a:cs typeface="Times New Roman"/>
              </a:rPr>
              <a:t>​</a:t>
            </a:r>
            <a:endParaRPr lang="en-US" sz="1600">
              <a:latin typeface="Times New Roman"/>
              <a:cs typeface="Times New Roman"/>
            </a:endParaRPr>
          </a:p>
          <a:p>
            <a:pPr algn="ctr"/>
            <a:r>
              <a:rPr lang="en-US" sz="1600" b="0" i="0" u="none" strike="noStrike" baseline="0" dirty="0">
                <a:solidFill>
                  <a:srgbClr val="000000"/>
                </a:solidFill>
                <a:latin typeface="Times New Roman"/>
                <a:ea typeface="Segoe UI"/>
                <a:cs typeface="Times New Roman"/>
              </a:rPr>
              <a:t>Only 0.015 reduction </a:t>
            </a:r>
            <a:r>
              <a:rPr lang="en-US" sz="1600">
                <a:solidFill>
                  <a:srgbClr val="000000"/>
                </a:solidFill>
                <a:latin typeface="Times New Roman"/>
                <a:ea typeface="Segoe UI"/>
                <a:cs typeface="Times New Roman"/>
              </a:rPr>
              <a:t>in latency</a:t>
            </a:r>
            <a:r>
              <a:rPr lang="en-US" sz="1600" b="0" i="0" dirty="0">
                <a:solidFill>
                  <a:srgbClr val="000000"/>
                </a:solidFill>
                <a:latin typeface="Times New Roman"/>
                <a:ea typeface="Segoe UI"/>
                <a:cs typeface="Times New Roman"/>
              </a:rPr>
              <a:t>​</a:t>
            </a:r>
          </a:p>
          <a:p>
            <a:pPr algn="ctr" rtl="0"/>
            <a:r>
              <a:rPr lang="en-US" sz="1600" b="0" i="0" u="none" strike="noStrike" baseline="0">
                <a:solidFill>
                  <a:srgbClr val="000000"/>
                </a:solidFill>
                <a:latin typeface="Times New Roman"/>
                <a:ea typeface="Segoe UI"/>
                <a:cs typeface="Times New Roman"/>
              </a:rPr>
              <a:t>Marginal improvement.</a:t>
            </a:r>
            <a:r>
              <a:rPr lang="en-US" sz="1600" b="0" i="0">
                <a:solidFill>
                  <a:srgbClr val="000000"/>
                </a:solidFill>
                <a:latin typeface="Times New Roman"/>
                <a:ea typeface="Segoe UI"/>
                <a:cs typeface="Times New Roman"/>
              </a:rPr>
              <a:t>​</a:t>
            </a:r>
          </a:p>
        </p:txBody>
      </p:sp>
      <p:sp>
        <p:nvSpPr>
          <p:cNvPr id="14" name="TextBox 13">
            <a:extLst>
              <a:ext uri="{FF2B5EF4-FFF2-40B4-BE49-F238E27FC236}">
                <a16:creationId xmlns:a16="http://schemas.microsoft.com/office/drawing/2014/main" id="{CFA890EE-BC85-965A-E4B5-2C94729A267E}"/>
              </a:ext>
            </a:extLst>
          </p:cNvPr>
          <p:cNvSpPr txBox="1"/>
          <p:nvPr/>
        </p:nvSpPr>
        <p:spPr>
          <a:xfrm>
            <a:off x="2656417" y="2741083"/>
            <a:ext cx="3894666" cy="25651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600" b="1" i="0" u="none" strike="noStrike" baseline="0">
                <a:solidFill>
                  <a:srgbClr val="000000"/>
                </a:solidFill>
                <a:latin typeface="Times New Roman"/>
                <a:ea typeface="Segoe UI"/>
                <a:cs typeface="Times New Roman"/>
              </a:rPr>
              <a:t>Diminishing Returns Region</a:t>
            </a:r>
            <a:r>
              <a:rPr lang="en-US" sz="1600" b="1" i="0">
                <a:solidFill>
                  <a:srgbClr val="000000"/>
                </a:solidFill>
                <a:latin typeface="Times New Roman"/>
                <a:ea typeface="Segoe UI"/>
                <a:cs typeface="Times New Roman"/>
              </a:rPr>
              <a:t>​</a:t>
            </a:r>
            <a:endParaRPr lang="en-US" sz="1600" b="1" i="0" dirty="0">
              <a:solidFill>
                <a:srgbClr val="000000"/>
              </a:solidFill>
              <a:latin typeface="Times New Roman"/>
              <a:ea typeface="Segoe UI"/>
              <a:cs typeface="Times New Roman"/>
            </a:endParaRPr>
          </a:p>
          <a:p>
            <a:pPr algn="ctr"/>
            <a:r>
              <a:rPr lang="en-US" sz="1600" b="0" i="0" u="none" strike="noStrike" baseline="0">
                <a:solidFill>
                  <a:srgbClr val="000000"/>
                </a:solidFill>
                <a:latin typeface="Times New Roman"/>
                <a:ea typeface="Segoe UI"/>
                <a:cs typeface="Times New Roman"/>
              </a:rPr>
              <a:t>At approximately</a:t>
            </a:r>
            <a:r>
              <a:rPr lang="en-US" sz="1600" b="0" i="0">
                <a:solidFill>
                  <a:srgbClr val="000000"/>
                </a:solidFill>
                <a:latin typeface="Times New Roman"/>
                <a:ea typeface="Segoe UI"/>
                <a:cs typeface="Times New Roman"/>
              </a:rPr>
              <a:t>​</a:t>
            </a:r>
            <a:r>
              <a:rPr lang="en-US" sz="1600">
                <a:solidFill>
                  <a:srgbClr val="000000"/>
                </a:solidFill>
                <a:latin typeface="Times New Roman"/>
                <a:ea typeface="Segoe UI"/>
                <a:cs typeface="Times New Roman"/>
              </a:rPr>
              <a:t> </a:t>
            </a:r>
            <a:r>
              <a:rPr lang="en-US" sz="1600" b="0" i="0" u="none" strike="noStrike" baseline="0">
                <a:solidFill>
                  <a:srgbClr val="000000"/>
                </a:solidFill>
                <a:latin typeface="Times New Roman"/>
                <a:ea typeface="Segoe UI"/>
                <a:cs typeface="Times New Roman"/>
              </a:rPr>
              <a:t>BW=</a:t>
            </a:r>
            <a:r>
              <a:rPr lang="en-US" sz="1600">
                <a:solidFill>
                  <a:srgbClr val="000000"/>
                </a:solidFill>
                <a:latin typeface="Times New Roman"/>
                <a:ea typeface="Segoe UI"/>
                <a:cs typeface="Times New Roman"/>
              </a:rPr>
              <a:t>4×10^5</a:t>
            </a:r>
            <a:r>
              <a:rPr lang="en-US" sz="1600" b="0" i="0" u="none" strike="noStrike" baseline="0">
                <a:solidFill>
                  <a:srgbClr val="000000"/>
                </a:solidFill>
                <a:latin typeface="Times New Roman"/>
                <a:ea typeface="Segoe UI"/>
                <a:cs typeface="Times New Roman"/>
              </a:rPr>
              <a:t> </a:t>
            </a:r>
            <a:r>
              <a:rPr lang="en-US" sz="1600" b="0" i="0">
                <a:solidFill>
                  <a:srgbClr val="000000"/>
                </a:solidFill>
                <a:latin typeface="Times New Roman"/>
                <a:ea typeface="Segoe UI"/>
                <a:cs typeface="Times New Roman"/>
              </a:rPr>
              <a:t>​</a:t>
            </a:r>
            <a:endParaRPr lang="en-US" sz="1600" b="0" i="0" dirty="0">
              <a:solidFill>
                <a:srgbClr val="000000"/>
              </a:solidFill>
              <a:latin typeface="Times New Roman"/>
              <a:ea typeface="Segoe UI"/>
              <a:cs typeface="Times New Roman"/>
            </a:endParaRPr>
          </a:p>
          <a:p>
            <a:pPr algn="ctr" rtl="0"/>
            <a:r>
              <a:rPr lang="en-US" sz="1600" b="0" i="0" u="none" strike="noStrike" baseline="0" dirty="0">
                <a:solidFill>
                  <a:srgbClr val="000000"/>
                </a:solidFill>
                <a:latin typeface="Times New Roman"/>
                <a:ea typeface="Segoe UI"/>
                <a:cs typeface="Times New Roman"/>
              </a:rPr>
              <a:t>the communication bottleneck has already been largely removed.</a:t>
            </a:r>
            <a:r>
              <a:rPr lang="en-US" sz="1600" b="0" i="0" dirty="0">
                <a:solidFill>
                  <a:srgbClr val="000000"/>
                </a:solidFill>
                <a:latin typeface="Times New Roman"/>
                <a:ea typeface="Segoe UI"/>
                <a:cs typeface="Times New Roman"/>
              </a:rPr>
              <a:t>​</a:t>
            </a:r>
          </a:p>
          <a:p>
            <a:pPr algn="ctr" rtl="0"/>
            <a:r>
              <a:rPr lang="en-US" sz="1600" b="0" i="0" u="none" strike="noStrike" baseline="0">
                <a:solidFill>
                  <a:srgbClr val="000000"/>
                </a:solidFill>
                <a:latin typeface="Times New Roman"/>
                <a:ea typeface="Segoe UI"/>
                <a:cs typeface="Times New Roman"/>
              </a:rPr>
              <a:t>Beyond this point:</a:t>
            </a:r>
            <a:r>
              <a:rPr lang="en-US" sz="1600" b="0" i="0">
                <a:solidFill>
                  <a:srgbClr val="000000"/>
                </a:solidFill>
                <a:latin typeface="Times New Roman"/>
                <a:ea typeface="Segoe UI"/>
                <a:cs typeface="Times New Roman"/>
              </a:rPr>
              <a:t>​</a:t>
            </a:r>
            <a:endParaRPr lang="en-US" sz="1600" b="0" i="0" dirty="0">
              <a:solidFill>
                <a:srgbClr val="000000"/>
              </a:solidFill>
              <a:latin typeface="Times New Roman"/>
              <a:ea typeface="Segoe UI"/>
              <a:cs typeface="Times New Roman"/>
            </a:endParaRPr>
          </a:p>
          <a:p>
            <a:pPr marL="285750" lvl="0" indent="-285750" algn="ctr" rtl="0">
              <a:buFont typeface="Arial,Sans-Serif"/>
              <a:buChar char="•"/>
            </a:pPr>
            <a:r>
              <a:rPr lang="en-US" sz="1600" b="0" i="0" u="none" strike="noStrike" baseline="0" dirty="0">
                <a:solidFill>
                  <a:srgbClr val="000000"/>
                </a:solidFill>
                <a:latin typeface="Times New Roman"/>
                <a:ea typeface="Arial"/>
                <a:cs typeface="Times New Roman"/>
              </a:rPr>
              <a:t>Routing delay is already very small </a:t>
            </a:r>
            <a:r>
              <a:rPr lang="en-US" sz="1600" b="0" i="0" dirty="0">
                <a:solidFill>
                  <a:srgbClr val="000000"/>
                </a:solidFill>
                <a:latin typeface="Times New Roman"/>
                <a:ea typeface="Arial"/>
                <a:cs typeface="Times New Roman"/>
              </a:rPr>
              <a:t>​</a:t>
            </a:r>
          </a:p>
          <a:p>
            <a:pPr marL="285750" lvl="0" indent="-285750" algn="ctr" rtl="0">
              <a:buFont typeface="Arial,Sans-Serif"/>
              <a:buChar char="•"/>
            </a:pPr>
            <a:r>
              <a:rPr lang="en-US" sz="1600" b="0" i="0" u="none" strike="noStrike" baseline="0">
                <a:solidFill>
                  <a:srgbClr val="000000"/>
                </a:solidFill>
                <a:latin typeface="Times New Roman"/>
                <a:ea typeface="Arial"/>
                <a:cs typeface="Times New Roman"/>
              </a:rPr>
              <a:t>Communication no longer dominates execution </a:t>
            </a:r>
            <a:r>
              <a:rPr lang="en-US" sz="1600" b="0" i="0">
                <a:solidFill>
                  <a:srgbClr val="000000"/>
                </a:solidFill>
                <a:latin typeface="Times New Roman"/>
                <a:ea typeface="Arial"/>
                <a:cs typeface="Times New Roman"/>
              </a:rPr>
              <a:t>​</a:t>
            </a:r>
            <a:endParaRPr lang="en-US" sz="1600" b="0" i="0" dirty="0">
              <a:solidFill>
                <a:srgbClr val="000000"/>
              </a:solidFill>
              <a:latin typeface="Times New Roman"/>
              <a:ea typeface="Arial"/>
              <a:cs typeface="Times New Roman"/>
            </a:endParaRPr>
          </a:p>
          <a:p>
            <a:pPr marL="285750" lvl="0" indent="-285750" algn="ctr" rtl="0">
              <a:buFont typeface="Arial,Sans-Serif"/>
              <a:buChar char="•"/>
            </a:pPr>
            <a:r>
              <a:rPr lang="en-US" sz="1600" b="0" i="0" u="none" strike="noStrike" baseline="0">
                <a:solidFill>
                  <a:srgbClr val="000000"/>
                </a:solidFill>
                <a:latin typeface="Times New Roman"/>
                <a:ea typeface="Arial"/>
                <a:cs typeface="Times New Roman"/>
              </a:rPr>
              <a:t>Local gates and measurements become the bottleneck </a:t>
            </a:r>
            <a:r>
              <a:rPr lang="en-US" sz="1600" b="0" i="0">
                <a:solidFill>
                  <a:srgbClr val="000000"/>
                </a:solidFill>
                <a:latin typeface="Times New Roman"/>
                <a:ea typeface="Arial"/>
                <a:cs typeface="Times New Roman"/>
              </a:rPr>
              <a:t>​</a:t>
            </a:r>
          </a:p>
        </p:txBody>
      </p:sp>
    </p:spTree>
    <p:extLst>
      <p:ext uri="{BB962C8B-B14F-4D97-AF65-F5344CB8AC3E}">
        <p14:creationId xmlns:p14="http://schemas.microsoft.com/office/powerpoint/2010/main" val="4092011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83F15-E08D-49FF-05F2-C71A0D89C4BA}"/>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783E3FA-0414-DF51-8C29-79A78B553FA3}"/>
              </a:ext>
            </a:extLst>
          </p:cNvPr>
          <p:cNvSpPr>
            <a:spLocks noGrp="1"/>
          </p:cNvSpPr>
          <p:nvPr/>
        </p:nvSpPr>
        <p:spPr>
          <a:xfrm>
            <a:off x="362765" y="81817"/>
            <a:ext cx="11550323" cy="4267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a:ea typeface="+mj-lt"/>
                <a:cs typeface="Times New Roman"/>
              </a:rPr>
              <a:t>Impact of YOUTIAO on </a:t>
            </a:r>
            <a:r>
              <a:rPr lang="en-US" sz="3600" dirty="0" err="1">
                <a:latin typeface="Times New Roman"/>
                <a:ea typeface="+mj-lt"/>
                <a:cs typeface="Times New Roman"/>
              </a:rPr>
              <a:t>IonQ</a:t>
            </a:r>
            <a:r>
              <a:rPr lang="en-US" sz="3600" dirty="0">
                <a:latin typeface="Times New Roman"/>
                <a:ea typeface="+mj-lt"/>
                <a:cs typeface="Times New Roman"/>
              </a:rPr>
              <a:t> Distributed Quantum Systems</a:t>
            </a:r>
            <a:endParaRPr lang="en-US" dirty="0">
              <a:latin typeface="Times New Roman"/>
              <a:cs typeface="Times New Roman"/>
            </a:endParaRPr>
          </a:p>
        </p:txBody>
      </p:sp>
      <p:sp>
        <p:nvSpPr>
          <p:cNvPr id="2" name="TextBox 1">
            <a:extLst>
              <a:ext uri="{FF2B5EF4-FFF2-40B4-BE49-F238E27FC236}">
                <a16:creationId xmlns:a16="http://schemas.microsoft.com/office/drawing/2014/main" id="{EF006ADF-1FA2-DF35-CF0A-0588585A0331}"/>
              </a:ext>
            </a:extLst>
          </p:cNvPr>
          <p:cNvSpPr txBox="1"/>
          <p:nvPr/>
        </p:nvSpPr>
        <p:spPr>
          <a:xfrm>
            <a:off x="192943" y="833640"/>
            <a:ext cx="3888155" cy="20928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Logical Error</a:t>
            </a:r>
            <a:endParaRPr lang="en-US" sz="1600">
              <a:latin typeface="Times New Roman"/>
              <a:cs typeface="Times New Roman"/>
            </a:endParaRPr>
          </a:p>
          <a:p>
            <a:pPr marL="285750" indent="-285750">
              <a:buFont typeface="Arial"/>
              <a:buChar char="•"/>
            </a:pPr>
            <a:r>
              <a:rPr lang="en-US" sz="1600" dirty="0">
                <a:solidFill>
                  <a:srgbClr val="000000"/>
                </a:solidFill>
                <a:latin typeface="Times New Roman"/>
                <a:ea typeface="+mn-lt"/>
                <a:cs typeface="Times New Roman"/>
              </a:rPr>
              <a:t>Distributed + YOUTIAO (Fast) consistently exhibits lower logical error than Distributed + YOUTIAO (Slow). </a:t>
            </a:r>
            <a:endParaRPr lang="en-US" sz="1600">
              <a:latin typeface="Times New Roman"/>
              <a:cs typeface="Times New Roman"/>
            </a:endParaRPr>
          </a:p>
          <a:p>
            <a:pPr marL="285750" indent="-285750">
              <a:buFont typeface="Arial"/>
              <a:buChar char="•"/>
            </a:pPr>
            <a:r>
              <a:rPr lang="en-US" sz="1600" dirty="0">
                <a:solidFill>
                  <a:srgbClr val="000000"/>
                </a:solidFill>
                <a:latin typeface="Times New Roman"/>
                <a:ea typeface="+mn-lt"/>
                <a:cs typeface="Times New Roman"/>
              </a:rPr>
              <a:t>The error growth with increasing logical qubit count </a:t>
            </a:r>
            <a:r>
              <a:rPr lang="en-US" sz="1600">
                <a:solidFill>
                  <a:srgbClr val="000000"/>
                </a:solidFill>
                <a:latin typeface="Times New Roman"/>
                <a:ea typeface="+mn-lt"/>
                <a:cs typeface="Times New Roman"/>
              </a:rPr>
              <a:t>n</a:t>
            </a:r>
            <a:r>
              <a:rPr lang="en-US" sz="1600" dirty="0">
                <a:solidFill>
                  <a:srgbClr val="000000"/>
                </a:solidFill>
                <a:latin typeface="Times New Roman"/>
                <a:ea typeface="+mn-lt"/>
                <a:cs typeface="Times New Roman"/>
              </a:rPr>
              <a:t> is significantly suppressed. </a:t>
            </a:r>
            <a:endParaRPr lang="en-US" sz="1600">
              <a:latin typeface="Times New Roman"/>
              <a:cs typeface="Times New Roman"/>
            </a:endParaRPr>
          </a:p>
          <a:p>
            <a:pPr marL="285750" indent="-285750">
              <a:buFont typeface="Arial"/>
              <a:buChar char="•"/>
            </a:pPr>
            <a:r>
              <a:rPr lang="en-US" sz="1600" dirty="0">
                <a:solidFill>
                  <a:srgbClr val="000000"/>
                </a:solidFill>
                <a:latin typeface="Times New Roman"/>
                <a:ea typeface="+mn-lt"/>
                <a:cs typeface="Times New Roman"/>
              </a:rPr>
              <a:t>Error sensitivity to entanglement latency </a:t>
            </a:r>
            <a:r>
              <a:rPr lang="en-US" sz="1600" dirty="0" err="1">
                <a:solidFill>
                  <a:srgbClr val="000000"/>
                </a:solidFill>
                <a:latin typeface="Times New Roman"/>
                <a:ea typeface="+mn-lt"/>
                <a:cs typeface="Times New Roman"/>
              </a:rPr>
              <a:t>τe</a:t>
            </a:r>
            <a:r>
              <a:rPr lang="en-US" sz="1600" dirty="0">
                <a:solidFill>
                  <a:srgbClr val="000000"/>
                </a:solidFill>
                <a:latin typeface="Times New Roman"/>
                <a:ea typeface="+mn-lt"/>
                <a:cs typeface="Times New Roman"/>
              </a:rPr>
              <a:t>  is reduced. </a:t>
            </a:r>
            <a:endParaRPr lang="en-US" dirty="0">
              <a:latin typeface="Times New Roman"/>
              <a:cs typeface="Times New Roman"/>
            </a:endParaRPr>
          </a:p>
        </p:txBody>
      </p:sp>
      <p:sp>
        <p:nvSpPr>
          <p:cNvPr id="15" name="TextBox 14">
            <a:extLst>
              <a:ext uri="{FF2B5EF4-FFF2-40B4-BE49-F238E27FC236}">
                <a16:creationId xmlns:a16="http://schemas.microsoft.com/office/drawing/2014/main" id="{90634ABE-4EC5-81CC-EC73-3B71E26FFFE4}"/>
              </a:ext>
            </a:extLst>
          </p:cNvPr>
          <p:cNvSpPr txBox="1"/>
          <p:nvPr/>
        </p:nvSpPr>
        <p:spPr>
          <a:xfrm>
            <a:off x="0" y="6275917"/>
            <a:ext cx="121919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a:solidFill>
                  <a:srgbClr val="000000"/>
                </a:solidFill>
                <a:latin typeface="Times New Roman"/>
                <a:ea typeface="+mn-lt"/>
                <a:cs typeface="Times New Roman"/>
              </a:rPr>
              <a:t>YOUTIAO does not directly reduce computational complexity; instead, it improves communication efficiency and control scalability, which indirectly lowers circuit depth and logical error in distributed quantum systems</a:t>
            </a:r>
            <a:r>
              <a:rPr lang="en-US" sz="1600" i="1" u="none" strike="noStrike" baseline="0">
                <a:solidFill>
                  <a:srgbClr val="000000"/>
                </a:solidFill>
                <a:latin typeface="Times New Roman"/>
                <a:ea typeface="+mn-lt"/>
                <a:cs typeface="Times New Roman"/>
              </a:rPr>
              <a:t>.</a:t>
            </a:r>
            <a:endParaRPr lang="en-US" i="1">
              <a:latin typeface="Times New Roman"/>
              <a:ea typeface="+mn-lt"/>
              <a:cs typeface="Times New Roman"/>
            </a:endParaRPr>
          </a:p>
        </p:txBody>
      </p:sp>
      <p:sp>
        <p:nvSpPr>
          <p:cNvPr id="4" name="TextBox 3">
            <a:extLst>
              <a:ext uri="{FF2B5EF4-FFF2-40B4-BE49-F238E27FC236}">
                <a16:creationId xmlns:a16="http://schemas.microsoft.com/office/drawing/2014/main" id="{BA3EAC7E-6B7C-B9F4-30BE-FC37CD4E4373}"/>
              </a:ext>
            </a:extLst>
          </p:cNvPr>
          <p:cNvSpPr txBox="1"/>
          <p:nvPr/>
        </p:nvSpPr>
        <p:spPr>
          <a:xfrm>
            <a:off x="190500" y="3831167"/>
            <a:ext cx="3894667" cy="184665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600" b="1" i="0" u="none" strike="noStrike" baseline="0">
                <a:solidFill>
                  <a:srgbClr val="000000"/>
                </a:solidFill>
                <a:latin typeface="Times New Roman"/>
                <a:ea typeface="Segoe UI"/>
                <a:cs typeface="Times New Roman"/>
              </a:rPr>
              <a:t>Circuit Depth</a:t>
            </a:r>
            <a:r>
              <a:rPr lang="en-US" sz="1600" b="1" i="0">
                <a:solidFill>
                  <a:srgbClr val="000000"/>
                </a:solidFill>
                <a:latin typeface="Times New Roman"/>
                <a:ea typeface="Segoe UI"/>
                <a:cs typeface="Times New Roman"/>
              </a:rPr>
              <a:t>​</a:t>
            </a:r>
            <a:endParaRPr lang="en-US" sz="1600" b="1">
              <a:latin typeface="Times New Roman"/>
              <a:cs typeface="Times New Roman"/>
            </a:endParaRPr>
          </a:p>
          <a:p>
            <a:pPr marL="285750" indent="-285750">
              <a:buFont typeface="Arial,Sans-Serif"/>
              <a:buChar char="•"/>
            </a:pPr>
            <a:r>
              <a:rPr lang="en-US" sz="1600" b="0" i="0" u="none" strike="noStrike" baseline="0" dirty="0">
                <a:solidFill>
                  <a:srgbClr val="000000"/>
                </a:solidFill>
                <a:latin typeface="Times New Roman"/>
                <a:ea typeface="Arial"/>
                <a:cs typeface="Times New Roman"/>
              </a:rPr>
              <a:t>Fast communication reduces </a:t>
            </a:r>
            <a:r>
              <a:rPr lang="en-US" sz="1600">
                <a:solidFill>
                  <a:srgbClr val="000000"/>
                </a:solidFill>
                <a:latin typeface="Times New Roman"/>
                <a:ea typeface="Arial"/>
                <a:cs typeface="Times New Roman"/>
              </a:rPr>
              <a:t>circuit depth</a:t>
            </a:r>
            <a:r>
              <a:rPr lang="en-US" sz="1600" b="0" i="0" u="none" strike="noStrike" baseline="0" dirty="0">
                <a:solidFill>
                  <a:srgbClr val="000000"/>
                </a:solidFill>
                <a:latin typeface="Times New Roman"/>
                <a:ea typeface="Arial"/>
                <a:cs typeface="Times New Roman"/>
              </a:rPr>
              <a:t> across all problem sizes. </a:t>
            </a:r>
            <a:r>
              <a:rPr lang="en-US" sz="1600" b="0" i="0" dirty="0">
                <a:solidFill>
                  <a:srgbClr val="000000"/>
                </a:solidFill>
                <a:latin typeface="Times New Roman"/>
                <a:ea typeface="Arial"/>
                <a:cs typeface="Times New Roman"/>
              </a:rPr>
              <a:t>​</a:t>
            </a:r>
          </a:p>
          <a:p>
            <a:pPr marL="285750" indent="-285750">
              <a:buFont typeface="Arial,Sans-Serif"/>
              <a:buChar char="•"/>
            </a:pPr>
            <a:r>
              <a:rPr lang="en-US" sz="1600" b="0" i="0" u="none" strike="noStrike" baseline="0" dirty="0">
                <a:solidFill>
                  <a:srgbClr val="000000"/>
                </a:solidFill>
                <a:latin typeface="Times New Roman"/>
                <a:ea typeface="Arial"/>
                <a:cs typeface="Times New Roman"/>
              </a:rPr>
              <a:t>Depth growth remains controlled </a:t>
            </a:r>
            <a:r>
              <a:rPr lang="en-US" sz="1600" dirty="0">
                <a:solidFill>
                  <a:srgbClr val="000000"/>
                </a:solidFill>
                <a:latin typeface="Times New Roman"/>
                <a:ea typeface="Arial"/>
                <a:cs typeface="Times New Roman"/>
              </a:rPr>
              <a:t>even as</a:t>
            </a:r>
            <a:r>
              <a:rPr lang="en-US" sz="1600" b="0" i="0" u="none" strike="noStrike" baseline="0" dirty="0">
                <a:solidFill>
                  <a:srgbClr val="000000"/>
                </a:solidFill>
                <a:latin typeface="Times New Roman"/>
                <a:ea typeface="Arial"/>
                <a:cs typeface="Times New Roman"/>
              </a:rPr>
              <a:t> communication latency increases. </a:t>
            </a:r>
            <a:r>
              <a:rPr lang="en-US" sz="1600" b="0" i="0" dirty="0">
                <a:solidFill>
                  <a:srgbClr val="000000"/>
                </a:solidFill>
                <a:latin typeface="Times New Roman"/>
                <a:ea typeface="Arial"/>
                <a:cs typeface="Times New Roman"/>
              </a:rPr>
              <a:t>​</a:t>
            </a:r>
          </a:p>
          <a:p>
            <a:pPr marL="285750" indent="-285750">
              <a:buFont typeface="Arial,Sans-Serif"/>
              <a:buChar char="•"/>
            </a:pPr>
            <a:r>
              <a:rPr lang="en-US" sz="1600" b="0" i="0" u="none" strike="noStrike" baseline="0" dirty="0">
                <a:solidFill>
                  <a:srgbClr val="000000"/>
                </a:solidFill>
                <a:latin typeface="Times New Roman"/>
                <a:ea typeface="Arial"/>
                <a:cs typeface="Times New Roman"/>
              </a:rPr>
              <a:t>The gap between Fast and </a:t>
            </a:r>
            <a:r>
              <a:rPr lang="en-US" sz="1600">
                <a:solidFill>
                  <a:srgbClr val="000000"/>
                </a:solidFill>
                <a:latin typeface="Times New Roman"/>
                <a:ea typeface="Arial"/>
                <a:cs typeface="Times New Roman"/>
              </a:rPr>
              <a:t>Slow configurations</a:t>
            </a:r>
            <a:r>
              <a:rPr lang="en-US" sz="1600" b="0" i="0" u="none" strike="noStrike" baseline="0" dirty="0">
                <a:solidFill>
                  <a:srgbClr val="000000"/>
                </a:solidFill>
                <a:latin typeface="Times New Roman"/>
                <a:ea typeface="Arial"/>
                <a:cs typeface="Times New Roman"/>
              </a:rPr>
              <a:t> widens at larger scales.</a:t>
            </a:r>
            <a:r>
              <a:rPr lang="en-US" sz="1600" b="0" i="0" dirty="0">
                <a:solidFill>
                  <a:srgbClr val="000000"/>
                </a:solidFill>
                <a:latin typeface="Times New Roman"/>
                <a:ea typeface="Arial"/>
                <a:cs typeface="Times New Roman"/>
              </a:rPr>
              <a:t>​</a:t>
            </a:r>
            <a:endParaRPr lang="en-US" sz="1600" b="0" i="0" dirty="0">
              <a:solidFill>
                <a:srgbClr val="000000"/>
              </a:solidFill>
              <a:latin typeface="Times New Roman"/>
              <a:ea typeface="Segoe UI"/>
              <a:cs typeface="Times New Roman"/>
            </a:endParaRPr>
          </a:p>
        </p:txBody>
      </p:sp>
      <p:pic>
        <p:nvPicPr>
          <p:cNvPr id="5" name="Picture 4">
            <a:extLst>
              <a:ext uri="{FF2B5EF4-FFF2-40B4-BE49-F238E27FC236}">
                <a16:creationId xmlns:a16="http://schemas.microsoft.com/office/drawing/2014/main" id="{46816256-18CF-C96A-C187-6F0637A5EE21}"/>
              </a:ext>
            </a:extLst>
          </p:cNvPr>
          <p:cNvPicPr>
            <a:picLocks noChangeAspect="1"/>
          </p:cNvPicPr>
          <p:nvPr/>
        </p:nvPicPr>
        <p:blipFill>
          <a:blip r:embed="rId3"/>
          <a:stretch>
            <a:fillRect/>
          </a:stretch>
        </p:blipFill>
        <p:spPr>
          <a:xfrm>
            <a:off x="4000500" y="665691"/>
            <a:ext cx="8191500" cy="4203700"/>
          </a:xfrm>
          <a:prstGeom prst="rect">
            <a:avLst/>
          </a:prstGeom>
        </p:spPr>
      </p:pic>
    </p:spTree>
    <p:extLst>
      <p:ext uri="{BB962C8B-B14F-4D97-AF65-F5344CB8AC3E}">
        <p14:creationId xmlns:p14="http://schemas.microsoft.com/office/powerpoint/2010/main" val="3755475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AC28A-CFCC-7B85-698C-BCEB814288DC}"/>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4B056982-8938-8C64-6C62-9B0E6C0C2B9B}"/>
              </a:ext>
            </a:extLst>
          </p:cNvPr>
          <p:cNvSpPr>
            <a:spLocks noGrp="1"/>
          </p:cNvSpPr>
          <p:nvPr/>
        </p:nvSpPr>
        <p:spPr>
          <a:xfrm>
            <a:off x="2932" y="81817"/>
            <a:ext cx="12185322" cy="4267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Times New Roman"/>
                <a:ea typeface="+mj-lt"/>
                <a:cs typeface="Times New Roman"/>
              </a:rPr>
              <a:t>Impact of </a:t>
            </a:r>
            <a:r>
              <a:rPr lang="en-US" sz="3600" dirty="0" err="1">
                <a:latin typeface="Times New Roman"/>
                <a:ea typeface="+mj-lt"/>
                <a:cs typeface="Times New Roman"/>
              </a:rPr>
              <a:t>SwitchQNet</a:t>
            </a:r>
            <a:r>
              <a:rPr lang="en-US" sz="3600" dirty="0">
                <a:latin typeface="Times New Roman"/>
                <a:ea typeface="+mj-lt"/>
                <a:cs typeface="Times New Roman"/>
              </a:rPr>
              <a:t> on </a:t>
            </a:r>
            <a:r>
              <a:rPr lang="en-US" sz="3600" dirty="0" err="1">
                <a:latin typeface="Times New Roman"/>
                <a:ea typeface="+mj-lt"/>
                <a:cs typeface="Times New Roman"/>
              </a:rPr>
              <a:t>IonQ</a:t>
            </a:r>
            <a:r>
              <a:rPr lang="en-US" sz="3600" dirty="0">
                <a:latin typeface="Times New Roman"/>
                <a:ea typeface="+mj-lt"/>
                <a:cs typeface="Times New Roman"/>
              </a:rPr>
              <a:t> Distributed Quantum Systems</a:t>
            </a:r>
            <a:endParaRPr lang="en-US" dirty="0">
              <a:latin typeface="Times New Roman"/>
              <a:cs typeface="Times New Roman"/>
            </a:endParaRPr>
          </a:p>
        </p:txBody>
      </p:sp>
      <p:sp>
        <p:nvSpPr>
          <p:cNvPr id="2" name="TextBox 1">
            <a:extLst>
              <a:ext uri="{FF2B5EF4-FFF2-40B4-BE49-F238E27FC236}">
                <a16:creationId xmlns:a16="http://schemas.microsoft.com/office/drawing/2014/main" id="{F7C729CF-D9EC-B9BD-3A06-A19B29C3A12E}"/>
              </a:ext>
            </a:extLst>
          </p:cNvPr>
          <p:cNvSpPr txBox="1"/>
          <p:nvPr/>
        </p:nvSpPr>
        <p:spPr>
          <a:xfrm>
            <a:off x="192943" y="833640"/>
            <a:ext cx="388815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Logical Error</a:t>
            </a:r>
            <a:endParaRPr lang="en-US" sz="1600">
              <a:latin typeface="Times New Roman"/>
              <a:cs typeface="Times New Roman"/>
            </a:endParaRPr>
          </a:p>
          <a:p>
            <a:pPr>
              <a:buFont typeface="Arial"/>
              <a:buChar char="•"/>
            </a:pPr>
            <a:r>
              <a:rPr lang="en-US" sz="1600" dirty="0">
                <a:solidFill>
                  <a:srgbClr val="000000"/>
                </a:solidFill>
                <a:latin typeface="Times New Roman"/>
                <a:ea typeface="+mn-lt"/>
                <a:cs typeface="Times New Roman"/>
              </a:rPr>
              <a:t>Distributed </a:t>
            </a:r>
            <a:r>
              <a:rPr lang="en-US" sz="1600" dirty="0" err="1">
                <a:solidFill>
                  <a:srgbClr val="000000"/>
                </a:solidFill>
                <a:latin typeface="Times New Roman"/>
                <a:ea typeface="+mn-lt"/>
                <a:cs typeface="Times New Roman"/>
              </a:rPr>
              <a:t>IonQ</a:t>
            </a:r>
            <a:r>
              <a:rPr lang="en-US" sz="1600" dirty="0">
                <a:solidFill>
                  <a:srgbClr val="000000"/>
                </a:solidFill>
                <a:latin typeface="Times New Roman"/>
                <a:ea typeface="+mn-lt"/>
                <a:cs typeface="Times New Roman"/>
              </a:rPr>
              <a:t> + </a:t>
            </a:r>
            <a:r>
              <a:rPr lang="en-US" sz="1600" dirty="0" err="1">
                <a:solidFill>
                  <a:srgbClr val="000000"/>
                </a:solidFill>
                <a:latin typeface="Times New Roman"/>
                <a:ea typeface="+mn-lt"/>
                <a:cs typeface="Times New Roman"/>
              </a:rPr>
              <a:t>SwitchQNet</a:t>
            </a:r>
            <a:r>
              <a:rPr lang="en-US" sz="1600" dirty="0">
                <a:solidFill>
                  <a:srgbClr val="000000"/>
                </a:solidFill>
                <a:latin typeface="Times New Roman"/>
                <a:ea typeface="+mn-lt"/>
                <a:cs typeface="Times New Roman"/>
              </a:rPr>
              <a:t> (Fast) consistently exhibits lower logical error than Distributed </a:t>
            </a:r>
            <a:r>
              <a:rPr lang="en-US" sz="1600" dirty="0" err="1">
                <a:solidFill>
                  <a:srgbClr val="000000"/>
                </a:solidFill>
                <a:latin typeface="Times New Roman"/>
                <a:ea typeface="+mn-lt"/>
                <a:cs typeface="Times New Roman"/>
              </a:rPr>
              <a:t>IonQ</a:t>
            </a:r>
            <a:r>
              <a:rPr lang="en-US" sz="1600" dirty="0">
                <a:solidFill>
                  <a:srgbClr val="000000"/>
                </a:solidFill>
                <a:latin typeface="Times New Roman"/>
                <a:ea typeface="+mn-lt"/>
                <a:cs typeface="Times New Roman"/>
              </a:rPr>
              <a:t> + </a:t>
            </a:r>
            <a:r>
              <a:rPr lang="en-US" sz="1600" dirty="0" err="1">
                <a:solidFill>
                  <a:srgbClr val="000000"/>
                </a:solidFill>
                <a:latin typeface="Times New Roman"/>
                <a:ea typeface="+mn-lt"/>
                <a:cs typeface="Times New Roman"/>
              </a:rPr>
              <a:t>SwitchQNet</a:t>
            </a:r>
            <a:r>
              <a:rPr lang="en-US" sz="1600" dirty="0">
                <a:solidFill>
                  <a:srgbClr val="000000"/>
                </a:solidFill>
                <a:latin typeface="Times New Roman"/>
                <a:ea typeface="+mn-lt"/>
                <a:cs typeface="Times New Roman"/>
              </a:rPr>
              <a:t> (Slow). </a:t>
            </a:r>
            <a:endParaRPr lang="en-US" sz="1600">
              <a:latin typeface="Times New Roman"/>
              <a:ea typeface="+mn-lt"/>
              <a:cs typeface="Times New Roman"/>
            </a:endParaRPr>
          </a:p>
          <a:p>
            <a:pPr>
              <a:buFont typeface="Arial"/>
              <a:buChar char="•"/>
            </a:pPr>
            <a:r>
              <a:rPr lang="en-US" sz="1600">
                <a:solidFill>
                  <a:srgbClr val="000000"/>
                </a:solidFill>
                <a:latin typeface="Times New Roman"/>
                <a:ea typeface="+mn-lt"/>
                <a:cs typeface="Times New Roman"/>
              </a:rPr>
              <a:t>The performance gap widens as system size increases. </a:t>
            </a:r>
            <a:endParaRPr lang="en-US" sz="1600">
              <a:latin typeface="Times New Roman"/>
              <a:ea typeface="+mn-lt"/>
              <a:cs typeface="Times New Roman"/>
            </a:endParaRPr>
          </a:p>
          <a:p>
            <a:pPr>
              <a:buFont typeface="Arial"/>
              <a:buChar char="•"/>
            </a:pPr>
            <a:r>
              <a:rPr lang="en-US" sz="1600">
                <a:solidFill>
                  <a:srgbClr val="000000"/>
                </a:solidFill>
                <a:latin typeface="Times New Roman"/>
                <a:ea typeface="+mn-lt"/>
                <a:cs typeface="Times New Roman"/>
              </a:rPr>
              <a:t>Fast communication suppresses the accumulation of communication-induced errors.</a:t>
            </a:r>
            <a:endParaRPr lang="en-US" sz="1600">
              <a:latin typeface="Times New Roman"/>
              <a:ea typeface="+mn-lt"/>
              <a:cs typeface="Times New Roman"/>
            </a:endParaRPr>
          </a:p>
        </p:txBody>
      </p:sp>
      <p:sp>
        <p:nvSpPr>
          <p:cNvPr id="15" name="TextBox 14">
            <a:extLst>
              <a:ext uri="{FF2B5EF4-FFF2-40B4-BE49-F238E27FC236}">
                <a16:creationId xmlns:a16="http://schemas.microsoft.com/office/drawing/2014/main" id="{4F401559-B182-AB26-E508-DB4DE8398155}"/>
              </a:ext>
            </a:extLst>
          </p:cNvPr>
          <p:cNvSpPr txBox="1"/>
          <p:nvPr/>
        </p:nvSpPr>
        <p:spPr>
          <a:xfrm>
            <a:off x="-10583" y="6191250"/>
            <a:ext cx="121919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dirty="0">
                <a:solidFill>
                  <a:srgbClr val="000000"/>
                </a:solidFill>
                <a:latin typeface="Times New Roman"/>
                <a:ea typeface="+mn-lt"/>
                <a:cs typeface="Times New Roman"/>
              </a:rPr>
              <a:t>Distributed + </a:t>
            </a:r>
            <a:r>
              <a:rPr lang="en-US" sz="1600" i="1" dirty="0" err="1">
                <a:solidFill>
                  <a:srgbClr val="000000"/>
                </a:solidFill>
                <a:latin typeface="Times New Roman"/>
                <a:ea typeface="+mn-lt"/>
                <a:cs typeface="Times New Roman"/>
              </a:rPr>
              <a:t>SwitchQNet</a:t>
            </a:r>
            <a:r>
              <a:rPr lang="en-US" sz="1600" i="1" dirty="0">
                <a:solidFill>
                  <a:srgbClr val="000000"/>
                </a:solidFill>
                <a:latin typeface="Times New Roman"/>
                <a:ea typeface="+mn-lt"/>
                <a:cs typeface="Times New Roman"/>
              </a:rPr>
              <a:t> (Fast) achieves the best distributed-system performance because it combines fast photonic communication, adaptive routing, reduced congestion and lower synchronization overhead resulting in improved scalability, lower circuit depth, and reduced logical error.</a:t>
            </a:r>
            <a:endParaRPr lang="en-US" i="1" dirty="0">
              <a:latin typeface="Times New Roman"/>
              <a:ea typeface="+mn-lt"/>
              <a:cs typeface="Times New Roman"/>
            </a:endParaRPr>
          </a:p>
        </p:txBody>
      </p:sp>
      <p:sp>
        <p:nvSpPr>
          <p:cNvPr id="4" name="TextBox 3">
            <a:extLst>
              <a:ext uri="{FF2B5EF4-FFF2-40B4-BE49-F238E27FC236}">
                <a16:creationId xmlns:a16="http://schemas.microsoft.com/office/drawing/2014/main" id="{437ADBF7-9E7E-7BE4-A89E-47E0D7DCADE8}"/>
              </a:ext>
            </a:extLst>
          </p:cNvPr>
          <p:cNvSpPr txBox="1"/>
          <p:nvPr/>
        </p:nvSpPr>
        <p:spPr>
          <a:xfrm>
            <a:off x="190500" y="3831167"/>
            <a:ext cx="3894667"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rtl="0"/>
            <a:r>
              <a:rPr lang="en-US" sz="1600" b="1" i="0" u="none" strike="noStrike" baseline="0">
                <a:solidFill>
                  <a:srgbClr val="000000"/>
                </a:solidFill>
                <a:latin typeface="Times New Roman"/>
                <a:ea typeface="Segoe UI"/>
                <a:cs typeface="Times New Roman"/>
              </a:rPr>
              <a:t>Circuit Depth</a:t>
            </a:r>
            <a:r>
              <a:rPr lang="en-US" sz="1600" b="1" i="0">
                <a:solidFill>
                  <a:srgbClr val="000000"/>
                </a:solidFill>
                <a:latin typeface="Times New Roman"/>
                <a:ea typeface="Segoe UI"/>
                <a:cs typeface="Times New Roman"/>
              </a:rPr>
              <a:t>​</a:t>
            </a:r>
            <a:endParaRPr lang="en-US" sz="1600" b="1">
              <a:latin typeface="Times New Roman"/>
              <a:cs typeface="Times New Roman"/>
            </a:endParaRPr>
          </a:p>
          <a:p>
            <a:pPr>
              <a:buFont typeface="Arial"/>
              <a:buChar char="•"/>
            </a:pPr>
            <a:r>
              <a:rPr lang="en-US" sz="1600" dirty="0">
                <a:solidFill>
                  <a:srgbClr val="000000"/>
                </a:solidFill>
                <a:latin typeface="Times New Roman"/>
                <a:ea typeface="+mn-lt"/>
                <a:cs typeface="Times New Roman"/>
              </a:rPr>
              <a:t>Distributed </a:t>
            </a:r>
            <a:r>
              <a:rPr lang="en-US" sz="1600" dirty="0" err="1">
                <a:solidFill>
                  <a:srgbClr val="000000"/>
                </a:solidFill>
                <a:latin typeface="Times New Roman"/>
                <a:ea typeface="+mn-lt"/>
                <a:cs typeface="Times New Roman"/>
              </a:rPr>
              <a:t>IonQ</a:t>
            </a:r>
            <a:r>
              <a:rPr lang="en-US" sz="1600" dirty="0">
                <a:solidFill>
                  <a:srgbClr val="000000"/>
                </a:solidFill>
                <a:latin typeface="Times New Roman"/>
                <a:ea typeface="+mn-lt"/>
                <a:cs typeface="Times New Roman"/>
              </a:rPr>
              <a:t> + </a:t>
            </a:r>
            <a:r>
              <a:rPr lang="en-US" sz="1600" dirty="0" err="1">
                <a:solidFill>
                  <a:srgbClr val="000000"/>
                </a:solidFill>
                <a:latin typeface="Times New Roman"/>
                <a:ea typeface="+mn-lt"/>
                <a:cs typeface="Times New Roman"/>
              </a:rPr>
              <a:t>SwitchQNet</a:t>
            </a:r>
            <a:r>
              <a:rPr lang="en-US" sz="1600" dirty="0">
                <a:solidFill>
                  <a:srgbClr val="000000"/>
                </a:solidFill>
                <a:latin typeface="Times New Roman"/>
                <a:ea typeface="+mn-lt"/>
                <a:cs typeface="Times New Roman"/>
              </a:rPr>
              <a:t> (</a:t>
            </a:r>
            <a:r>
              <a:rPr lang="en-US" sz="1600" b="0" i="0" u="none" strike="noStrike" baseline="0" dirty="0">
                <a:solidFill>
                  <a:srgbClr val="000000"/>
                </a:solidFill>
                <a:latin typeface="Times New Roman"/>
                <a:ea typeface="+mn-lt"/>
                <a:cs typeface="Times New Roman"/>
              </a:rPr>
              <a:t>Fast</a:t>
            </a:r>
            <a:r>
              <a:rPr lang="en-US" sz="1600" dirty="0">
                <a:solidFill>
                  <a:srgbClr val="000000"/>
                </a:solidFill>
                <a:latin typeface="Times New Roman"/>
                <a:ea typeface="+mn-lt"/>
                <a:cs typeface="Times New Roman"/>
              </a:rPr>
              <a:t>) maintains substantially lower</a:t>
            </a:r>
            <a:r>
              <a:rPr lang="en-US" sz="1600" b="0" i="0" u="none" strike="noStrike" baseline="0" dirty="0">
                <a:solidFill>
                  <a:srgbClr val="000000"/>
                </a:solidFill>
                <a:latin typeface="Times New Roman"/>
                <a:ea typeface="+mn-lt"/>
                <a:cs typeface="Times New Roman"/>
              </a:rPr>
              <a:t> </a:t>
            </a:r>
            <a:r>
              <a:rPr lang="en-US" sz="1600" dirty="0">
                <a:solidFill>
                  <a:srgbClr val="000000"/>
                </a:solidFill>
                <a:latin typeface="Times New Roman"/>
                <a:ea typeface="+mn-lt"/>
                <a:cs typeface="Times New Roman"/>
              </a:rPr>
              <a:t>circuit depth</a:t>
            </a:r>
            <a:r>
              <a:rPr lang="en-US" sz="1600" b="0" i="0" u="none" strike="noStrike" baseline="0" dirty="0">
                <a:solidFill>
                  <a:srgbClr val="000000"/>
                </a:solidFill>
                <a:latin typeface="Times New Roman"/>
                <a:ea typeface="+mn-lt"/>
                <a:cs typeface="Times New Roman"/>
              </a:rPr>
              <a:t>.</a:t>
            </a:r>
            <a:r>
              <a:rPr lang="en-US" sz="1600" dirty="0">
                <a:solidFill>
                  <a:srgbClr val="000000"/>
                </a:solidFill>
                <a:latin typeface="Times New Roman"/>
                <a:ea typeface="+mn-lt"/>
                <a:cs typeface="Times New Roman"/>
              </a:rPr>
              <a:t> </a:t>
            </a:r>
            <a:endParaRPr lang="en-US" sz="1600" b="0" i="0" dirty="0">
              <a:solidFill>
                <a:srgbClr val="000000"/>
              </a:solidFill>
              <a:latin typeface="Times New Roman"/>
              <a:ea typeface="+mn-lt"/>
              <a:cs typeface="Times New Roman"/>
            </a:endParaRPr>
          </a:p>
          <a:p>
            <a:pPr>
              <a:buFont typeface="Arial"/>
              <a:buChar char="•"/>
            </a:pPr>
            <a:r>
              <a:rPr lang="en-US" sz="1600" dirty="0">
                <a:solidFill>
                  <a:srgbClr val="000000"/>
                </a:solidFill>
                <a:latin typeface="Times New Roman"/>
                <a:ea typeface="+mn-lt"/>
                <a:cs typeface="Times New Roman"/>
              </a:rPr>
              <a:t>Growth with increasing problem size </a:t>
            </a:r>
            <a:r>
              <a:rPr lang="en-US" sz="1600" b="0" i="0" u="none" strike="noStrike" baseline="0" dirty="0">
                <a:solidFill>
                  <a:srgbClr val="000000"/>
                </a:solidFill>
                <a:latin typeface="Times New Roman"/>
                <a:ea typeface="+mn-lt"/>
                <a:cs typeface="Times New Roman"/>
              </a:rPr>
              <a:t>remains </a:t>
            </a:r>
            <a:r>
              <a:rPr lang="en-US" sz="1600" dirty="0">
                <a:solidFill>
                  <a:srgbClr val="000000"/>
                </a:solidFill>
                <a:latin typeface="Times New Roman"/>
                <a:ea typeface="+mn-lt"/>
                <a:cs typeface="Times New Roman"/>
              </a:rPr>
              <a:t>more </a:t>
            </a:r>
            <a:r>
              <a:rPr lang="en-US" sz="1600" b="0" i="0" u="none" strike="noStrike" baseline="0" dirty="0">
                <a:solidFill>
                  <a:srgbClr val="000000"/>
                </a:solidFill>
                <a:latin typeface="Times New Roman"/>
                <a:ea typeface="+mn-lt"/>
                <a:cs typeface="Times New Roman"/>
              </a:rPr>
              <a:t>controlled </a:t>
            </a:r>
            <a:r>
              <a:rPr lang="en-US" sz="1600" dirty="0">
                <a:solidFill>
                  <a:srgbClr val="000000"/>
                </a:solidFill>
                <a:latin typeface="Times New Roman"/>
                <a:ea typeface="+mn-lt"/>
                <a:cs typeface="Times New Roman"/>
              </a:rPr>
              <a:t>than in the slow-interconnect configuration</a:t>
            </a:r>
            <a:r>
              <a:rPr lang="en-US" sz="1600" b="0" i="0" u="none" strike="noStrike" baseline="0" dirty="0">
                <a:solidFill>
                  <a:srgbClr val="000000"/>
                </a:solidFill>
                <a:latin typeface="Times New Roman"/>
                <a:ea typeface="+mn-lt"/>
                <a:cs typeface="Times New Roman"/>
              </a:rPr>
              <a:t>.</a:t>
            </a:r>
            <a:r>
              <a:rPr lang="en-US" sz="1600" b="0" i="0" dirty="0">
                <a:solidFill>
                  <a:srgbClr val="000000"/>
                </a:solidFill>
                <a:latin typeface="Times New Roman"/>
                <a:ea typeface="Arial"/>
                <a:cs typeface="Times New Roman"/>
              </a:rPr>
              <a:t>​</a:t>
            </a:r>
            <a:endParaRPr lang="en-US" sz="1600" b="0" i="0" dirty="0">
              <a:solidFill>
                <a:srgbClr val="000000"/>
              </a:solidFill>
              <a:latin typeface="Times New Roman"/>
              <a:ea typeface="Segoe UI"/>
              <a:cs typeface="Times New Roman"/>
            </a:endParaRPr>
          </a:p>
        </p:txBody>
      </p:sp>
      <p:pic>
        <p:nvPicPr>
          <p:cNvPr id="6" name="Picture 5">
            <a:extLst>
              <a:ext uri="{FF2B5EF4-FFF2-40B4-BE49-F238E27FC236}">
                <a16:creationId xmlns:a16="http://schemas.microsoft.com/office/drawing/2014/main" id="{F8020C06-B965-3F94-56BF-D0665A559340}"/>
              </a:ext>
            </a:extLst>
          </p:cNvPr>
          <p:cNvPicPr>
            <a:picLocks noChangeAspect="1"/>
          </p:cNvPicPr>
          <p:nvPr/>
        </p:nvPicPr>
        <p:blipFill>
          <a:blip r:embed="rId3"/>
          <a:stretch>
            <a:fillRect/>
          </a:stretch>
        </p:blipFill>
        <p:spPr>
          <a:xfrm>
            <a:off x="4092302" y="634999"/>
            <a:ext cx="8113730" cy="4550833"/>
          </a:xfrm>
          <a:prstGeom prst="rect">
            <a:avLst/>
          </a:prstGeom>
        </p:spPr>
      </p:pic>
    </p:spTree>
    <p:extLst>
      <p:ext uri="{BB962C8B-B14F-4D97-AF65-F5344CB8AC3E}">
        <p14:creationId xmlns:p14="http://schemas.microsoft.com/office/powerpoint/2010/main" val="1097029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B939A-568E-ACAC-7B33-1EBAF27578B8}"/>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CC562EE8-7F9D-1052-F3E9-6EE4F2E93E0F}"/>
              </a:ext>
            </a:extLst>
          </p:cNvPr>
          <p:cNvSpPr>
            <a:spLocks noGrp="1"/>
          </p:cNvSpPr>
          <p:nvPr/>
        </p:nvSpPr>
        <p:spPr>
          <a:xfrm>
            <a:off x="5199349" y="81817"/>
            <a:ext cx="1792489" cy="42679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a:latin typeface="Times New Roman"/>
                <a:ea typeface="+mj-lt"/>
                <a:cs typeface="Times New Roman"/>
              </a:rPr>
              <a:t>Findings</a:t>
            </a:r>
            <a:endParaRPr lang="en-US"/>
          </a:p>
        </p:txBody>
      </p:sp>
      <p:sp>
        <p:nvSpPr>
          <p:cNvPr id="2" name="TextBox 1">
            <a:extLst>
              <a:ext uri="{FF2B5EF4-FFF2-40B4-BE49-F238E27FC236}">
                <a16:creationId xmlns:a16="http://schemas.microsoft.com/office/drawing/2014/main" id="{EC313A83-ED85-FF0A-DD07-B1FCD1D0A5AC}"/>
              </a:ext>
            </a:extLst>
          </p:cNvPr>
          <p:cNvSpPr txBox="1"/>
          <p:nvPr/>
        </p:nvSpPr>
        <p:spPr>
          <a:xfrm>
            <a:off x="140026" y="981807"/>
            <a:ext cx="3888155"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Communication Becomes the Primary Scalability Constraint</a:t>
            </a:r>
            <a:endParaRPr lang="en-US" sz="1600">
              <a:latin typeface="Times New Roman"/>
              <a:cs typeface="Times New Roman"/>
            </a:endParaRPr>
          </a:p>
          <a:p>
            <a:pPr algn="ctr"/>
            <a:r>
              <a:rPr lang="en-US" sz="1600">
                <a:latin typeface="Times New Roman"/>
                <a:ea typeface="+mn-lt"/>
                <a:cs typeface="Times New Roman"/>
              </a:rPr>
              <a:t>Across all distributed architectures, communication overhead arising from entanglement generation, teleportation, routing, and classical synchronization grows faster than local computation costs, making communication the dominant factor governing scalability.</a:t>
            </a:r>
          </a:p>
        </p:txBody>
      </p:sp>
      <p:sp>
        <p:nvSpPr>
          <p:cNvPr id="15" name="TextBox 14">
            <a:extLst>
              <a:ext uri="{FF2B5EF4-FFF2-40B4-BE49-F238E27FC236}">
                <a16:creationId xmlns:a16="http://schemas.microsoft.com/office/drawing/2014/main" id="{0227AF0B-8E52-6A04-2B47-5B23E3B24D3D}"/>
              </a:ext>
            </a:extLst>
          </p:cNvPr>
          <p:cNvSpPr txBox="1"/>
          <p:nvPr/>
        </p:nvSpPr>
        <p:spPr>
          <a:xfrm>
            <a:off x="0" y="6275917"/>
            <a:ext cx="1219199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i="1" dirty="0">
                <a:latin typeface="Times New Roman"/>
                <a:ea typeface="+mn-lt"/>
                <a:cs typeface="Times New Roman"/>
              </a:rPr>
              <a:t>Scalable distributed quantum computing is achieved not by eliminating communication, but by minimizing, accelerating, and intelligently managing it across hardware, control, and network layers.</a:t>
            </a:r>
            <a:endParaRPr lang="en-US" i="1" dirty="0">
              <a:latin typeface="Times New Roman"/>
              <a:cs typeface="Times New Roman"/>
            </a:endParaRPr>
          </a:p>
        </p:txBody>
      </p:sp>
      <p:sp>
        <p:nvSpPr>
          <p:cNvPr id="3" name="TextBox 2">
            <a:extLst>
              <a:ext uri="{FF2B5EF4-FFF2-40B4-BE49-F238E27FC236}">
                <a16:creationId xmlns:a16="http://schemas.microsoft.com/office/drawing/2014/main" id="{79F58507-7AE7-38CD-0A18-F14275EDD835}"/>
              </a:ext>
            </a:extLst>
          </p:cNvPr>
          <p:cNvSpPr txBox="1"/>
          <p:nvPr/>
        </p:nvSpPr>
        <p:spPr>
          <a:xfrm>
            <a:off x="4331026" y="2399972"/>
            <a:ext cx="3888155"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Communication-Aware Optimizations Recover Distributed Performance</a:t>
            </a:r>
            <a:endParaRPr lang="en-US" sz="1600">
              <a:latin typeface="Times New Roman"/>
              <a:cs typeface="Times New Roman"/>
            </a:endParaRPr>
          </a:p>
          <a:p>
            <a:pPr algn="ctr"/>
            <a:r>
              <a:rPr lang="en-US" sz="1600" dirty="0">
                <a:latin typeface="Times New Roman"/>
                <a:ea typeface="+mn-lt"/>
                <a:cs typeface="Times New Roman"/>
              </a:rPr>
              <a:t>YOUTIAO and </a:t>
            </a:r>
            <a:r>
              <a:rPr lang="en-US" sz="1600" dirty="0" err="1">
                <a:latin typeface="Times New Roman"/>
                <a:ea typeface="+mn-lt"/>
                <a:cs typeface="Times New Roman"/>
              </a:rPr>
              <a:t>SwitchQNet</a:t>
            </a:r>
            <a:r>
              <a:rPr lang="en-US" sz="1600" dirty="0">
                <a:latin typeface="Times New Roman"/>
                <a:ea typeface="+mn-lt"/>
                <a:cs typeface="Times New Roman"/>
              </a:rPr>
              <a:t> significantly mitigate communication-induced penalties through multiplexing, adaptive routing, buffering, and scheduling mechanisms, narrowing the performance gap between distributed and direct execution models.</a:t>
            </a:r>
          </a:p>
        </p:txBody>
      </p:sp>
      <p:sp>
        <p:nvSpPr>
          <p:cNvPr id="5" name="TextBox 4">
            <a:extLst>
              <a:ext uri="{FF2B5EF4-FFF2-40B4-BE49-F238E27FC236}">
                <a16:creationId xmlns:a16="http://schemas.microsoft.com/office/drawing/2014/main" id="{4BAA55B2-41FF-FEAC-9C66-B8D25AC0A82C}"/>
              </a:ext>
            </a:extLst>
          </p:cNvPr>
          <p:cNvSpPr txBox="1"/>
          <p:nvPr/>
        </p:nvSpPr>
        <p:spPr>
          <a:xfrm>
            <a:off x="140026" y="3934557"/>
            <a:ext cx="3888155"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Direct Architectures Establish the Lower Bound on Execution Cost</a:t>
            </a:r>
            <a:endParaRPr lang="en-US" sz="1600">
              <a:latin typeface="Times New Roman"/>
              <a:cs typeface="Times New Roman"/>
            </a:endParaRPr>
          </a:p>
          <a:p>
            <a:pPr algn="ctr"/>
            <a:r>
              <a:rPr lang="en-US" sz="1600" dirty="0">
                <a:latin typeface="Times New Roman"/>
                <a:ea typeface="+mn-lt"/>
                <a:cs typeface="Times New Roman"/>
              </a:rPr>
              <a:t>Direct architectures consistently exhibit the lowest logical error and circuit depth because all operations are executed locally, eliminating the need for remote entanglement generation, teleportation, routing, and synchronization overheads.</a:t>
            </a:r>
          </a:p>
        </p:txBody>
      </p:sp>
      <p:sp>
        <p:nvSpPr>
          <p:cNvPr id="7" name="TextBox 6">
            <a:extLst>
              <a:ext uri="{FF2B5EF4-FFF2-40B4-BE49-F238E27FC236}">
                <a16:creationId xmlns:a16="http://schemas.microsoft.com/office/drawing/2014/main" id="{9581B999-1609-42F7-9A48-88C2AFE32C31}"/>
              </a:ext>
            </a:extLst>
          </p:cNvPr>
          <p:cNvSpPr txBox="1"/>
          <p:nvPr/>
        </p:nvSpPr>
        <p:spPr>
          <a:xfrm>
            <a:off x="8299775" y="4050972"/>
            <a:ext cx="3888155"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Bandwidth Controls Effective Entanglement Latency</a:t>
            </a:r>
            <a:endParaRPr lang="en-US" sz="1600">
              <a:latin typeface="Times New Roman"/>
              <a:cs typeface="Times New Roman"/>
            </a:endParaRPr>
          </a:p>
          <a:p>
            <a:pPr algn="ctr"/>
            <a:r>
              <a:rPr lang="en-US" sz="1600" dirty="0">
                <a:latin typeface="Times New Roman"/>
                <a:ea typeface="+mn-lt"/>
                <a:cs typeface="Times New Roman"/>
              </a:rPr>
              <a:t>The bandwidth sweep demonstrates a strong inverse relationship between communication bandwidth and effective entanglement latency. Increasing bandwidth accelerates Bell-pair delivery, thereby reducing queueing and routing delays throughout the system.</a:t>
            </a:r>
            <a:endParaRPr lang="en-US">
              <a:latin typeface="Times New Roman"/>
              <a:ea typeface="+mn-lt"/>
              <a:cs typeface="Times New Roman"/>
            </a:endParaRPr>
          </a:p>
        </p:txBody>
      </p:sp>
      <p:sp>
        <p:nvSpPr>
          <p:cNvPr id="11" name="TextBox 10">
            <a:extLst>
              <a:ext uri="{FF2B5EF4-FFF2-40B4-BE49-F238E27FC236}">
                <a16:creationId xmlns:a16="http://schemas.microsoft.com/office/drawing/2014/main" id="{7FF74D38-D8C4-C7F4-FC82-AC835F86C06A}"/>
              </a:ext>
            </a:extLst>
          </p:cNvPr>
          <p:cNvSpPr txBox="1"/>
          <p:nvPr/>
        </p:nvSpPr>
        <p:spPr>
          <a:xfrm>
            <a:off x="8225692" y="854806"/>
            <a:ext cx="3888155"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600" b="1">
                <a:latin typeface="Times New Roman"/>
                <a:cs typeface="Times New Roman"/>
              </a:rPr>
              <a:t>Fast Interconnects Suppress Communication-Induced Overheads</a:t>
            </a:r>
            <a:endParaRPr lang="en-US" sz="1600">
              <a:latin typeface="Times New Roman"/>
              <a:cs typeface="Times New Roman"/>
            </a:endParaRPr>
          </a:p>
          <a:p>
            <a:pPr algn="ctr"/>
            <a:r>
              <a:rPr lang="en-US" sz="1600">
                <a:latin typeface="Times New Roman"/>
                <a:ea typeface="+mn-lt"/>
                <a:cs typeface="Times New Roman"/>
              </a:rPr>
              <a:t>Increasing communication speed significantly reduces effective entanglement latency and routing delay, leading to lower waiting times, reduced decoherence exposure, and improved distributed execution stability.</a:t>
            </a:r>
            <a:endParaRPr lang="en-US">
              <a:latin typeface="Times New Roman"/>
              <a:ea typeface="+mn-lt"/>
              <a:cs typeface="Times New Roman"/>
            </a:endParaRPr>
          </a:p>
        </p:txBody>
      </p:sp>
    </p:spTree>
    <p:extLst>
      <p:ext uri="{BB962C8B-B14F-4D97-AF65-F5344CB8AC3E}">
        <p14:creationId xmlns:p14="http://schemas.microsoft.com/office/powerpoint/2010/main" val="789496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565</cp:revision>
  <dcterms:created xsi:type="dcterms:W3CDTF">2026-06-12T09:23:52Z</dcterms:created>
  <dcterms:modified xsi:type="dcterms:W3CDTF">2026-06-14T10:02:28Z</dcterms:modified>
</cp:coreProperties>
</file>